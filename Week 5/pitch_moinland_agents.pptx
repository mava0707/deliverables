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69" r:id="rId3"/>
    <p:sldId id="261" r:id="rId4"/>
    <p:sldId id="267" r:id="rId5"/>
    <p:sldId id="266" r:id="rId6"/>
    <p:sldId id="263" r:id="rId7"/>
    <p:sldId id="265" r:id="rId8"/>
    <p:sldId id="268" r:id="rId9"/>
    <p:sldId id="264" r:id="rId10"/>
    <p:sldId id="260" r:id="rId11"/>
    <p:sldId id="259" r:id="rId12"/>
    <p:sldId id="257" r:id="rId13"/>
    <p:sldId id="258" r:id="rId14"/>
    <p:sldId id="256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VA" id="{A2B4C876-6211-484B-B3C9-CA22ABAE28C6}">
          <p14:sldIdLst>
            <p14:sldId id="269"/>
            <p14:sldId id="261"/>
            <p14:sldId id="267"/>
            <p14:sldId id="266"/>
            <p14:sldId id="263"/>
            <p14:sldId id="265"/>
            <p14:sldId id="268"/>
            <p14:sldId id="264"/>
            <p14:sldId id="260"/>
          </p14:sldIdLst>
        </p14:section>
        <p14:section name="Open AI 5.5" id="{2744B7DA-0048-0D47-BB92-01EDC636B56B}">
          <p14:sldIdLst>
            <p14:sldId id="259"/>
            <p14:sldId id="257"/>
            <p14:sldId id="258"/>
          </p14:sldIdLst>
        </p14:section>
        <p14:section name="Claude" id="{C900CD62-FCA3-334B-9155-D8B23222A93C}">
          <p14:sldIdLst>
            <p14:sldId id="256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76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58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7639E-086E-A04F-531B-1217BD32B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A8919-6686-6EB1-DFB6-81DEFDFBE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809F2-779B-6B9B-AFC0-DB0E34AB4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95A8F-933F-D0A2-BB30-92783012B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65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CCAE-B78B-A6BE-8599-C0E7867D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302B0-FE03-50D7-BC62-119B9647C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D1FB6-8CEA-DE04-5E44-CCB8C4C5A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EFA88-9643-D827-F8D8-FE0742811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19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0BE03-A0E2-CDD3-9F09-6099B6D9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69C7A-9A84-BB30-7572-EA4052B32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CE195-4D66-B4B5-A1B6-8FE7BFAAE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47DEF-50C6-E984-867E-A9AA55C09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11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872E1-A1BD-D5AA-A510-CCD149050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08277-032D-70D1-35F2-B8F96EF9C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E7968-6AD6-E88A-E778-C91F342E2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5D27F-5AC0-17C9-C014-5483D0FC73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62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97899-9E7D-AC98-D98C-7F12AABD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67536-0CBE-5876-8C1A-0157B3F63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2CA55-8A6B-1AC6-CC8D-9C11DE66F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DA586-6454-9180-40CD-8E5509427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38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A272-F4A0-A067-9399-D115DB1A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17E59-2829-4E8E-8921-802D03948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69005-7FE0-FF68-7985-CEF23B998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D6DEC-8D71-889C-7D47-7CFA5A9604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56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0137-37D4-FDFC-383D-BEB903121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570FF-4FA8-5CC8-068D-90EEEAE97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AAD6BD-4F0E-0CD8-958B-3EC6BA6B5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9E9E5-FE86-0287-85EA-86C9EF429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81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CD649-BDB2-E904-5D4C-0688EE009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757A7-5F47-EA9B-C9E2-06186978B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C933E-B89E-6DA0-8A1F-87E47FDF6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204B6-FC3A-F4E8-D7BE-6708CE225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48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919C0-3FE7-6EA3-752A-C5B865B4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7F54B-64AC-77E1-9290-BB0368C02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31CD9-2BCA-4603-E3CC-22B4747CB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C69F5-5AFE-2C47-707D-E236A6235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20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27D17-CE5C-8074-697E-E6659B190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A7B5D-8EED-FC9F-EB12-279FC49C6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497FA-6498-4CCE-FA52-717BBB097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A7DA9-A728-3ACD-4AE1-BB251B9DD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84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32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53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FB7D7-E545-EC88-6DF4-630F0921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B1786718-B5AF-B6E0-A28A-C55DF166ECFD}"/>
              </a:ext>
            </a:extLst>
          </p:cNvPr>
          <p:cNvSpPr txBox="1"/>
          <p:nvPr/>
        </p:nvSpPr>
        <p:spPr>
          <a:xfrm>
            <a:off x="580571" y="413657"/>
            <a:ext cx="249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&gt;&gt; Founder’s dilemma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433ED3-A945-A8A2-399B-15DCBE00099A}"/>
              </a:ext>
            </a:extLst>
          </p:cNvPr>
          <p:cNvSpPr txBox="1"/>
          <p:nvPr/>
        </p:nvSpPr>
        <p:spPr>
          <a:xfrm>
            <a:off x="580571" y="3105834"/>
            <a:ext cx="2706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All ICPs on LinkedIn.</a:t>
            </a:r>
          </a:p>
          <a:p>
            <a:r>
              <a:rPr lang="en-DE" dirty="0">
                <a:solidFill>
                  <a:schemeClr val="bg1"/>
                </a:solidFill>
              </a:rPr>
              <a:t>Need to be more present.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A09F88-5B50-6DCC-5760-F94838A29C9F}"/>
              </a:ext>
            </a:extLst>
          </p:cNvPr>
          <p:cNvSpPr txBox="1"/>
          <p:nvPr/>
        </p:nvSpPr>
        <p:spPr>
          <a:xfrm>
            <a:off x="3707816" y="3244333"/>
            <a:ext cx="2060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Great idea – noted.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2C7B72-DAD5-8439-ECE0-F0E0359FB601}"/>
              </a:ext>
            </a:extLst>
          </p:cNvPr>
          <p:cNvSpPr txBox="1"/>
          <p:nvPr/>
        </p:nvSpPr>
        <p:spPr>
          <a:xfrm>
            <a:off x="6188538" y="2136337"/>
            <a:ext cx="301864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7 Coaching sessions</a:t>
            </a:r>
          </a:p>
          <a:p>
            <a:r>
              <a:rPr lang="en-DE" dirty="0">
                <a:solidFill>
                  <a:schemeClr val="bg1"/>
                </a:solidFill>
              </a:rPr>
              <a:t>Kid 1 home from university</a:t>
            </a:r>
          </a:p>
          <a:p>
            <a:r>
              <a:rPr lang="en-DE" dirty="0">
                <a:solidFill>
                  <a:schemeClr val="bg1"/>
                </a:solidFill>
              </a:rPr>
              <a:t>Kid 2 broke with girlfriend</a:t>
            </a:r>
          </a:p>
          <a:p>
            <a:r>
              <a:rPr lang="en-DE" dirty="0">
                <a:solidFill>
                  <a:schemeClr val="bg1"/>
                </a:solidFill>
              </a:rPr>
              <a:t>Kid 3 soccer tournament</a:t>
            </a:r>
          </a:p>
          <a:p>
            <a:r>
              <a:rPr lang="en-DE" dirty="0">
                <a:solidFill>
                  <a:schemeClr val="bg1"/>
                </a:solidFill>
              </a:rPr>
              <a:t>Kid 4 is bored</a:t>
            </a:r>
          </a:p>
          <a:p>
            <a:r>
              <a:rPr lang="en-DE" dirty="0">
                <a:solidFill>
                  <a:schemeClr val="bg1"/>
                </a:solidFill>
              </a:rPr>
              <a:t>Kid 5 needs new diapers</a:t>
            </a:r>
          </a:p>
          <a:p>
            <a:r>
              <a:rPr lang="en-DE" dirty="0">
                <a:solidFill>
                  <a:schemeClr val="bg1"/>
                </a:solidFill>
              </a:rPr>
              <a:t>Kid’s homework</a:t>
            </a:r>
          </a:p>
          <a:p>
            <a:r>
              <a:rPr lang="en-DE" dirty="0">
                <a:solidFill>
                  <a:schemeClr val="bg1"/>
                </a:solidFill>
              </a:rPr>
              <a:t>Car needs service</a:t>
            </a:r>
          </a:p>
          <a:p>
            <a:r>
              <a:rPr lang="en-DE" dirty="0">
                <a:solidFill>
                  <a:schemeClr val="bg1"/>
                </a:solidFill>
              </a:rPr>
              <a:t>Weather is great, Garden not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5CCC672-F0E0-8BFD-3D30-BB40957FAC13}"/>
              </a:ext>
            </a:extLst>
          </p:cNvPr>
          <p:cNvSpPr txBox="1"/>
          <p:nvPr/>
        </p:nvSpPr>
        <p:spPr>
          <a:xfrm>
            <a:off x="9398785" y="3236684"/>
            <a:ext cx="2466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Great idea – still noted.</a:t>
            </a:r>
          </a:p>
        </p:txBody>
      </p:sp>
    </p:spTree>
    <p:extLst>
      <p:ext uri="{BB962C8B-B14F-4D97-AF65-F5344CB8AC3E}">
        <p14:creationId xmlns:p14="http://schemas.microsoft.com/office/powerpoint/2010/main" val="151264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/>
      <p:bldP spid="74" grpId="0" build="p"/>
      <p:bldP spid="7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AE921-D030-A197-86F6-6059913DE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98E5AC-D8B4-3C0B-CF2C-AF7901AC7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22" b="54392"/>
          <a:stretch>
            <a:fillRect/>
          </a:stretch>
        </p:blipFill>
        <p:spPr>
          <a:xfrm>
            <a:off x="244424" y="1386113"/>
            <a:ext cx="11947576" cy="39841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55E5A4-3731-B2FE-081A-B1496B0F25CC}"/>
              </a:ext>
            </a:extLst>
          </p:cNvPr>
          <p:cNvSpPr txBox="1"/>
          <p:nvPr/>
        </p:nvSpPr>
        <p:spPr>
          <a:xfrm>
            <a:off x="580571" y="413657"/>
            <a:ext cx="219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&gt;&gt; Meet your Agents</a:t>
            </a:r>
          </a:p>
        </p:txBody>
      </p:sp>
    </p:spTree>
    <p:extLst>
      <p:ext uri="{BB962C8B-B14F-4D97-AF65-F5344CB8AC3E}">
        <p14:creationId xmlns:p14="http://schemas.microsoft.com/office/powerpoint/2010/main" val="1378179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377F9-0A6F-3651-35CA-FDA5E40A0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EFAE15-F31A-DD5B-6B01-11C2E332916A}"/>
              </a:ext>
            </a:extLst>
          </p:cNvPr>
          <p:cNvSpPr txBox="1"/>
          <p:nvPr/>
        </p:nvSpPr>
        <p:spPr>
          <a:xfrm>
            <a:off x="580571" y="413657"/>
            <a:ext cx="219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&gt;&gt; Meet your Agents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25E869-BD57-4424-C173-556B78ABD2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1" t="45827" r="823" b="3669"/>
          <a:stretch>
            <a:fillRect/>
          </a:stretch>
        </p:blipFill>
        <p:spPr>
          <a:xfrm>
            <a:off x="3099460" y="1124858"/>
            <a:ext cx="8931383" cy="5733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A3D3B4-0AB6-DEFC-26F8-CA851104BF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36" t="18815" r="62918" b="54499"/>
          <a:stretch>
            <a:fillRect/>
          </a:stretch>
        </p:blipFill>
        <p:spPr>
          <a:xfrm>
            <a:off x="653140" y="1066801"/>
            <a:ext cx="1640117" cy="1814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0B8FF7-55F3-960A-A049-D7E8ECB287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09" t="18708" r="32946" b="54606"/>
          <a:stretch>
            <a:fillRect/>
          </a:stretch>
        </p:blipFill>
        <p:spPr>
          <a:xfrm>
            <a:off x="653140" y="2993180"/>
            <a:ext cx="1640117" cy="181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CBF0C7-2F30-5383-716F-4DECD9AD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96" t="19349" r="5058" b="53965"/>
          <a:stretch>
            <a:fillRect/>
          </a:stretch>
        </p:blipFill>
        <p:spPr>
          <a:xfrm>
            <a:off x="653140" y="4919560"/>
            <a:ext cx="1640117" cy="18142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06B67EE-F1B2-BD28-842E-00487520BEA1}"/>
              </a:ext>
            </a:extLst>
          </p:cNvPr>
          <p:cNvSpPr/>
          <p:nvPr/>
        </p:nvSpPr>
        <p:spPr>
          <a:xfrm>
            <a:off x="2989943" y="1033752"/>
            <a:ext cx="9042399" cy="42131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DFA34-8200-B5A5-BE24-B493B702D85A}"/>
              </a:ext>
            </a:extLst>
          </p:cNvPr>
          <p:cNvSpPr/>
          <p:nvPr/>
        </p:nvSpPr>
        <p:spPr>
          <a:xfrm>
            <a:off x="218901" y="914400"/>
            <a:ext cx="2554514" cy="5885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4275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31FCD-1250-41A9-95F8-0F2245C2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DF056-70A7-1D82-9209-FCE22F16B3A0}"/>
              </a:ext>
            </a:extLst>
          </p:cNvPr>
          <p:cNvSpPr txBox="1"/>
          <p:nvPr/>
        </p:nvSpPr>
        <p:spPr>
          <a:xfrm>
            <a:off x="580571" y="413657"/>
            <a:ext cx="219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&gt;&gt; Meet your Agents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7169E2-DF77-47A0-7C80-91C91E39D5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0" t="45316" r="807" b="4180"/>
          <a:stretch>
            <a:fillRect/>
          </a:stretch>
        </p:blipFill>
        <p:spPr>
          <a:xfrm>
            <a:off x="3093041" y="1066801"/>
            <a:ext cx="8939301" cy="5733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1DD228-CFD2-A9C7-EA23-06FD2EDBCD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36" t="18815" r="62918" b="54499"/>
          <a:stretch>
            <a:fillRect/>
          </a:stretch>
        </p:blipFill>
        <p:spPr>
          <a:xfrm>
            <a:off x="653140" y="1066801"/>
            <a:ext cx="1640117" cy="1814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E7F055-B04D-D532-3B3A-980B6BF9AF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09" t="18708" r="32946" b="54606"/>
          <a:stretch>
            <a:fillRect/>
          </a:stretch>
        </p:blipFill>
        <p:spPr>
          <a:xfrm>
            <a:off x="653140" y="2993180"/>
            <a:ext cx="1640117" cy="181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8EA562-307B-33F2-C792-63E1AD8C3A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96" t="19349" r="5058" b="53965"/>
          <a:stretch>
            <a:fillRect/>
          </a:stretch>
        </p:blipFill>
        <p:spPr>
          <a:xfrm>
            <a:off x="653140" y="4919560"/>
            <a:ext cx="1640117" cy="18142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1C0DAD-A712-1382-6D55-217DDCE1288E}"/>
              </a:ext>
            </a:extLst>
          </p:cNvPr>
          <p:cNvSpPr/>
          <p:nvPr/>
        </p:nvSpPr>
        <p:spPr>
          <a:xfrm>
            <a:off x="218901" y="2881087"/>
            <a:ext cx="2554514" cy="39188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94D044-72EC-2738-6D3B-CD6825D87CCB}"/>
              </a:ext>
            </a:extLst>
          </p:cNvPr>
          <p:cNvSpPr/>
          <p:nvPr/>
        </p:nvSpPr>
        <p:spPr>
          <a:xfrm>
            <a:off x="5799643" y="1033752"/>
            <a:ext cx="6232699" cy="42131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82060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93C39-258D-749A-E01E-5CAF9DE6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FC07F3-B187-A5D4-2F4F-F51742B6D92C}"/>
              </a:ext>
            </a:extLst>
          </p:cNvPr>
          <p:cNvSpPr txBox="1"/>
          <p:nvPr/>
        </p:nvSpPr>
        <p:spPr>
          <a:xfrm>
            <a:off x="580571" y="413657"/>
            <a:ext cx="219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&gt;&gt; Meet your Agents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948319-FC87-6573-9ACE-2F5EA45EB9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9" t="45316" r="1283" b="4180"/>
          <a:stretch>
            <a:fillRect/>
          </a:stretch>
        </p:blipFill>
        <p:spPr>
          <a:xfrm>
            <a:off x="3093041" y="1066801"/>
            <a:ext cx="8896073" cy="5733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464348-57B2-4F71-A790-3B85AAF169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36" t="18815" r="62918" b="54499"/>
          <a:stretch>
            <a:fillRect/>
          </a:stretch>
        </p:blipFill>
        <p:spPr>
          <a:xfrm>
            <a:off x="653140" y="1066801"/>
            <a:ext cx="1640117" cy="1814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E82AD4-E2C8-DB93-410B-5BFFC8C0C0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09" t="18708" r="32946" b="54606"/>
          <a:stretch>
            <a:fillRect/>
          </a:stretch>
        </p:blipFill>
        <p:spPr>
          <a:xfrm>
            <a:off x="653140" y="2993180"/>
            <a:ext cx="1640117" cy="181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FD12F0-4BC1-6CB2-98E2-B1702FBBB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96" t="19349" r="5058" b="53965"/>
          <a:stretch>
            <a:fillRect/>
          </a:stretch>
        </p:blipFill>
        <p:spPr>
          <a:xfrm>
            <a:off x="653140" y="4919560"/>
            <a:ext cx="1640117" cy="18142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31ED562-0917-A6B9-BB06-C74E5C017EC3}"/>
              </a:ext>
            </a:extLst>
          </p:cNvPr>
          <p:cNvSpPr/>
          <p:nvPr/>
        </p:nvSpPr>
        <p:spPr>
          <a:xfrm>
            <a:off x="218901" y="4807465"/>
            <a:ext cx="2554514" cy="19924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561FCC-FBC2-ABB2-E508-AA184D11E9AA}"/>
              </a:ext>
            </a:extLst>
          </p:cNvPr>
          <p:cNvSpPr/>
          <p:nvPr/>
        </p:nvSpPr>
        <p:spPr>
          <a:xfrm>
            <a:off x="3093042" y="1033752"/>
            <a:ext cx="2690902" cy="42131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FE7746-BA81-2DB6-DF47-99962CB6EAE5}"/>
              </a:ext>
            </a:extLst>
          </p:cNvPr>
          <p:cNvSpPr/>
          <p:nvPr/>
        </p:nvSpPr>
        <p:spPr>
          <a:xfrm>
            <a:off x="462483" y="888609"/>
            <a:ext cx="2554514" cy="19924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42CC53-5B99-199F-316A-A96CF76E3BEE}"/>
              </a:ext>
            </a:extLst>
          </p:cNvPr>
          <p:cNvSpPr/>
          <p:nvPr/>
        </p:nvSpPr>
        <p:spPr>
          <a:xfrm>
            <a:off x="8978585" y="1062778"/>
            <a:ext cx="3104558" cy="42131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64848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F0991-DF0A-996E-3C8E-D1A9ED40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813687-7CC8-E615-A93B-64DD226230B9}"/>
              </a:ext>
            </a:extLst>
          </p:cNvPr>
          <p:cNvSpPr txBox="1"/>
          <p:nvPr/>
        </p:nvSpPr>
        <p:spPr>
          <a:xfrm>
            <a:off x="580571" y="413657"/>
            <a:ext cx="219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&gt;&gt; Meet your Agents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8A54A8-5321-A927-1152-291398456B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0" t="45316" r="1606" b="4180"/>
          <a:stretch>
            <a:fillRect/>
          </a:stretch>
        </p:blipFill>
        <p:spPr>
          <a:xfrm>
            <a:off x="3093041" y="1066801"/>
            <a:ext cx="8866730" cy="5733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84DD49-DA4D-A0FE-410A-1552EF13A5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36" t="18815" r="62918" b="54499"/>
          <a:stretch>
            <a:fillRect/>
          </a:stretch>
        </p:blipFill>
        <p:spPr>
          <a:xfrm>
            <a:off x="653140" y="1066801"/>
            <a:ext cx="1640117" cy="1814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B70F1D-19D9-AAAB-BABD-9A28A7DC92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09" t="18708" r="32946" b="54606"/>
          <a:stretch>
            <a:fillRect/>
          </a:stretch>
        </p:blipFill>
        <p:spPr>
          <a:xfrm>
            <a:off x="653140" y="2993180"/>
            <a:ext cx="1640117" cy="181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2F3BDC-7DE0-849C-9727-13FB76CA23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96" t="19349" r="5058" b="53965"/>
          <a:stretch>
            <a:fillRect/>
          </a:stretch>
        </p:blipFill>
        <p:spPr>
          <a:xfrm>
            <a:off x="653140" y="4919560"/>
            <a:ext cx="1640117" cy="18142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985C034-3245-26B1-6FA9-3894B55659AF}"/>
              </a:ext>
            </a:extLst>
          </p:cNvPr>
          <p:cNvSpPr/>
          <p:nvPr/>
        </p:nvSpPr>
        <p:spPr>
          <a:xfrm>
            <a:off x="487416" y="921659"/>
            <a:ext cx="2554514" cy="39188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21974-6D57-4CBC-4B98-3A07CEEB22B8}"/>
              </a:ext>
            </a:extLst>
          </p:cNvPr>
          <p:cNvSpPr/>
          <p:nvPr/>
        </p:nvSpPr>
        <p:spPr>
          <a:xfrm>
            <a:off x="2722613" y="1037771"/>
            <a:ext cx="6232699" cy="42131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27137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BBC33-3B0D-C64B-D8C1-DD510895E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05A3B9-E26F-EE07-CE36-474672739A70}"/>
              </a:ext>
            </a:extLst>
          </p:cNvPr>
          <p:cNvSpPr txBox="1"/>
          <p:nvPr/>
        </p:nvSpPr>
        <p:spPr>
          <a:xfrm>
            <a:off x="580571" y="413657"/>
            <a:ext cx="219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&gt;&gt; Meet your Agents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D2EAEA-227B-3F61-C7C8-CDBFE2BE2D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0" t="45316" r="1606" b="4180"/>
          <a:stretch>
            <a:fillRect/>
          </a:stretch>
        </p:blipFill>
        <p:spPr>
          <a:xfrm>
            <a:off x="3093041" y="1066801"/>
            <a:ext cx="8866730" cy="5733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37C9EF-F13A-67D2-1C1E-2427219FD5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36" t="18815" r="62918" b="54499"/>
          <a:stretch>
            <a:fillRect/>
          </a:stretch>
        </p:blipFill>
        <p:spPr>
          <a:xfrm>
            <a:off x="653140" y="1066801"/>
            <a:ext cx="1640117" cy="1814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29F102-17DF-8A00-A68C-A381D5B37C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09" t="18708" r="32946" b="54606"/>
          <a:stretch>
            <a:fillRect/>
          </a:stretch>
        </p:blipFill>
        <p:spPr>
          <a:xfrm>
            <a:off x="653140" y="2993180"/>
            <a:ext cx="1640117" cy="181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D5083D-D201-C5F2-8872-D3EC982C79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96" t="19349" r="5058" b="53965"/>
          <a:stretch>
            <a:fillRect/>
          </a:stretch>
        </p:blipFill>
        <p:spPr>
          <a:xfrm>
            <a:off x="653140" y="4919560"/>
            <a:ext cx="1640117" cy="18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85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D8080-543A-3F94-DDC1-87801F3C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9FE52F-1771-A01A-5925-978A79AFDE8C}"/>
              </a:ext>
            </a:extLst>
          </p:cNvPr>
          <p:cNvSpPr txBox="1"/>
          <p:nvPr/>
        </p:nvSpPr>
        <p:spPr>
          <a:xfrm>
            <a:off x="580571" y="413657"/>
            <a:ext cx="1860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&gt;&gt; Moinland’s 13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BBBAEF-D6F4-29CC-D1C9-A33092CE02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223" b="2492"/>
          <a:stretch>
            <a:fillRect/>
          </a:stretch>
        </p:blipFill>
        <p:spPr>
          <a:xfrm>
            <a:off x="2485901" y="65739"/>
            <a:ext cx="7220197" cy="679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0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764D4-4E88-5399-11CC-EA3A86AE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63B23C89-A962-681C-9791-DF86384A5E7F}"/>
              </a:ext>
            </a:extLst>
          </p:cNvPr>
          <p:cNvSpPr txBox="1"/>
          <p:nvPr/>
        </p:nvSpPr>
        <p:spPr>
          <a:xfrm>
            <a:off x="2478246" y="2321004"/>
            <a:ext cx="723550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3800" dirty="0">
                <a:solidFill>
                  <a:schemeClr val="bg1"/>
                </a:solidFill>
              </a:rPr>
              <a:t>ARCHIVE</a:t>
            </a:r>
          </a:p>
        </p:txBody>
      </p:sp>
    </p:spTree>
    <p:extLst>
      <p:ext uri="{BB962C8B-B14F-4D97-AF65-F5344CB8AC3E}">
        <p14:creationId xmlns:p14="http://schemas.microsoft.com/office/powerpoint/2010/main" val="3600281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BB9E2-0AD2-B55D-6A9D-4F19F13F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B99118-D7D8-66A5-A34A-6F914F31C9A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8"/>
          </a:solidFill>
          <a:ln w="12700">
            <a:solidFill>
              <a:srgbClr val="0607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80054BD-9CF6-D669-76BA-757B13F7A0BD}"/>
              </a:ext>
            </a:extLst>
          </p:cNvPr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5715">
            <a:solidFill>
              <a:srgbClr val="F23A2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4" name="Image 0" descr="/mnt/data/moinland_logo_transparent.png">
            <a:extLst>
              <a:ext uri="{FF2B5EF4-FFF2-40B4-BE49-F238E27FC236}">
                <a16:creationId xmlns:a16="http://schemas.microsoft.com/office/drawing/2014/main" id="{C6CC22F8-B642-1A1F-0D8B-830D9EFB1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4592"/>
            <a:ext cx="1463040" cy="402336"/>
          </a:xfrm>
          <a:prstGeom prst="rect">
            <a:avLst/>
          </a:prstGeom>
        </p:spPr>
      </p:pic>
      <p:pic>
        <p:nvPicPr>
          <p:cNvPr id="5" name="Image 1" descr="/mnt/data/agent_ian_crop.png">
            <a:extLst>
              <a:ext uri="{FF2B5EF4-FFF2-40B4-BE49-F238E27FC236}">
                <a16:creationId xmlns:a16="http://schemas.microsoft.com/office/drawing/2014/main" id="{EE301CAE-13D0-5C16-9353-8281A51ED8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00" t="2000" r="-24528" b="3000"/>
          <a:stretch/>
        </p:blipFill>
        <p:spPr>
          <a:xfrm>
            <a:off x="502920" y="658368"/>
            <a:ext cx="2221992" cy="3024378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A955C6E8-A700-095A-2F1D-B8979190871B}"/>
              </a:ext>
            </a:extLst>
          </p:cNvPr>
          <p:cNvSpPr/>
          <p:nvPr/>
        </p:nvSpPr>
        <p:spPr>
          <a:xfrm>
            <a:off x="564642" y="757123"/>
            <a:ext cx="395021" cy="395021"/>
          </a:xfrm>
          <a:prstGeom prst="ellipse">
            <a:avLst/>
          </a:prstGeom>
          <a:solidFill>
            <a:srgbClr val="17100D">
              <a:alpha val="95000"/>
            </a:srgbClr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457F794-C7A3-8358-B519-84E42D41474F}"/>
              </a:ext>
            </a:extLst>
          </p:cNvPr>
          <p:cNvSpPr/>
          <p:nvPr/>
        </p:nvSpPr>
        <p:spPr>
          <a:xfrm>
            <a:off x="564642" y="806501"/>
            <a:ext cx="395021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3F1E8"/>
                </a:solidFill>
              </a:rPr>
              <a:t>1</a:t>
            </a:r>
            <a:endParaRPr lang="en-US" sz="135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AB2FFBC-F0FF-85EC-2ACB-2628EC27DD1B}"/>
              </a:ext>
            </a:extLst>
          </p:cNvPr>
          <p:cNvSpPr/>
          <p:nvPr/>
        </p:nvSpPr>
        <p:spPr>
          <a:xfrm>
            <a:off x="663397" y="3275381"/>
            <a:ext cx="1913382" cy="382676"/>
          </a:xfrm>
          <a:prstGeom prst="roundRect">
            <a:avLst>
              <a:gd name="adj" fmla="val 11947"/>
            </a:avLst>
          </a:prstGeom>
          <a:solidFill>
            <a:srgbClr val="0B0A09"/>
          </a:solidFill>
          <a:ln w="10160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3A96193-0858-BDEA-7F42-0C278CA53D21}"/>
              </a:ext>
            </a:extLst>
          </p:cNvPr>
          <p:cNvSpPr/>
          <p:nvPr/>
        </p:nvSpPr>
        <p:spPr>
          <a:xfrm>
            <a:off x="725119" y="3361792"/>
            <a:ext cx="178993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8" b="1" dirty="0">
                <a:solidFill>
                  <a:srgbClr val="7CD843"/>
                </a:solidFill>
              </a:rPr>
              <a:t>IAN </a:t>
            </a:r>
            <a:r>
              <a:rPr lang="en-US" sz="1148" dirty="0">
                <a:solidFill>
                  <a:srgbClr val="F3F1E8"/>
                </a:solidFill>
              </a:rPr>
              <a:t>— Idea to Notion</a:t>
            </a:r>
            <a:endParaRPr lang="en-US" sz="1148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052A38E-7800-9D00-5770-B255E6A7CB95}"/>
              </a:ext>
            </a:extLst>
          </p:cNvPr>
          <p:cNvSpPr/>
          <p:nvPr/>
        </p:nvSpPr>
        <p:spPr>
          <a:xfrm>
            <a:off x="3246120" y="868680"/>
            <a:ext cx="7726680" cy="2606040"/>
          </a:xfrm>
          <a:prstGeom prst="roundRect">
            <a:avLst>
              <a:gd name="adj" fmla="val 2807"/>
            </a:avLst>
          </a:prstGeom>
          <a:solidFill>
            <a:srgbClr val="0B0E10">
              <a:alpha val="97000"/>
            </a:srgbClr>
          </a:solidFill>
          <a:ln w="1333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F7F549E-AD29-BDF0-E678-0A27D5A81766}"/>
              </a:ext>
            </a:extLst>
          </p:cNvPr>
          <p:cNvSpPr/>
          <p:nvPr/>
        </p:nvSpPr>
        <p:spPr>
          <a:xfrm>
            <a:off x="3410712" y="1307592"/>
            <a:ext cx="7397496" cy="0"/>
          </a:xfrm>
          <a:prstGeom prst="line">
            <a:avLst/>
          </a:prstGeom>
          <a:noFill/>
          <a:ln w="8890">
            <a:solidFill>
              <a:srgbClr val="F23A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9171B7A-154E-5284-EB84-85239DABE8AD}"/>
              </a:ext>
            </a:extLst>
          </p:cNvPr>
          <p:cNvSpPr/>
          <p:nvPr/>
        </p:nvSpPr>
        <p:spPr>
          <a:xfrm>
            <a:off x="3502152" y="1014984"/>
            <a:ext cx="7214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D843"/>
                </a:solidFill>
              </a:rPr>
              <a:t>1  IAN — Telegram idea to LinkedIn draft</a:t>
            </a:r>
            <a:endParaRPr lang="en-US" sz="11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9C742EB-32DC-73E7-53CB-8AA15E77035F}"/>
              </a:ext>
            </a:extLst>
          </p:cNvPr>
          <p:cNvSpPr/>
          <p:nvPr/>
        </p:nvSpPr>
        <p:spPr>
          <a:xfrm>
            <a:off x="3502152" y="1197864"/>
            <a:ext cx="7214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B9B5AC"/>
                </a:solidFill>
              </a:rPr>
              <a:t>Manual trigger · researches a topic · writes in Daniel’s voice · saves to Notion</a:t>
            </a:r>
            <a:endParaRPr lang="en-US" sz="68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5E826AD-F95E-88CF-9935-9F6E5DC9BDF5}"/>
              </a:ext>
            </a:extLst>
          </p:cNvPr>
          <p:cNvSpPr/>
          <p:nvPr/>
        </p:nvSpPr>
        <p:spPr>
          <a:xfrm>
            <a:off x="3502152" y="1490472"/>
            <a:ext cx="890887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BEAABB1-8239-1A27-0733-3028F6A04012}"/>
              </a:ext>
            </a:extLst>
          </p:cNvPr>
          <p:cNvSpPr/>
          <p:nvPr/>
        </p:nvSpPr>
        <p:spPr>
          <a:xfrm>
            <a:off x="3529584" y="1609344"/>
            <a:ext cx="8360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Telegram idea</a:t>
            </a:r>
            <a:endParaRPr lang="en-US" sz="66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D5BF4972-589C-3472-F567-C676EBC5BE4F}"/>
              </a:ext>
            </a:extLst>
          </p:cNvPr>
          <p:cNvSpPr/>
          <p:nvPr/>
        </p:nvSpPr>
        <p:spPr>
          <a:xfrm>
            <a:off x="4411327" y="1682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707AA97F-0D37-B8C8-4BC5-3777B04D43D1}"/>
              </a:ext>
            </a:extLst>
          </p:cNvPr>
          <p:cNvSpPr/>
          <p:nvPr/>
        </p:nvSpPr>
        <p:spPr>
          <a:xfrm>
            <a:off x="4557631" y="1490472"/>
            <a:ext cx="890887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4982CC8C-2DC1-1068-A320-6B57225590CB}"/>
              </a:ext>
            </a:extLst>
          </p:cNvPr>
          <p:cNvSpPr/>
          <p:nvPr/>
        </p:nvSpPr>
        <p:spPr>
          <a:xfrm>
            <a:off x="4585063" y="1609344"/>
            <a:ext cx="8360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Brand voice</a:t>
            </a:r>
            <a:endParaRPr lang="en-US" sz="66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705A8FE0-96C4-F7CA-6EF6-BB4186DA8426}"/>
              </a:ext>
            </a:extLst>
          </p:cNvPr>
          <p:cNvSpPr/>
          <p:nvPr/>
        </p:nvSpPr>
        <p:spPr>
          <a:xfrm>
            <a:off x="5466806" y="1682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9DDE1552-F1D9-4F54-425A-507A4FADFA07}"/>
              </a:ext>
            </a:extLst>
          </p:cNvPr>
          <p:cNvSpPr/>
          <p:nvPr/>
        </p:nvSpPr>
        <p:spPr>
          <a:xfrm>
            <a:off x="5613110" y="1490472"/>
            <a:ext cx="890887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F6988A12-9855-3C80-C91A-1CA2E650554D}"/>
              </a:ext>
            </a:extLst>
          </p:cNvPr>
          <p:cNvSpPr/>
          <p:nvPr/>
        </p:nvSpPr>
        <p:spPr>
          <a:xfrm>
            <a:off x="5640542" y="1609344"/>
            <a:ext cx="8360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GPT brief</a:t>
            </a:r>
            <a:endParaRPr lang="en-US" sz="66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E00B0A46-F01F-4803-8C21-07AC6D7F9110}"/>
              </a:ext>
            </a:extLst>
          </p:cNvPr>
          <p:cNvSpPr/>
          <p:nvPr/>
        </p:nvSpPr>
        <p:spPr>
          <a:xfrm>
            <a:off x="6522285" y="1682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E80A8E7B-6142-AB3C-A821-0A328A8966E7}"/>
              </a:ext>
            </a:extLst>
          </p:cNvPr>
          <p:cNvSpPr/>
          <p:nvPr/>
        </p:nvSpPr>
        <p:spPr>
          <a:xfrm>
            <a:off x="6668589" y="1490472"/>
            <a:ext cx="890887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E9610AD5-BE80-36CF-2D92-E800EC6C9A9F}"/>
              </a:ext>
            </a:extLst>
          </p:cNvPr>
          <p:cNvSpPr/>
          <p:nvPr/>
        </p:nvSpPr>
        <p:spPr>
          <a:xfrm>
            <a:off x="6696021" y="1609344"/>
            <a:ext cx="8360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Tavily data</a:t>
            </a:r>
            <a:endParaRPr lang="en-US" sz="66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064382CE-B260-A768-CDC1-8C6F3B1BDA0B}"/>
              </a:ext>
            </a:extLst>
          </p:cNvPr>
          <p:cNvSpPr/>
          <p:nvPr/>
        </p:nvSpPr>
        <p:spPr>
          <a:xfrm>
            <a:off x="7577763" y="1682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3567DFF5-1CEF-5CF7-F837-6F34707631B8}"/>
              </a:ext>
            </a:extLst>
          </p:cNvPr>
          <p:cNvSpPr/>
          <p:nvPr/>
        </p:nvSpPr>
        <p:spPr>
          <a:xfrm>
            <a:off x="7724067" y="1490472"/>
            <a:ext cx="890887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A64D884C-1B52-68CA-35E0-5DEF40ED8309}"/>
              </a:ext>
            </a:extLst>
          </p:cNvPr>
          <p:cNvSpPr/>
          <p:nvPr/>
        </p:nvSpPr>
        <p:spPr>
          <a:xfrm>
            <a:off x="7751499" y="1609344"/>
            <a:ext cx="8360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GPT post</a:t>
            </a:r>
            <a:endParaRPr lang="en-US" sz="66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E72E4810-4D68-2613-6FF3-8BC136D0021F}"/>
              </a:ext>
            </a:extLst>
          </p:cNvPr>
          <p:cNvSpPr/>
          <p:nvPr/>
        </p:nvSpPr>
        <p:spPr>
          <a:xfrm>
            <a:off x="8633242" y="1682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8BB2A8AA-426D-15E2-2F63-C2A96808ED3A}"/>
              </a:ext>
            </a:extLst>
          </p:cNvPr>
          <p:cNvSpPr/>
          <p:nvPr/>
        </p:nvSpPr>
        <p:spPr>
          <a:xfrm>
            <a:off x="8779546" y="1490472"/>
            <a:ext cx="890887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CF776C91-17D2-40BD-272E-9607BFC401D2}"/>
              </a:ext>
            </a:extLst>
          </p:cNvPr>
          <p:cNvSpPr/>
          <p:nvPr/>
        </p:nvSpPr>
        <p:spPr>
          <a:xfrm>
            <a:off x="8806978" y="1609344"/>
            <a:ext cx="8360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Notion draft</a:t>
            </a:r>
            <a:endParaRPr lang="en-US" sz="66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64E3DE42-1B57-E4F9-96D4-A9F472DD57B2}"/>
              </a:ext>
            </a:extLst>
          </p:cNvPr>
          <p:cNvSpPr/>
          <p:nvPr/>
        </p:nvSpPr>
        <p:spPr>
          <a:xfrm>
            <a:off x="9688721" y="1682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25FF9855-3102-9294-42A4-C1FC8C2AB075}"/>
              </a:ext>
            </a:extLst>
          </p:cNvPr>
          <p:cNvSpPr/>
          <p:nvPr/>
        </p:nvSpPr>
        <p:spPr>
          <a:xfrm>
            <a:off x="9835025" y="1490472"/>
            <a:ext cx="890887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FFFC58D4-EBF6-4016-C709-EE1977DD3249}"/>
              </a:ext>
            </a:extLst>
          </p:cNvPr>
          <p:cNvSpPr/>
          <p:nvPr/>
        </p:nvSpPr>
        <p:spPr>
          <a:xfrm>
            <a:off x="9862457" y="1609344"/>
            <a:ext cx="8360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TG success</a:t>
            </a:r>
            <a:endParaRPr lang="en-US" sz="660" dirty="0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5B70434B-3717-991F-12A5-D6E3F22BA022}"/>
              </a:ext>
            </a:extLst>
          </p:cNvPr>
          <p:cNvSpPr/>
          <p:nvPr/>
        </p:nvSpPr>
        <p:spPr>
          <a:xfrm>
            <a:off x="3502152" y="3145536"/>
            <a:ext cx="7214616" cy="201168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 w="5080">
            <a:solidFill>
              <a:srgbClr val="F23A2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8AE550EB-3698-CD07-A66E-98FCA5B66A76}"/>
              </a:ext>
            </a:extLst>
          </p:cNvPr>
          <p:cNvSpPr/>
          <p:nvPr/>
        </p:nvSpPr>
        <p:spPr>
          <a:xfrm>
            <a:off x="3593592" y="3191256"/>
            <a:ext cx="7031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B9B5AC"/>
                </a:solidFill>
              </a:rPr>
              <a:t>Stack: Telegram · Notion Knowledge Base · OpenAI GPT-4o-mini · Tavily · Notion Blogpost Pipeline</a:t>
            </a:r>
            <a:endParaRPr lang="en-US" sz="580" dirty="0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C7FA0DD0-F4BB-55D9-0E7F-171531D0A4A9}"/>
              </a:ext>
            </a:extLst>
          </p:cNvPr>
          <p:cNvSpPr/>
          <p:nvPr/>
        </p:nvSpPr>
        <p:spPr>
          <a:xfrm>
            <a:off x="502920" y="5614416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0A0C0E"/>
          </a:solidFill>
          <a:ln w="12700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ED6960FF-43C1-978D-7C82-C4BA6CB480D0}"/>
              </a:ext>
            </a:extLst>
          </p:cNvPr>
          <p:cNvSpPr/>
          <p:nvPr/>
        </p:nvSpPr>
        <p:spPr>
          <a:xfrm>
            <a:off x="4206240" y="548640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23A2E"/>
                </a:solidFill>
              </a:rPr>
              <a:t>SHARED INTELLIGENCE LAYER</a:t>
            </a:r>
            <a:endParaRPr lang="en-US" sz="83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E0E99D15-03F4-7079-802C-91E6DE3E3AF1}"/>
              </a:ext>
            </a:extLst>
          </p:cNvPr>
          <p:cNvSpPr/>
          <p:nvPr/>
        </p:nvSpPr>
        <p:spPr>
          <a:xfrm>
            <a:off x="54864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OpenAI</a:t>
            </a:r>
            <a:endParaRPr lang="en-US" sz="850" dirty="0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F3E00D2D-AA0F-C08C-F613-0D75E7D1A2AE}"/>
              </a:ext>
            </a:extLst>
          </p:cNvPr>
          <p:cNvSpPr/>
          <p:nvPr/>
        </p:nvSpPr>
        <p:spPr>
          <a:xfrm>
            <a:off x="55778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GPT + embeddings</a:t>
            </a:r>
            <a:endParaRPr lang="en-US" sz="580" dirty="0"/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60DEE363-EB87-B13D-037B-F29D84845D4A}"/>
              </a:ext>
            </a:extLst>
          </p:cNvPr>
          <p:cNvSpPr/>
          <p:nvPr/>
        </p:nvSpPr>
        <p:spPr>
          <a:xfrm>
            <a:off x="1148144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898E6EE4-9928-FE5B-5150-2F899320F034}"/>
              </a:ext>
            </a:extLst>
          </p:cNvPr>
          <p:cNvSpPr/>
          <p:nvPr/>
        </p:nvSpPr>
        <p:spPr>
          <a:xfrm>
            <a:off x="190309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F9ABF041-F71E-67EE-755E-A5D5736FE55E}"/>
              </a:ext>
            </a:extLst>
          </p:cNvPr>
          <p:cNvSpPr/>
          <p:nvPr/>
        </p:nvSpPr>
        <p:spPr>
          <a:xfrm>
            <a:off x="194881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5B58"/>
                </a:solidFill>
              </a:rPr>
              <a:t>Pinecone</a:t>
            </a:r>
            <a:endParaRPr lang="en-US" sz="850" dirty="0"/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0597847B-4108-53D8-332B-D81713FD9080}"/>
              </a:ext>
            </a:extLst>
          </p:cNvPr>
          <p:cNvSpPr/>
          <p:nvPr/>
        </p:nvSpPr>
        <p:spPr>
          <a:xfrm>
            <a:off x="195795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D5B58"/>
                </a:solidFill>
              </a:rPr>
              <a:t>Vector memory</a:t>
            </a:r>
            <a:endParaRPr lang="en-US" sz="580" dirty="0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4259DBE2-0E85-74A3-15ED-8DFED0E7D3C4}"/>
              </a:ext>
            </a:extLst>
          </p:cNvPr>
          <p:cNvSpPr/>
          <p:nvPr/>
        </p:nvSpPr>
        <p:spPr>
          <a:xfrm>
            <a:off x="2548319" y="6291072"/>
            <a:ext cx="109728" cy="109728"/>
          </a:xfrm>
          <a:prstGeom prst="ellipse">
            <a:avLst/>
          </a:prstGeom>
          <a:solidFill>
            <a:srgbClr val="5D5B58"/>
          </a:solidFill>
          <a:ln w="12700">
            <a:solidFill>
              <a:srgbClr val="5D5B5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754078AE-F917-AA35-028F-3F6FF1988BAE}"/>
              </a:ext>
            </a:extLst>
          </p:cNvPr>
          <p:cNvSpPr/>
          <p:nvPr/>
        </p:nvSpPr>
        <p:spPr>
          <a:xfrm>
            <a:off x="3303270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8A57C3C1-7F60-797D-C5C3-7149E71BCD7E}"/>
              </a:ext>
            </a:extLst>
          </p:cNvPr>
          <p:cNvSpPr/>
          <p:nvPr/>
        </p:nvSpPr>
        <p:spPr>
          <a:xfrm>
            <a:off x="334899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Notion</a:t>
            </a:r>
            <a:endParaRPr lang="en-US" sz="850" dirty="0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FC7BB400-CE03-07A7-6887-227B39D13FC5}"/>
              </a:ext>
            </a:extLst>
          </p:cNvPr>
          <p:cNvSpPr/>
          <p:nvPr/>
        </p:nvSpPr>
        <p:spPr>
          <a:xfrm>
            <a:off x="335813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KB + Pipeline</a:t>
            </a:r>
            <a:endParaRPr lang="en-US" sz="580" dirty="0"/>
          </a:p>
        </p:txBody>
      </p:sp>
      <p:sp>
        <p:nvSpPr>
          <p:cNvPr id="48" name="Shape 44">
            <a:extLst>
              <a:ext uri="{FF2B5EF4-FFF2-40B4-BE49-F238E27FC236}">
                <a16:creationId xmlns:a16="http://schemas.microsoft.com/office/drawing/2014/main" id="{13A8064E-565C-B03D-D509-237A9DB58C3E}"/>
              </a:ext>
            </a:extLst>
          </p:cNvPr>
          <p:cNvSpPr/>
          <p:nvPr/>
        </p:nvSpPr>
        <p:spPr>
          <a:xfrm>
            <a:off x="3948494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9" name="Shape 45">
            <a:extLst>
              <a:ext uri="{FF2B5EF4-FFF2-40B4-BE49-F238E27FC236}">
                <a16:creationId xmlns:a16="http://schemas.microsoft.com/office/drawing/2014/main" id="{4B82E58A-9E58-4B8A-02F0-B7A2F36E1E33}"/>
              </a:ext>
            </a:extLst>
          </p:cNvPr>
          <p:cNvSpPr/>
          <p:nvPr/>
        </p:nvSpPr>
        <p:spPr>
          <a:xfrm>
            <a:off x="470344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0" name="Text 46">
            <a:extLst>
              <a:ext uri="{FF2B5EF4-FFF2-40B4-BE49-F238E27FC236}">
                <a16:creationId xmlns:a16="http://schemas.microsoft.com/office/drawing/2014/main" id="{5F05338C-4A8F-86A3-EA1F-3CA555F0BE22}"/>
              </a:ext>
            </a:extLst>
          </p:cNvPr>
          <p:cNvSpPr/>
          <p:nvPr/>
        </p:nvSpPr>
        <p:spPr>
          <a:xfrm>
            <a:off x="474916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Tavily</a:t>
            </a:r>
            <a:endParaRPr lang="en-US" sz="850" dirty="0"/>
          </a:p>
        </p:txBody>
      </p:sp>
      <p:sp>
        <p:nvSpPr>
          <p:cNvPr id="51" name="Text 47">
            <a:extLst>
              <a:ext uri="{FF2B5EF4-FFF2-40B4-BE49-F238E27FC236}">
                <a16:creationId xmlns:a16="http://schemas.microsoft.com/office/drawing/2014/main" id="{1B3744C8-BCE0-DDCF-67B4-799F5E47E5C4}"/>
              </a:ext>
            </a:extLst>
          </p:cNvPr>
          <p:cNvSpPr/>
          <p:nvPr/>
        </p:nvSpPr>
        <p:spPr>
          <a:xfrm>
            <a:off x="475830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Web research</a:t>
            </a:r>
            <a:endParaRPr lang="en-US" sz="580" dirty="0"/>
          </a:p>
        </p:txBody>
      </p:sp>
      <p:sp>
        <p:nvSpPr>
          <p:cNvPr id="52" name="Shape 48">
            <a:extLst>
              <a:ext uri="{FF2B5EF4-FFF2-40B4-BE49-F238E27FC236}">
                <a16:creationId xmlns:a16="http://schemas.microsoft.com/office/drawing/2014/main" id="{1BCEB67A-393A-617D-0E24-C081E1528FA0}"/>
              </a:ext>
            </a:extLst>
          </p:cNvPr>
          <p:cNvSpPr/>
          <p:nvPr/>
        </p:nvSpPr>
        <p:spPr>
          <a:xfrm>
            <a:off x="5348669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3" name="Shape 49">
            <a:extLst>
              <a:ext uri="{FF2B5EF4-FFF2-40B4-BE49-F238E27FC236}">
                <a16:creationId xmlns:a16="http://schemas.microsoft.com/office/drawing/2014/main" id="{43040DE1-0396-5BFA-DD44-2B851F3049F3}"/>
              </a:ext>
            </a:extLst>
          </p:cNvPr>
          <p:cNvSpPr/>
          <p:nvPr/>
        </p:nvSpPr>
        <p:spPr>
          <a:xfrm>
            <a:off x="6103620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4" name="Text 50">
            <a:extLst>
              <a:ext uri="{FF2B5EF4-FFF2-40B4-BE49-F238E27FC236}">
                <a16:creationId xmlns:a16="http://schemas.microsoft.com/office/drawing/2014/main" id="{6F7021FE-B976-8B76-2AAD-515DFB4850A9}"/>
              </a:ext>
            </a:extLst>
          </p:cNvPr>
          <p:cNvSpPr/>
          <p:nvPr/>
        </p:nvSpPr>
        <p:spPr>
          <a:xfrm>
            <a:off x="614934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Telegram</a:t>
            </a:r>
            <a:endParaRPr lang="en-US" sz="850" dirty="0"/>
          </a:p>
        </p:txBody>
      </p:sp>
      <p:sp>
        <p:nvSpPr>
          <p:cNvPr id="55" name="Text 51">
            <a:extLst>
              <a:ext uri="{FF2B5EF4-FFF2-40B4-BE49-F238E27FC236}">
                <a16:creationId xmlns:a16="http://schemas.microsoft.com/office/drawing/2014/main" id="{F1A46B09-FC1D-26CB-7E54-80F16CA6839D}"/>
              </a:ext>
            </a:extLst>
          </p:cNvPr>
          <p:cNvSpPr/>
          <p:nvPr/>
        </p:nvSpPr>
        <p:spPr>
          <a:xfrm>
            <a:off x="615848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Notifications</a:t>
            </a:r>
            <a:endParaRPr lang="en-US" sz="580" dirty="0"/>
          </a:p>
        </p:txBody>
      </p:sp>
      <p:sp>
        <p:nvSpPr>
          <p:cNvPr id="56" name="Shape 52">
            <a:extLst>
              <a:ext uri="{FF2B5EF4-FFF2-40B4-BE49-F238E27FC236}">
                <a16:creationId xmlns:a16="http://schemas.microsoft.com/office/drawing/2014/main" id="{7FF9C31E-2509-022E-2365-20166D1FDA9E}"/>
              </a:ext>
            </a:extLst>
          </p:cNvPr>
          <p:cNvSpPr/>
          <p:nvPr/>
        </p:nvSpPr>
        <p:spPr>
          <a:xfrm>
            <a:off x="6748844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7" name="Shape 53">
            <a:extLst>
              <a:ext uri="{FF2B5EF4-FFF2-40B4-BE49-F238E27FC236}">
                <a16:creationId xmlns:a16="http://schemas.microsoft.com/office/drawing/2014/main" id="{E1289C90-2256-7DA1-155C-E92B49165504}"/>
              </a:ext>
            </a:extLst>
          </p:cNvPr>
          <p:cNvSpPr/>
          <p:nvPr/>
        </p:nvSpPr>
        <p:spPr>
          <a:xfrm>
            <a:off x="750379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8" name="Text 54">
            <a:extLst>
              <a:ext uri="{FF2B5EF4-FFF2-40B4-BE49-F238E27FC236}">
                <a16:creationId xmlns:a16="http://schemas.microsoft.com/office/drawing/2014/main" id="{91E8908F-A302-51F9-BDBB-6C6D82BAEAA3}"/>
              </a:ext>
            </a:extLst>
          </p:cNvPr>
          <p:cNvSpPr/>
          <p:nvPr/>
        </p:nvSpPr>
        <p:spPr>
          <a:xfrm>
            <a:off x="754951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5B58"/>
                </a:solidFill>
              </a:rPr>
              <a:t>Google Drive</a:t>
            </a:r>
            <a:endParaRPr lang="en-US" sz="850" dirty="0"/>
          </a:p>
        </p:txBody>
      </p:sp>
      <p:sp>
        <p:nvSpPr>
          <p:cNvPr id="59" name="Text 55">
            <a:extLst>
              <a:ext uri="{FF2B5EF4-FFF2-40B4-BE49-F238E27FC236}">
                <a16:creationId xmlns:a16="http://schemas.microsoft.com/office/drawing/2014/main" id="{0BC86959-BC6D-00F6-2A06-B1F43E59626C}"/>
              </a:ext>
            </a:extLst>
          </p:cNvPr>
          <p:cNvSpPr/>
          <p:nvPr/>
        </p:nvSpPr>
        <p:spPr>
          <a:xfrm>
            <a:off x="755865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D5B58"/>
                </a:solidFill>
              </a:rPr>
              <a:t>Granola sessions</a:t>
            </a:r>
            <a:endParaRPr lang="en-US" sz="580" dirty="0"/>
          </a:p>
        </p:txBody>
      </p:sp>
      <p:sp>
        <p:nvSpPr>
          <p:cNvPr id="60" name="Shape 56">
            <a:extLst>
              <a:ext uri="{FF2B5EF4-FFF2-40B4-BE49-F238E27FC236}">
                <a16:creationId xmlns:a16="http://schemas.microsoft.com/office/drawing/2014/main" id="{3243D620-143B-0D95-9895-9F953F48C7B0}"/>
              </a:ext>
            </a:extLst>
          </p:cNvPr>
          <p:cNvSpPr/>
          <p:nvPr/>
        </p:nvSpPr>
        <p:spPr>
          <a:xfrm>
            <a:off x="8149019" y="6291072"/>
            <a:ext cx="109728" cy="109728"/>
          </a:xfrm>
          <a:prstGeom prst="ellipse">
            <a:avLst/>
          </a:prstGeom>
          <a:solidFill>
            <a:srgbClr val="5D5B58"/>
          </a:solidFill>
          <a:ln w="12700">
            <a:solidFill>
              <a:srgbClr val="5D5B5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1" name="Shape 57">
            <a:extLst>
              <a:ext uri="{FF2B5EF4-FFF2-40B4-BE49-F238E27FC236}">
                <a16:creationId xmlns:a16="http://schemas.microsoft.com/office/drawing/2014/main" id="{4ED9ABEA-BC3D-7389-77EA-5270E1DEA3FF}"/>
              </a:ext>
            </a:extLst>
          </p:cNvPr>
          <p:cNvSpPr/>
          <p:nvPr/>
        </p:nvSpPr>
        <p:spPr>
          <a:xfrm>
            <a:off x="8903970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2" name="Text 58">
            <a:extLst>
              <a:ext uri="{FF2B5EF4-FFF2-40B4-BE49-F238E27FC236}">
                <a16:creationId xmlns:a16="http://schemas.microsoft.com/office/drawing/2014/main" id="{E1776776-178D-2A49-9C51-9ECEB1955EBB}"/>
              </a:ext>
            </a:extLst>
          </p:cNvPr>
          <p:cNvSpPr/>
          <p:nvPr/>
        </p:nvSpPr>
        <p:spPr>
          <a:xfrm>
            <a:off x="894969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5B58"/>
                </a:solidFill>
              </a:rPr>
              <a:t>SMTP</a:t>
            </a:r>
            <a:endParaRPr lang="en-US" sz="850" dirty="0"/>
          </a:p>
        </p:txBody>
      </p:sp>
      <p:sp>
        <p:nvSpPr>
          <p:cNvPr id="63" name="Text 59">
            <a:extLst>
              <a:ext uri="{FF2B5EF4-FFF2-40B4-BE49-F238E27FC236}">
                <a16:creationId xmlns:a16="http://schemas.microsoft.com/office/drawing/2014/main" id="{BC2C08E9-53F5-FF8B-7D9A-868DBDA62169}"/>
              </a:ext>
            </a:extLst>
          </p:cNvPr>
          <p:cNvSpPr/>
          <p:nvPr/>
        </p:nvSpPr>
        <p:spPr>
          <a:xfrm>
            <a:off x="895883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D5B58"/>
                </a:solidFill>
              </a:rPr>
              <a:t>Email briefings</a:t>
            </a:r>
            <a:endParaRPr lang="en-US" sz="580" dirty="0"/>
          </a:p>
        </p:txBody>
      </p:sp>
      <p:sp>
        <p:nvSpPr>
          <p:cNvPr id="64" name="Shape 60">
            <a:extLst>
              <a:ext uri="{FF2B5EF4-FFF2-40B4-BE49-F238E27FC236}">
                <a16:creationId xmlns:a16="http://schemas.microsoft.com/office/drawing/2014/main" id="{4B0AE3F0-098F-B911-1F58-DB700450ABAE}"/>
              </a:ext>
            </a:extLst>
          </p:cNvPr>
          <p:cNvSpPr/>
          <p:nvPr/>
        </p:nvSpPr>
        <p:spPr>
          <a:xfrm>
            <a:off x="9549194" y="6291072"/>
            <a:ext cx="109728" cy="109728"/>
          </a:xfrm>
          <a:prstGeom prst="ellipse">
            <a:avLst/>
          </a:prstGeom>
          <a:solidFill>
            <a:srgbClr val="5D5B58"/>
          </a:solidFill>
          <a:ln w="12700">
            <a:solidFill>
              <a:srgbClr val="5D5B5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5" name="Shape 61">
            <a:extLst>
              <a:ext uri="{FF2B5EF4-FFF2-40B4-BE49-F238E27FC236}">
                <a16:creationId xmlns:a16="http://schemas.microsoft.com/office/drawing/2014/main" id="{DB12927D-7AAC-8B33-45C2-DF06FC0E007E}"/>
              </a:ext>
            </a:extLst>
          </p:cNvPr>
          <p:cNvSpPr/>
          <p:nvPr/>
        </p:nvSpPr>
        <p:spPr>
          <a:xfrm>
            <a:off x="1030414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6" name="Text 62">
            <a:extLst>
              <a:ext uri="{FF2B5EF4-FFF2-40B4-BE49-F238E27FC236}">
                <a16:creationId xmlns:a16="http://schemas.microsoft.com/office/drawing/2014/main" id="{1D067523-D201-3BB8-91D7-5BCB445C80B5}"/>
              </a:ext>
            </a:extLst>
          </p:cNvPr>
          <p:cNvSpPr/>
          <p:nvPr/>
        </p:nvSpPr>
        <p:spPr>
          <a:xfrm>
            <a:off x="1034986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n8n</a:t>
            </a:r>
            <a:endParaRPr lang="en-US" sz="850" dirty="0"/>
          </a:p>
        </p:txBody>
      </p:sp>
      <p:sp>
        <p:nvSpPr>
          <p:cNvPr id="67" name="Text 63">
            <a:extLst>
              <a:ext uri="{FF2B5EF4-FFF2-40B4-BE49-F238E27FC236}">
                <a16:creationId xmlns:a16="http://schemas.microsoft.com/office/drawing/2014/main" id="{485E3A2D-EE14-9B71-13BA-F5E46F02A68D}"/>
              </a:ext>
            </a:extLst>
          </p:cNvPr>
          <p:cNvSpPr/>
          <p:nvPr/>
        </p:nvSpPr>
        <p:spPr>
          <a:xfrm>
            <a:off x="1035900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Orchestrator</a:t>
            </a:r>
            <a:endParaRPr lang="en-US" sz="580" dirty="0"/>
          </a:p>
        </p:txBody>
      </p:sp>
      <p:sp>
        <p:nvSpPr>
          <p:cNvPr id="68" name="Shape 64">
            <a:extLst>
              <a:ext uri="{FF2B5EF4-FFF2-40B4-BE49-F238E27FC236}">
                <a16:creationId xmlns:a16="http://schemas.microsoft.com/office/drawing/2014/main" id="{9D282A2B-BC09-380A-99A6-FAD8F773B5E0}"/>
              </a:ext>
            </a:extLst>
          </p:cNvPr>
          <p:cNvSpPr/>
          <p:nvPr/>
        </p:nvSpPr>
        <p:spPr>
          <a:xfrm>
            <a:off x="10949369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9" name="Text 65">
            <a:extLst>
              <a:ext uri="{FF2B5EF4-FFF2-40B4-BE49-F238E27FC236}">
                <a16:creationId xmlns:a16="http://schemas.microsoft.com/office/drawing/2014/main" id="{7F849868-E271-A25D-B401-CAC1193D1E5D}"/>
              </a:ext>
            </a:extLst>
          </p:cNvPr>
          <p:cNvSpPr/>
          <p:nvPr/>
        </p:nvSpPr>
        <p:spPr>
          <a:xfrm>
            <a:off x="3108960" y="656539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9B5AC"/>
                </a:solidFill>
              </a:rPr>
              <a:t>BUILT WITH N8N  •  POWERED BY AI  •  DESIGNED FOR FOUNDER IMPACT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270572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8"/>
          </a:solidFill>
          <a:ln w="12700">
            <a:solidFill>
              <a:srgbClr val="0607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5715">
            <a:solidFill>
              <a:srgbClr val="F23A2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4" name="Image 0" descr="/mnt/data/moinland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4592"/>
            <a:ext cx="1463040" cy="402336"/>
          </a:xfrm>
          <a:prstGeom prst="rect">
            <a:avLst/>
          </a:prstGeom>
        </p:spPr>
      </p:pic>
      <p:pic>
        <p:nvPicPr>
          <p:cNvPr id="5" name="Image 1" descr="/mnt/data/agent_ian_crop.png"/>
          <p:cNvPicPr>
            <a:picLocks noChangeAspect="1"/>
          </p:cNvPicPr>
          <p:nvPr/>
        </p:nvPicPr>
        <p:blipFill>
          <a:blip r:embed="rId4"/>
          <a:srcRect l="12000" t="2000" r="-24528" b="3000"/>
          <a:stretch/>
        </p:blipFill>
        <p:spPr>
          <a:xfrm>
            <a:off x="438912" y="685800"/>
            <a:ext cx="1711757" cy="232989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86461" y="761878"/>
            <a:ext cx="304312" cy="304312"/>
          </a:xfrm>
          <a:prstGeom prst="ellipse">
            <a:avLst/>
          </a:prstGeom>
          <a:solidFill>
            <a:srgbClr val="17100D">
              <a:alpha val="95000"/>
            </a:srgbClr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3"/>
          <p:cNvSpPr/>
          <p:nvPr/>
        </p:nvSpPr>
        <p:spPr>
          <a:xfrm>
            <a:off x="486461" y="799917"/>
            <a:ext cx="304312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3F1E8"/>
                </a:solidFill>
              </a:rPr>
              <a:t>1</a:t>
            </a:r>
            <a:endParaRPr lang="en-US" sz="1040" dirty="0"/>
          </a:p>
        </p:txBody>
      </p:sp>
      <p:sp>
        <p:nvSpPr>
          <p:cNvPr id="8" name="Shape 4"/>
          <p:cNvSpPr/>
          <p:nvPr/>
        </p:nvSpPr>
        <p:spPr>
          <a:xfrm>
            <a:off x="562539" y="2701869"/>
            <a:ext cx="1474013" cy="294803"/>
          </a:xfrm>
          <a:prstGeom prst="roundRect">
            <a:avLst>
              <a:gd name="adj" fmla="val 15509"/>
            </a:avLst>
          </a:prstGeom>
          <a:solidFill>
            <a:srgbClr val="0B0A09"/>
          </a:solidFill>
          <a:ln w="10160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5"/>
          <p:cNvSpPr/>
          <p:nvPr/>
        </p:nvSpPr>
        <p:spPr>
          <a:xfrm>
            <a:off x="610088" y="2768437"/>
            <a:ext cx="1378915" cy="152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7CD843"/>
                </a:solidFill>
              </a:rPr>
              <a:t>IAN </a:t>
            </a:r>
            <a:r>
              <a:rPr lang="en-US" sz="884" dirty="0">
                <a:solidFill>
                  <a:srgbClr val="F3F1E8"/>
                </a:solidFill>
              </a:rPr>
              <a:t>— Idea to Notion</a:t>
            </a:r>
            <a:endParaRPr lang="en-US" sz="884" dirty="0"/>
          </a:p>
        </p:txBody>
      </p:sp>
      <p:pic>
        <p:nvPicPr>
          <p:cNvPr id="10" name="Image 2" descr="/mnt/data/agent_rea_crop.png"/>
          <p:cNvPicPr>
            <a:picLocks noChangeAspect="1"/>
          </p:cNvPicPr>
          <p:nvPr/>
        </p:nvPicPr>
        <p:blipFill>
          <a:blip r:embed="rId5"/>
          <a:srcRect l="12000" t="2000" r="-18036" b="3000"/>
          <a:stretch/>
        </p:blipFill>
        <p:spPr>
          <a:xfrm>
            <a:off x="2468880" y="685800"/>
            <a:ext cx="1711757" cy="232989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516429" y="761878"/>
            <a:ext cx="304312" cy="304312"/>
          </a:xfrm>
          <a:prstGeom prst="ellipse">
            <a:avLst/>
          </a:prstGeom>
          <a:solidFill>
            <a:srgbClr val="17100D">
              <a:alpha val="95000"/>
            </a:srgbClr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7"/>
          <p:cNvSpPr/>
          <p:nvPr/>
        </p:nvSpPr>
        <p:spPr>
          <a:xfrm>
            <a:off x="2516429" y="799917"/>
            <a:ext cx="304312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3F1E8"/>
                </a:solidFill>
              </a:rPr>
              <a:t>2</a:t>
            </a:r>
            <a:endParaRPr lang="en-US" sz="1040" dirty="0"/>
          </a:p>
        </p:txBody>
      </p:sp>
      <p:sp>
        <p:nvSpPr>
          <p:cNvPr id="13" name="Shape 8"/>
          <p:cNvSpPr/>
          <p:nvPr/>
        </p:nvSpPr>
        <p:spPr>
          <a:xfrm>
            <a:off x="2592507" y="2701869"/>
            <a:ext cx="1474013" cy="294803"/>
          </a:xfrm>
          <a:prstGeom prst="roundRect">
            <a:avLst>
              <a:gd name="adj" fmla="val 15509"/>
            </a:avLst>
          </a:prstGeom>
          <a:solidFill>
            <a:srgbClr val="0B0A09"/>
          </a:solidFill>
          <a:ln w="10160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9"/>
          <p:cNvSpPr/>
          <p:nvPr/>
        </p:nvSpPr>
        <p:spPr>
          <a:xfrm>
            <a:off x="2640056" y="2768437"/>
            <a:ext cx="1378915" cy="152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7CD843"/>
                </a:solidFill>
              </a:rPr>
              <a:t>REA </a:t>
            </a:r>
            <a:r>
              <a:rPr lang="en-US" sz="884" dirty="0">
                <a:solidFill>
                  <a:srgbClr val="F3F1E8"/>
                </a:solidFill>
              </a:rPr>
              <a:t>— Research &amp; Analysis</a:t>
            </a:r>
            <a:endParaRPr lang="en-US" sz="884" dirty="0"/>
          </a:p>
        </p:txBody>
      </p:sp>
      <p:sp>
        <p:nvSpPr>
          <p:cNvPr id="15" name="Shape 10"/>
          <p:cNvSpPr/>
          <p:nvPr/>
        </p:nvSpPr>
        <p:spPr>
          <a:xfrm>
            <a:off x="4434840" y="786384"/>
            <a:ext cx="6903720" cy="1645920"/>
          </a:xfrm>
          <a:prstGeom prst="roundRect">
            <a:avLst>
              <a:gd name="adj" fmla="val 4444"/>
            </a:avLst>
          </a:prstGeom>
          <a:solidFill>
            <a:srgbClr val="0B0E10">
              <a:alpha val="97000"/>
            </a:srgbClr>
          </a:solidFill>
          <a:ln w="1333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1"/>
          <p:cNvSpPr/>
          <p:nvPr/>
        </p:nvSpPr>
        <p:spPr>
          <a:xfrm>
            <a:off x="4599432" y="1225296"/>
            <a:ext cx="6574536" cy="0"/>
          </a:xfrm>
          <a:prstGeom prst="line">
            <a:avLst/>
          </a:prstGeom>
          <a:noFill/>
          <a:ln w="8890">
            <a:solidFill>
              <a:srgbClr val="F23A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2"/>
          <p:cNvSpPr/>
          <p:nvPr/>
        </p:nvSpPr>
        <p:spPr>
          <a:xfrm>
            <a:off x="4690872" y="932688"/>
            <a:ext cx="6391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D843"/>
                </a:solidFill>
              </a:rPr>
              <a:t>1  IAN — Content creation path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690872" y="1115568"/>
            <a:ext cx="6391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B9B5AC"/>
                </a:solidFill>
              </a:rPr>
              <a:t>Telegram idea → researched LinkedIn draft → Notion pipeline</a:t>
            </a:r>
            <a:endParaRPr lang="en-US" sz="680" dirty="0"/>
          </a:p>
        </p:txBody>
      </p:sp>
      <p:sp>
        <p:nvSpPr>
          <p:cNvPr id="19" name="Shape 14"/>
          <p:cNvSpPr/>
          <p:nvPr/>
        </p:nvSpPr>
        <p:spPr>
          <a:xfrm>
            <a:off x="4690872" y="1408176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5"/>
          <p:cNvSpPr/>
          <p:nvPr/>
        </p:nvSpPr>
        <p:spPr>
          <a:xfrm>
            <a:off x="4718304" y="152704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Telegram</a:t>
            </a:r>
            <a:endParaRPr lang="en-US" sz="660" dirty="0"/>
          </a:p>
        </p:txBody>
      </p:sp>
      <p:sp>
        <p:nvSpPr>
          <p:cNvPr id="21" name="Shape 16"/>
          <p:cNvSpPr/>
          <p:nvPr/>
        </p:nvSpPr>
        <p:spPr>
          <a:xfrm>
            <a:off x="5605272" y="1600200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2" name="Shape 17"/>
          <p:cNvSpPr/>
          <p:nvPr/>
        </p:nvSpPr>
        <p:spPr>
          <a:xfrm>
            <a:off x="5751576" y="1408176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18"/>
          <p:cNvSpPr/>
          <p:nvPr/>
        </p:nvSpPr>
        <p:spPr>
          <a:xfrm>
            <a:off x="5779008" y="152704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GPT brief</a:t>
            </a:r>
            <a:endParaRPr lang="en-US" sz="660" dirty="0"/>
          </a:p>
        </p:txBody>
      </p:sp>
      <p:sp>
        <p:nvSpPr>
          <p:cNvPr id="24" name="Shape 19"/>
          <p:cNvSpPr/>
          <p:nvPr/>
        </p:nvSpPr>
        <p:spPr>
          <a:xfrm>
            <a:off x="6665976" y="1600200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20"/>
          <p:cNvSpPr/>
          <p:nvPr/>
        </p:nvSpPr>
        <p:spPr>
          <a:xfrm>
            <a:off x="6812280" y="1408176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1"/>
          <p:cNvSpPr/>
          <p:nvPr/>
        </p:nvSpPr>
        <p:spPr>
          <a:xfrm>
            <a:off x="6839712" y="152704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Tavily</a:t>
            </a:r>
            <a:endParaRPr lang="en-US" sz="660" dirty="0"/>
          </a:p>
        </p:txBody>
      </p:sp>
      <p:sp>
        <p:nvSpPr>
          <p:cNvPr id="27" name="Shape 22"/>
          <p:cNvSpPr/>
          <p:nvPr/>
        </p:nvSpPr>
        <p:spPr>
          <a:xfrm>
            <a:off x="7726680" y="1600200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8" name="Shape 23"/>
          <p:cNvSpPr/>
          <p:nvPr/>
        </p:nvSpPr>
        <p:spPr>
          <a:xfrm>
            <a:off x="7872984" y="1408176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4"/>
          <p:cNvSpPr/>
          <p:nvPr/>
        </p:nvSpPr>
        <p:spPr>
          <a:xfrm>
            <a:off x="7900416" y="152704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GPT post</a:t>
            </a:r>
            <a:endParaRPr lang="en-US" sz="660" dirty="0"/>
          </a:p>
        </p:txBody>
      </p:sp>
      <p:sp>
        <p:nvSpPr>
          <p:cNvPr id="30" name="Shape 25"/>
          <p:cNvSpPr/>
          <p:nvPr/>
        </p:nvSpPr>
        <p:spPr>
          <a:xfrm>
            <a:off x="8787384" y="1600200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1" name="Shape 26"/>
          <p:cNvSpPr/>
          <p:nvPr/>
        </p:nvSpPr>
        <p:spPr>
          <a:xfrm>
            <a:off x="8933688" y="1408176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27"/>
          <p:cNvSpPr/>
          <p:nvPr/>
        </p:nvSpPr>
        <p:spPr>
          <a:xfrm>
            <a:off x="8961120" y="152704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Notion</a:t>
            </a:r>
            <a:endParaRPr lang="en-US" sz="660" dirty="0"/>
          </a:p>
        </p:txBody>
      </p:sp>
      <p:sp>
        <p:nvSpPr>
          <p:cNvPr id="33" name="Shape 28"/>
          <p:cNvSpPr/>
          <p:nvPr/>
        </p:nvSpPr>
        <p:spPr>
          <a:xfrm>
            <a:off x="9848088" y="1600200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29"/>
          <p:cNvSpPr/>
          <p:nvPr/>
        </p:nvSpPr>
        <p:spPr>
          <a:xfrm>
            <a:off x="9994392" y="1408176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0"/>
          <p:cNvSpPr/>
          <p:nvPr/>
        </p:nvSpPr>
        <p:spPr>
          <a:xfrm>
            <a:off x="10021824" y="152704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TG alert</a:t>
            </a:r>
            <a:endParaRPr lang="en-US" sz="660" dirty="0"/>
          </a:p>
        </p:txBody>
      </p:sp>
      <p:sp>
        <p:nvSpPr>
          <p:cNvPr id="36" name="Shape 31"/>
          <p:cNvSpPr/>
          <p:nvPr/>
        </p:nvSpPr>
        <p:spPr>
          <a:xfrm>
            <a:off x="4690872" y="2103120"/>
            <a:ext cx="6391656" cy="201168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 w="5080">
            <a:solidFill>
              <a:srgbClr val="F23A2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2"/>
          <p:cNvSpPr/>
          <p:nvPr/>
        </p:nvSpPr>
        <p:spPr>
          <a:xfrm>
            <a:off x="4782312" y="2148840"/>
            <a:ext cx="6208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B9B5AC"/>
                </a:solidFill>
              </a:rPr>
              <a:t>Output: Notion draft + Telegram success</a:t>
            </a:r>
            <a:endParaRPr lang="en-US" sz="580" dirty="0"/>
          </a:p>
        </p:txBody>
      </p:sp>
      <p:sp>
        <p:nvSpPr>
          <p:cNvPr id="38" name="Shape 33"/>
          <p:cNvSpPr/>
          <p:nvPr/>
        </p:nvSpPr>
        <p:spPr>
          <a:xfrm>
            <a:off x="4434840" y="2670048"/>
            <a:ext cx="6903720" cy="1645920"/>
          </a:xfrm>
          <a:prstGeom prst="roundRect">
            <a:avLst>
              <a:gd name="adj" fmla="val 4444"/>
            </a:avLst>
          </a:prstGeom>
          <a:solidFill>
            <a:srgbClr val="0B0E10">
              <a:alpha val="97000"/>
            </a:srgbClr>
          </a:solidFill>
          <a:ln w="1333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Shape 34"/>
          <p:cNvSpPr/>
          <p:nvPr/>
        </p:nvSpPr>
        <p:spPr>
          <a:xfrm>
            <a:off x="4599432" y="3108960"/>
            <a:ext cx="6574536" cy="0"/>
          </a:xfrm>
          <a:prstGeom prst="line">
            <a:avLst/>
          </a:prstGeom>
          <a:noFill/>
          <a:ln w="8890">
            <a:solidFill>
              <a:srgbClr val="F23A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ext 35"/>
          <p:cNvSpPr/>
          <p:nvPr/>
        </p:nvSpPr>
        <p:spPr>
          <a:xfrm>
            <a:off x="4690872" y="2816352"/>
            <a:ext cx="6391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D843"/>
                </a:solidFill>
              </a:rPr>
              <a:t>2  REA — Research intelligence path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4690872" y="2999232"/>
            <a:ext cx="6391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B9B5AC"/>
                </a:solidFill>
              </a:rPr>
              <a:t>Daily RSS ingest + weekly briefing loop</a:t>
            </a:r>
            <a:endParaRPr lang="en-US" sz="680" dirty="0"/>
          </a:p>
        </p:txBody>
      </p:sp>
      <p:sp>
        <p:nvSpPr>
          <p:cNvPr id="42" name="Shape 37"/>
          <p:cNvSpPr/>
          <p:nvPr/>
        </p:nvSpPr>
        <p:spPr>
          <a:xfrm>
            <a:off x="4690872" y="3291840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3" name="Text 38"/>
          <p:cNvSpPr/>
          <p:nvPr/>
        </p:nvSpPr>
        <p:spPr>
          <a:xfrm>
            <a:off x="4718304" y="341071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RSS feeds</a:t>
            </a:r>
            <a:endParaRPr lang="en-US" sz="660" dirty="0"/>
          </a:p>
        </p:txBody>
      </p:sp>
      <p:sp>
        <p:nvSpPr>
          <p:cNvPr id="44" name="Shape 39"/>
          <p:cNvSpPr/>
          <p:nvPr/>
        </p:nvSpPr>
        <p:spPr>
          <a:xfrm>
            <a:off x="5605272" y="3483864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5" name="Shape 40"/>
          <p:cNvSpPr/>
          <p:nvPr/>
        </p:nvSpPr>
        <p:spPr>
          <a:xfrm>
            <a:off x="5751576" y="3291840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6" name="Text 41"/>
          <p:cNvSpPr/>
          <p:nvPr/>
        </p:nvSpPr>
        <p:spPr>
          <a:xfrm>
            <a:off x="5779008" y="341071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Filter</a:t>
            </a:r>
            <a:endParaRPr lang="en-US" sz="660" dirty="0"/>
          </a:p>
        </p:txBody>
      </p:sp>
      <p:sp>
        <p:nvSpPr>
          <p:cNvPr id="47" name="Shape 42"/>
          <p:cNvSpPr/>
          <p:nvPr/>
        </p:nvSpPr>
        <p:spPr>
          <a:xfrm>
            <a:off x="6665976" y="3483864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8" name="Shape 43"/>
          <p:cNvSpPr/>
          <p:nvPr/>
        </p:nvSpPr>
        <p:spPr>
          <a:xfrm>
            <a:off x="6812280" y="3291840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9" name="Text 44"/>
          <p:cNvSpPr/>
          <p:nvPr/>
        </p:nvSpPr>
        <p:spPr>
          <a:xfrm>
            <a:off x="6839712" y="341071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Embed</a:t>
            </a:r>
            <a:endParaRPr lang="en-US" sz="660" dirty="0"/>
          </a:p>
        </p:txBody>
      </p:sp>
      <p:sp>
        <p:nvSpPr>
          <p:cNvPr id="50" name="Shape 45"/>
          <p:cNvSpPr/>
          <p:nvPr/>
        </p:nvSpPr>
        <p:spPr>
          <a:xfrm>
            <a:off x="7726680" y="3483864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51" name="Shape 46"/>
          <p:cNvSpPr/>
          <p:nvPr/>
        </p:nvSpPr>
        <p:spPr>
          <a:xfrm>
            <a:off x="7872984" y="3291840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2" name="Text 47"/>
          <p:cNvSpPr/>
          <p:nvPr/>
        </p:nvSpPr>
        <p:spPr>
          <a:xfrm>
            <a:off x="7900416" y="341071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Pinecone</a:t>
            </a:r>
            <a:endParaRPr lang="en-US" sz="660" dirty="0"/>
          </a:p>
        </p:txBody>
      </p:sp>
      <p:sp>
        <p:nvSpPr>
          <p:cNvPr id="53" name="Shape 48"/>
          <p:cNvSpPr/>
          <p:nvPr/>
        </p:nvSpPr>
        <p:spPr>
          <a:xfrm>
            <a:off x="8787384" y="3483864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54" name="Shape 49"/>
          <p:cNvSpPr/>
          <p:nvPr/>
        </p:nvSpPr>
        <p:spPr>
          <a:xfrm>
            <a:off x="8933688" y="3291840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5" name="Text 50"/>
          <p:cNvSpPr/>
          <p:nvPr/>
        </p:nvSpPr>
        <p:spPr>
          <a:xfrm>
            <a:off x="8961120" y="341071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GPT brief</a:t>
            </a:r>
            <a:endParaRPr lang="en-US" sz="660" dirty="0"/>
          </a:p>
        </p:txBody>
      </p:sp>
      <p:sp>
        <p:nvSpPr>
          <p:cNvPr id="56" name="Shape 51"/>
          <p:cNvSpPr/>
          <p:nvPr/>
        </p:nvSpPr>
        <p:spPr>
          <a:xfrm>
            <a:off x="9848088" y="3483864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57" name="Shape 52"/>
          <p:cNvSpPr/>
          <p:nvPr/>
        </p:nvSpPr>
        <p:spPr>
          <a:xfrm>
            <a:off x="9994392" y="3291840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8" name="Text 53"/>
          <p:cNvSpPr/>
          <p:nvPr/>
        </p:nvSpPr>
        <p:spPr>
          <a:xfrm>
            <a:off x="10021824" y="341071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Email</a:t>
            </a:r>
            <a:endParaRPr lang="en-US" sz="660" dirty="0"/>
          </a:p>
        </p:txBody>
      </p:sp>
      <p:sp>
        <p:nvSpPr>
          <p:cNvPr id="59" name="Shape 54"/>
          <p:cNvSpPr/>
          <p:nvPr/>
        </p:nvSpPr>
        <p:spPr>
          <a:xfrm>
            <a:off x="4690872" y="3986784"/>
            <a:ext cx="6391656" cy="201168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 w="5080">
            <a:solidFill>
              <a:srgbClr val="F23A2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0" name="Text 55"/>
          <p:cNvSpPr/>
          <p:nvPr/>
        </p:nvSpPr>
        <p:spPr>
          <a:xfrm>
            <a:off x="4782312" y="4032504"/>
            <a:ext cx="6208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B9B5AC"/>
                </a:solidFill>
              </a:rPr>
              <a:t>Sources: Sifted · deutsche-startups · EU-Startups · Silicon Canals · Output: Monday email briefing</a:t>
            </a:r>
            <a:endParaRPr lang="en-US" sz="580" dirty="0"/>
          </a:p>
        </p:txBody>
      </p:sp>
      <p:sp>
        <p:nvSpPr>
          <p:cNvPr id="61" name="Shape 56"/>
          <p:cNvSpPr/>
          <p:nvPr/>
        </p:nvSpPr>
        <p:spPr>
          <a:xfrm>
            <a:off x="502920" y="5614416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0A0C0E"/>
          </a:solidFill>
          <a:ln w="12700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2" name="Text 57"/>
          <p:cNvSpPr/>
          <p:nvPr/>
        </p:nvSpPr>
        <p:spPr>
          <a:xfrm>
            <a:off x="4206240" y="548640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23A2E"/>
                </a:solidFill>
              </a:rPr>
              <a:t>SHARED INTELLIGENCE LAYER</a:t>
            </a:r>
            <a:endParaRPr lang="en-US" sz="830" dirty="0"/>
          </a:p>
        </p:txBody>
      </p:sp>
      <p:sp>
        <p:nvSpPr>
          <p:cNvPr id="63" name="Text 58"/>
          <p:cNvSpPr/>
          <p:nvPr/>
        </p:nvSpPr>
        <p:spPr>
          <a:xfrm>
            <a:off x="54864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OpenAI</a:t>
            </a:r>
            <a:endParaRPr lang="en-US" sz="850" dirty="0"/>
          </a:p>
        </p:txBody>
      </p:sp>
      <p:sp>
        <p:nvSpPr>
          <p:cNvPr id="64" name="Text 59"/>
          <p:cNvSpPr/>
          <p:nvPr/>
        </p:nvSpPr>
        <p:spPr>
          <a:xfrm>
            <a:off x="55778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GPT + embeddings</a:t>
            </a:r>
            <a:endParaRPr lang="en-US" sz="580" dirty="0"/>
          </a:p>
        </p:txBody>
      </p:sp>
      <p:sp>
        <p:nvSpPr>
          <p:cNvPr id="65" name="Shape 60"/>
          <p:cNvSpPr/>
          <p:nvPr/>
        </p:nvSpPr>
        <p:spPr>
          <a:xfrm>
            <a:off x="1148144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6" name="Shape 61"/>
          <p:cNvSpPr/>
          <p:nvPr/>
        </p:nvSpPr>
        <p:spPr>
          <a:xfrm>
            <a:off x="190309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7" name="Text 62"/>
          <p:cNvSpPr/>
          <p:nvPr/>
        </p:nvSpPr>
        <p:spPr>
          <a:xfrm>
            <a:off x="194881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Pinecone</a:t>
            </a:r>
            <a:endParaRPr lang="en-US" sz="850" dirty="0"/>
          </a:p>
        </p:txBody>
      </p:sp>
      <p:sp>
        <p:nvSpPr>
          <p:cNvPr id="68" name="Text 63"/>
          <p:cNvSpPr/>
          <p:nvPr/>
        </p:nvSpPr>
        <p:spPr>
          <a:xfrm>
            <a:off x="195795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Vector memory</a:t>
            </a:r>
            <a:endParaRPr lang="en-US" sz="580" dirty="0"/>
          </a:p>
        </p:txBody>
      </p:sp>
      <p:sp>
        <p:nvSpPr>
          <p:cNvPr id="69" name="Shape 64"/>
          <p:cNvSpPr/>
          <p:nvPr/>
        </p:nvSpPr>
        <p:spPr>
          <a:xfrm>
            <a:off x="2548319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0" name="Shape 65"/>
          <p:cNvSpPr/>
          <p:nvPr/>
        </p:nvSpPr>
        <p:spPr>
          <a:xfrm>
            <a:off x="3303270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1" name="Text 66"/>
          <p:cNvSpPr/>
          <p:nvPr/>
        </p:nvSpPr>
        <p:spPr>
          <a:xfrm>
            <a:off x="334899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Notion</a:t>
            </a:r>
            <a:endParaRPr lang="en-US" sz="850" dirty="0"/>
          </a:p>
        </p:txBody>
      </p:sp>
      <p:sp>
        <p:nvSpPr>
          <p:cNvPr id="72" name="Text 67"/>
          <p:cNvSpPr/>
          <p:nvPr/>
        </p:nvSpPr>
        <p:spPr>
          <a:xfrm>
            <a:off x="335813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KB + Pipeline</a:t>
            </a:r>
            <a:endParaRPr lang="en-US" sz="580" dirty="0"/>
          </a:p>
        </p:txBody>
      </p:sp>
      <p:sp>
        <p:nvSpPr>
          <p:cNvPr id="73" name="Shape 68"/>
          <p:cNvSpPr/>
          <p:nvPr/>
        </p:nvSpPr>
        <p:spPr>
          <a:xfrm>
            <a:off x="3948494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4" name="Shape 69"/>
          <p:cNvSpPr/>
          <p:nvPr/>
        </p:nvSpPr>
        <p:spPr>
          <a:xfrm>
            <a:off x="470344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5" name="Text 70"/>
          <p:cNvSpPr/>
          <p:nvPr/>
        </p:nvSpPr>
        <p:spPr>
          <a:xfrm>
            <a:off x="474916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Tavily</a:t>
            </a:r>
            <a:endParaRPr lang="en-US" sz="850" dirty="0"/>
          </a:p>
        </p:txBody>
      </p:sp>
      <p:sp>
        <p:nvSpPr>
          <p:cNvPr id="76" name="Text 71"/>
          <p:cNvSpPr/>
          <p:nvPr/>
        </p:nvSpPr>
        <p:spPr>
          <a:xfrm>
            <a:off x="475830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Web research</a:t>
            </a:r>
            <a:endParaRPr lang="en-US" sz="580" dirty="0"/>
          </a:p>
        </p:txBody>
      </p:sp>
      <p:sp>
        <p:nvSpPr>
          <p:cNvPr id="77" name="Shape 72"/>
          <p:cNvSpPr/>
          <p:nvPr/>
        </p:nvSpPr>
        <p:spPr>
          <a:xfrm>
            <a:off x="5348669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8" name="Shape 73"/>
          <p:cNvSpPr/>
          <p:nvPr/>
        </p:nvSpPr>
        <p:spPr>
          <a:xfrm>
            <a:off x="6103620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9" name="Text 74"/>
          <p:cNvSpPr/>
          <p:nvPr/>
        </p:nvSpPr>
        <p:spPr>
          <a:xfrm>
            <a:off x="614934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Telegram</a:t>
            </a:r>
            <a:endParaRPr lang="en-US" sz="850" dirty="0"/>
          </a:p>
        </p:txBody>
      </p:sp>
      <p:sp>
        <p:nvSpPr>
          <p:cNvPr id="80" name="Text 75"/>
          <p:cNvSpPr/>
          <p:nvPr/>
        </p:nvSpPr>
        <p:spPr>
          <a:xfrm>
            <a:off x="615848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Notifications</a:t>
            </a:r>
            <a:endParaRPr lang="en-US" sz="580" dirty="0"/>
          </a:p>
        </p:txBody>
      </p:sp>
      <p:sp>
        <p:nvSpPr>
          <p:cNvPr id="81" name="Shape 76"/>
          <p:cNvSpPr/>
          <p:nvPr/>
        </p:nvSpPr>
        <p:spPr>
          <a:xfrm>
            <a:off x="6748844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2" name="Shape 77"/>
          <p:cNvSpPr/>
          <p:nvPr/>
        </p:nvSpPr>
        <p:spPr>
          <a:xfrm>
            <a:off x="750379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3" name="Text 78"/>
          <p:cNvSpPr/>
          <p:nvPr/>
        </p:nvSpPr>
        <p:spPr>
          <a:xfrm>
            <a:off x="754951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5B58"/>
                </a:solidFill>
              </a:rPr>
              <a:t>Google Drive</a:t>
            </a:r>
            <a:endParaRPr lang="en-US" sz="850" dirty="0"/>
          </a:p>
        </p:txBody>
      </p:sp>
      <p:sp>
        <p:nvSpPr>
          <p:cNvPr id="84" name="Text 79"/>
          <p:cNvSpPr/>
          <p:nvPr/>
        </p:nvSpPr>
        <p:spPr>
          <a:xfrm>
            <a:off x="755865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D5B58"/>
                </a:solidFill>
              </a:rPr>
              <a:t>Granola sessions</a:t>
            </a:r>
            <a:endParaRPr lang="en-US" sz="580" dirty="0"/>
          </a:p>
        </p:txBody>
      </p:sp>
      <p:sp>
        <p:nvSpPr>
          <p:cNvPr id="85" name="Shape 80"/>
          <p:cNvSpPr/>
          <p:nvPr/>
        </p:nvSpPr>
        <p:spPr>
          <a:xfrm>
            <a:off x="8149019" y="6291072"/>
            <a:ext cx="109728" cy="109728"/>
          </a:xfrm>
          <a:prstGeom prst="ellipse">
            <a:avLst/>
          </a:prstGeom>
          <a:solidFill>
            <a:srgbClr val="5D5B58"/>
          </a:solidFill>
          <a:ln w="12700">
            <a:solidFill>
              <a:srgbClr val="5D5B5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6" name="Shape 81"/>
          <p:cNvSpPr/>
          <p:nvPr/>
        </p:nvSpPr>
        <p:spPr>
          <a:xfrm>
            <a:off x="8903970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7" name="Text 82"/>
          <p:cNvSpPr/>
          <p:nvPr/>
        </p:nvSpPr>
        <p:spPr>
          <a:xfrm>
            <a:off x="894969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SMTP</a:t>
            </a:r>
            <a:endParaRPr lang="en-US" sz="850" dirty="0"/>
          </a:p>
        </p:txBody>
      </p:sp>
      <p:sp>
        <p:nvSpPr>
          <p:cNvPr id="88" name="Text 83"/>
          <p:cNvSpPr/>
          <p:nvPr/>
        </p:nvSpPr>
        <p:spPr>
          <a:xfrm>
            <a:off x="895883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Email briefings</a:t>
            </a:r>
            <a:endParaRPr lang="en-US" sz="580" dirty="0"/>
          </a:p>
        </p:txBody>
      </p:sp>
      <p:sp>
        <p:nvSpPr>
          <p:cNvPr id="89" name="Shape 84"/>
          <p:cNvSpPr/>
          <p:nvPr/>
        </p:nvSpPr>
        <p:spPr>
          <a:xfrm>
            <a:off x="9549194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0" name="Shape 85"/>
          <p:cNvSpPr/>
          <p:nvPr/>
        </p:nvSpPr>
        <p:spPr>
          <a:xfrm>
            <a:off x="1030414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1" name="Text 86"/>
          <p:cNvSpPr/>
          <p:nvPr/>
        </p:nvSpPr>
        <p:spPr>
          <a:xfrm>
            <a:off x="1034986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n8n</a:t>
            </a:r>
            <a:endParaRPr lang="en-US" sz="850" dirty="0"/>
          </a:p>
        </p:txBody>
      </p:sp>
      <p:sp>
        <p:nvSpPr>
          <p:cNvPr id="92" name="Text 87"/>
          <p:cNvSpPr/>
          <p:nvPr/>
        </p:nvSpPr>
        <p:spPr>
          <a:xfrm>
            <a:off x="1035900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Orchestrator</a:t>
            </a:r>
            <a:endParaRPr lang="en-US" sz="580" dirty="0"/>
          </a:p>
        </p:txBody>
      </p:sp>
      <p:sp>
        <p:nvSpPr>
          <p:cNvPr id="93" name="Shape 88"/>
          <p:cNvSpPr/>
          <p:nvPr/>
        </p:nvSpPr>
        <p:spPr>
          <a:xfrm>
            <a:off x="10949369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4" name="Text 89"/>
          <p:cNvSpPr/>
          <p:nvPr/>
        </p:nvSpPr>
        <p:spPr>
          <a:xfrm>
            <a:off x="3108960" y="656539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9B5AC"/>
                </a:solidFill>
              </a:rPr>
              <a:t>BUILT WITH N8N  •  POWERED BY AI  •  DESIGNED FOR FOUNDER IMPACT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8"/>
          </a:solidFill>
          <a:ln w="12700">
            <a:solidFill>
              <a:srgbClr val="0607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5715">
            <a:solidFill>
              <a:srgbClr val="F23A2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4" name="Image 0" descr="/mnt/data/moinland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4592"/>
            <a:ext cx="1463040" cy="402336"/>
          </a:xfrm>
          <a:prstGeom prst="rect">
            <a:avLst/>
          </a:prstGeom>
        </p:spPr>
      </p:pic>
      <p:pic>
        <p:nvPicPr>
          <p:cNvPr id="5" name="Image 1" descr="/mnt/data/agent_ian_crop.png"/>
          <p:cNvPicPr>
            <a:picLocks noChangeAspect="1"/>
          </p:cNvPicPr>
          <p:nvPr/>
        </p:nvPicPr>
        <p:blipFill>
          <a:blip r:embed="rId4"/>
          <a:srcRect l="12000" t="2000" r="-24528" b="3000"/>
          <a:stretch/>
        </p:blipFill>
        <p:spPr>
          <a:xfrm>
            <a:off x="1234440" y="585216"/>
            <a:ext cx="1613002" cy="219547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79246" y="656905"/>
            <a:ext cx="286756" cy="286756"/>
          </a:xfrm>
          <a:prstGeom prst="ellipse">
            <a:avLst/>
          </a:prstGeom>
          <a:solidFill>
            <a:srgbClr val="17100D">
              <a:alpha val="95000"/>
            </a:srgbClr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3"/>
          <p:cNvSpPr/>
          <p:nvPr/>
        </p:nvSpPr>
        <p:spPr>
          <a:xfrm>
            <a:off x="1279246" y="692749"/>
            <a:ext cx="286756" cy="16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3F1E8"/>
                </a:solidFill>
              </a:rPr>
              <a:t>1</a:t>
            </a:r>
            <a:endParaRPr lang="en-US" sz="980" dirty="0"/>
          </a:p>
        </p:txBody>
      </p:sp>
      <p:sp>
        <p:nvSpPr>
          <p:cNvPr id="8" name="Shape 4"/>
          <p:cNvSpPr/>
          <p:nvPr/>
        </p:nvSpPr>
        <p:spPr>
          <a:xfrm>
            <a:off x="1350935" y="2484973"/>
            <a:ext cx="1388974" cy="277795"/>
          </a:xfrm>
          <a:prstGeom prst="roundRect">
            <a:avLst>
              <a:gd name="adj" fmla="val 16458"/>
            </a:avLst>
          </a:prstGeom>
          <a:solidFill>
            <a:srgbClr val="0B0A09"/>
          </a:solidFill>
          <a:ln w="10160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5"/>
          <p:cNvSpPr/>
          <p:nvPr/>
        </p:nvSpPr>
        <p:spPr>
          <a:xfrm>
            <a:off x="1395740" y="2547701"/>
            <a:ext cx="1299362" cy="143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3" b="1" dirty="0">
                <a:solidFill>
                  <a:srgbClr val="7CD843"/>
                </a:solidFill>
              </a:rPr>
              <a:t>IAN </a:t>
            </a:r>
            <a:r>
              <a:rPr lang="en-US" sz="833" dirty="0">
                <a:solidFill>
                  <a:srgbClr val="F3F1E8"/>
                </a:solidFill>
              </a:rPr>
              <a:t>— Idea to Notion</a:t>
            </a:r>
            <a:endParaRPr lang="en-US" sz="833" dirty="0"/>
          </a:p>
        </p:txBody>
      </p:sp>
      <p:pic>
        <p:nvPicPr>
          <p:cNvPr id="10" name="Image 2" descr="/mnt/data/agent_rea_crop.png"/>
          <p:cNvPicPr>
            <a:picLocks noChangeAspect="1"/>
          </p:cNvPicPr>
          <p:nvPr/>
        </p:nvPicPr>
        <p:blipFill>
          <a:blip r:embed="rId5"/>
          <a:srcRect l="12000" t="2000" r="-18036" b="3000"/>
          <a:stretch/>
        </p:blipFill>
        <p:spPr>
          <a:xfrm>
            <a:off x="5029200" y="585216"/>
            <a:ext cx="1613002" cy="219547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074006" y="656905"/>
            <a:ext cx="286756" cy="286756"/>
          </a:xfrm>
          <a:prstGeom prst="ellipse">
            <a:avLst/>
          </a:prstGeom>
          <a:solidFill>
            <a:srgbClr val="17100D">
              <a:alpha val="95000"/>
            </a:srgbClr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7"/>
          <p:cNvSpPr/>
          <p:nvPr/>
        </p:nvSpPr>
        <p:spPr>
          <a:xfrm>
            <a:off x="5074006" y="692749"/>
            <a:ext cx="286756" cy="16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3F1E8"/>
                </a:solidFill>
              </a:rPr>
              <a:t>2</a:t>
            </a:r>
            <a:endParaRPr lang="en-US" sz="980" dirty="0"/>
          </a:p>
        </p:txBody>
      </p:sp>
      <p:sp>
        <p:nvSpPr>
          <p:cNvPr id="13" name="Shape 8"/>
          <p:cNvSpPr/>
          <p:nvPr/>
        </p:nvSpPr>
        <p:spPr>
          <a:xfrm>
            <a:off x="5145695" y="2484973"/>
            <a:ext cx="1388974" cy="277795"/>
          </a:xfrm>
          <a:prstGeom prst="roundRect">
            <a:avLst>
              <a:gd name="adj" fmla="val 16458"/>
            </a:avLst>
          </a:prstGeom>
          <a:solidFill>
            <a:srgbClr val="0B0A09"/>
          </a:solidFill>
          <a:ln w="10160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9"/>
          <p:cNvSpPr/>
          <p:nvPr/>
        </p:nvSpPr>
        <p:spPr>
          <a:xfrm>
            <a:off x="5190500" y="2547701"/>
            <a:ext cx="1299362" cy="143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3" b="1" dirty="0">
                <a:solidFill>
                  <a:srgbClr val="7CD843"/>
                </a:solidFill>
              </a:rPr>
              <a:t>REA </a:t>
            </a:r>
            <a:r>
              <a:rPr lang="en-US" sz="833" dirty="0">
                <a:solidFill>
                  <a:srgbClr val="F3F1E8"/>
                </a:solidFill>
              </a:rPr>
              <a:t>— Research &amp; Analysis</a:t>
            </a:r>
            <a:endParaRPr lang="en-US" sz="833" dirty="0"/>
          </a:p>
        </p:txBody>
      </p:sp>
      <p:pic>
        <p:nvPicPr>
          <p:cNvPr id="15" name="Image 3" descr="/mnt/data/agent_cal_crop.png"/>
          <p:cNvPicPr>
            <a:picLocks noChangeAspect="1"/>
          </p:cNvPicPr>
          <p:nvPr/>
        </p:nvPicPr>
        <p:blipFill>
          <a:blip r:embed="rId6"/>
          <a:srcRect l="12000" t="2000" r="-10462" b="3000"/>
          <a:stretch/>
        </p:blipFill>
        <p:spPr>
          <a:xfrm>
            <a:off x="8732520" y="585216"/>
            <a:ext cx="1613002" cy="219547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777326" y="656905"/>
            <a:ext cx="286756" cy="286756"/>
          </a:xfrm>
          <a:prstGeom prst="ellipse">
            <a:avLst/>
          </a:prstGeom>
          <a:solidFill>
            <a:srgbClr val="17100D">
              <a:alpha val="95000"/>
            </a:srgbClr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1"/>
          <p:cNvSpPr/>
          <p:nvPr/>
        </p:nvSpPr>
        <p:spPr>
          <a:xfrm>
            <a:off x="8777326" y="692749"/>
            <a:ext cx="286756" cy="16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3F1E8"/>
                </a:solidFill>
              </a:rPr>
              <a:t>3</a:t>
            </a:r>
            <a:endParaRPr lang="en-US" sz="980" dirty="0"/>
          </a:p>
        </p:txBody>
      </p:sp>
      <p:sp>
        <p:nvSpPr>
          <p:cNvPr id="18" name="Shape 12"/>
          <p:cNvSpPr/>
          <p:nvPr/>
        </p:nvSpPr>
        <p:spPr>
          <a:xfrm>
            <a:off x="8849015" y="2484973"/>
            <a:ext cx="1388974" cy="277795"/>
          </a:xfrm>
          <a:prstGeom prst="roundRect">
            <a:avLst>
              <a:gd name="adj" fmla="val 16458"/>
            </a:avLst>
          </a:prstGeom>
          <a:solidFill>
            <a:srgbClr val="0B0A09"/>
          </a:solidFill>
          <a:ln w="10160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3"/>
          <p:cNvSpPr/>
          <p:nvPr/>
        </p:nvSpPr>
        <p:spPr>
          <a:xfrm>
            <a:off x="8893820" y="2547701"/>
            <a:ext cx="1299362" cy="143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3" b="1" dirty="0">
                <a:solidFill>
                  <a:srgbClr val="7CD843"/>
                </a:solidFill>
              </a:rPr>
              <a:t>CAL </a:t>
            </a:r>
            <a:r>
              <a:rPr lang="en-US" sz="833" dirty="0">
                <a:solidFill>
                  <a:srgbClr val="F3F1E8"/>
                </a:solidFill>
              </a:rPr>
              <a:t>— Coaching to LinkedIn</a:t>
            </a:r>
            <a:endParaRPr lang="en-US" sz="833" dirty="0"/>
          </a:p>
        </p:txBody>
      </p:sp>
      <p:sp>
        <p:nvSpPr>
          <p:cNvPr id="20" name="Shape 14"/>
          <p:cNvSpPr/>
          <p:nvPr/>
        </p:nvSpPr>
        <p:spPr>
          <a:xfrm>
            <a:off x="502920" y="31546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0B0E10">
              <a:alpha val="97000"/>
            </a:srgbClr>
          </a:solidFill>
          <a:ln w="1333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Shape 15"/>
          <p:cNvSpPr/>
          <p:nvPr/>
        </p:nvSpPr>
        <p:spPr>
          <a:xfrm>
            <a:off x="667512" y="3593592"/>
            <a:ext cx="3282696" cy="0"/>
          </a:xfrm>
          <a:prstGeom prst="line">
            <a:avLst/>
          </a:prstGeom>
          <a:noFill/>
          <a:ln w="8890">
            <a:solidFill>
              <a:srgbClr val="F23A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16"/>
          <p:cNvSpPr/>
          <p:nvPr/>
        </p:nvSpPr>
        <p:spPr>
          <a:xfrm>
            <a:off x="758952" y="3300984"/>
            <a:ext cx="3099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D843"/>
                </a:solidFill>
              </a:rPr>
              <a:t>1  IAN — Idea to Notion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58952" y="3483864"/>
            <a:ext cx="309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B9B5AC"/>
                </a:solidFill>
              </a:rPr>
              <a:t>Topic input becomes a researched LinkedIn draft</a:t>
            </a:r>
            <a:endParaRPr lang="en-US" sz="680" dirty="0"/>
          </a:p>
        </p:txBody>
      </p:sp>
      <p:sp>
        <p:nvSpPr>
          <p:cNvPr id="24" name="Shape 18"/>
          <p:cNvSpPr/>
          <p:nvPr/>
        </p:nvSpPr>
        <p:spPr>
          <a:xfrm>
            <a:off x="758952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19"/>
          <p:cNvSpPr/>
          <p:nvPr/>
        </p:nvSpPr>
        <p:spPr>
          <a:xfrm>
            <a:off x="786384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Telegram</a:t>
            </a:r>
            <a:endParaRPr lang="en-US" sz="660" dirty="0"/>
          </a:p>
        </p:txBody>
      </p:sp>
      <p:sp>
        <p:nvSpPr>
          <p:cNvPr id="26" name="Shape 20"/>
          <p:cNvSpPr/>
          <p:nvPr/>
        </p:nvSpPr>
        <p:spPr>
          <a:xfrm>
            <a:off x="1267358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7" name="Shape 21"/>
          <p:cNvSpPr/>
          <p:nvPr/>
        </p:nvSpPr>
        <p:spPr>
          <a:xfrm>
            <a:off x="1413662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2"/>
          <p:cNvSpPr/>
          <p:nvPr/>
        </p:nvSpPr>
        <p:spPr>
          <a:xfrm>
            <a:off x="1441094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Voice</a:t>
            </a:r>
            <a:endParaRPr lang="en-US" sz="660" dirty="0"/>
          </a:p>
        </p:txBody>
      </p:sp>
      <p:sp>
        <p:nvSpPr>
          <p:cNvPr id="29" name="Shape 23"/>
          <p:cNvSpPr/>
          <p:nvPr/>
        </p:nvSpPr>
        <p:spPr>
          <a:xfrm>
            <a:off x="1922069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0" name="Shape 24"/>
          <p:cNvSpPr/>
          <p:nvPr/>
        </p:nvSpPr>
        <p:spPr>
          <a:xfrm>
            <a:off x="2068373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Text 25"/>
          <p:cNvSpPr/>
          <p:nvPr/>
        </p:nvSpPr>
        <p:spPr>
          <a:xfrm>
            <a:off x="2095805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GPT</a:t>
            </a:r>
            <a:endParaRPr lang="en-US" sz="660" dirty="0"/>
          </a:p>
        </p:txBody>
      </p:sp>
      <p:sp>
        <p:nvSpPr>
          <p:cNvPr id="32" name="Shape 26"/>
          <p:cNvSpPr/>
          <p:nvPr/>
        </p:nvSpPr>
        <p:spPr>
          <a:xfrm>
            <a:off x="2576779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3" name="Shape 27"/>
          <p:cNvSpPr/>
          <p:nvPr/>
        </p:nvSpPr>
        <p:spPr>
          <a:xfrm>
            <a:off x="2723083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28"/>
          <p:cNvSpPr/>
          <p:nvPr/>
        </p:nvSpPr>
        <p:spPr>
          <a:xfrm>
            <a:off x="2750515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Tavily</a:t>
            </a:r>
            <a:endParaRPr lang="en-US" sz="660" dirty="0"/>
          </a:p>
        </p:txBody>
      </p:sp>
      <p:sp>
        <p:nvSpPr>
          <p:cNvPr id="35" name="Shape 29"/>
          <p:cNvSpPr/>
          <p:nvPr/>
        </p:nvSpPr>
        <p:spPr>
          <a:xfrm>
            <a:off x="3231490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6" name="Shape 30"/>
          <p:cNvSpPr/>
          <p:nvPr/>
        </p:nvSpPr>
        <p:spPr>
          <a:xfrm>
            <a:off x="3377794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1"/>
          <p:cNvSpPr/>
          <p:nvPr/>
        </p:nvSpPr>
        <p:spPr>
          <a:xfrm>
            <a:off x="3405226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Notion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758952" y="4517136"/>
            <a:ext cx="3099816" cy="201168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 w="5080">
            <a:solidFill>
              <a:srgbClr val="F23A2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3"/>
          <p:cNvSpPr/>
          <p:nvPr/>
        </p:nvSpPr>
        <p:spPr>
          <a:xfrm>
            <a:off x="850392" y="4562856"/>
            <a:ext cx="2916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B9B5AC"/>
                </a:solidFill>
              </a:rPr>
              <a:t>Output: Blogpost Pipeline + Telegram</a:t>
            </a:r>
            <a:endParaRPr lang="en-US" sz="580" dirty="0"/>
          </a:p>
        </p:txBody>
      </p:sp>
      <p:sp>
        <p:nvSpPr>
          <p:cNvPr id="40" name="Shape 34"/>
          <p:cNvSpPr/>
          <p:nvPr/>
        </p:nvSpPr>
        <p:spPr>
          <a:xfrm>
            <a:off x="4297680" y="31546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0B0E10">
              <a:alpha val="97000"/>
            </a:srgbClr>
          </a:solidFill>
          <a:ln w="1333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1" name="Shape 35"/>
          <p:cNvSpPr/>
          <p:nvPr/>
        </p:nvSpPr>
        <p:spPr>
          <a:xfrm>
            <a:off x="4462272" y="3593592"/>
            <a:ext cx="3282696" cy="0"/>
          </a:xfrm>
          <a:prstGeom prst="line">
            <a:avLst/>
          </a:prstGeom>
          <a:noFill/>
          <a:ln w="8890">
            <a:solidFill>
              <a:srgbClr val="F23A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Text 36"/>
          <p:cNvSpPr/>
          <p:nvPr/>
        </p:nvSpPr>
        <p:spPr>
          <a:xfrm>
            <a:off x="4553712" y="3300984"/>
            <a:ext cx="3099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D843"/>
                </a:solidFill>
              </a:rPr>
              <a:t>2  REA — Research &amp; Analysis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4553712" y="3483864"/>
            <a:ext cx="309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B9B5AC"/>
                </a:solidFill>
              </a:rPr>
              <a:t>Market signal engine: ingest, embed, retrieve, brief</a:t>
            </a:r>
            <a:endParaRPr lang="en-US" sz="680" dirty="0"/>
          </a:p>
        </p:txBody>
      </p:sp>
      <p:sp>
        <p:nvSpPr>
          <p:cNvPr id="44" name="Shape 38"/>
          <p:cNvSpPr/>
          <p:nvPr/>
        </p:nvSpPr>
        <p:spPr>
          <a:xfrm>
            <a:off x="4553712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5" name="Text 39"/>
          <p:cNvSpPr/>
          <p:nvPr/>
        </p:nvSpPr>
        <p:spPr>
          <a:xfrm>
            <a:off x="4581144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RSS</a:t>
            </a:r>
            <a:endParaRPr lang="en-US" sz="660" dirty="0"/>
          </a:p>
        </p:txBody>
      </p:sp>
      <p:sp>
        <p:nvSpPr>
          <p:cNvPr id="46" name="Shape 40"/>
          <p:cNvSpPr/>
          <p:nvPr/>
        </p:nvSpPr>
        <p:spPr>
          <a:xfrm>
            <a:off x="5062118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7" name="Shape 41"/>
          <p:cNvSpPr/>
          <p:nvPr/>
        </p:nvSpPr>
        <p:spPr>
          <a:xfrm>
            <a:off x="5208422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8" name="Text 42"/>
          <p:cNvSpPr/>
          <p:nvPr/>
        </p:nvSpPr>
        <p:spPr>
          <a:xfrm>
            <a:off x="5235854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Clean</a:t>
            </a:r>
            <a:endParaRPr lang="en-US" sz="660" dirty="0"/>
          </a:p>
        </p:txBody>
      </p:sp>
      <p:sp>
        <p:nvSpPr>
          <p:cNvPr id="49" name="Shape 43"/>
          <p:cNvSpPr/>
          <p:nvPr/>
        </p:nvSpPr>
        <p:spPr>
          <a:xfrm>
            <a:off x="5716829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50" name="Shape 44"/>
          <p:cNvSpPr/>
          <p:nvPr/>
        </p:nvSpPr>
        <p:spPr>
          <a:xfrm>
            <a:off x="5863133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1" name="Text 45"/>
          <p:cNvSpPr/>
          <p:nvPr/>
        </p:nvSpPr>
        <p:spPr>
          <a:xfrm>
            <a:off x="5890565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Embed</a:t>
            </a:r>
            <a:endParaRPr lang="en-US" sz="660" dirty="0"/>
          </a:p>
        </p:txBody>
      </p:sp>
      <p:sp>
        <p:nvSpPr>
          <p:cNvPr id="52" name="Shape 46"/>
          <p:cNvSpPr/>
          <p:nvPr/>
        </p:nvSpPr>
        <p:spPr>
          <a:xfrm>
            <a:off x="6371539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53" name="Shape 47"/>
          <p:cNvSpPr/>
          <p:nvPr/>
        </p:nvSpPr>
        <p:spPr>
          <a:xfrm>
            <a:off x="6517843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4" name="Text 48"/>
          <p:cNvSpPr/>
          <p:nvPr/>
        </p:nvSpPr>
        <p:spPr>
          <a:xfrm>
            <a:off x="6545275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Pinecone</a:t>
            </a:r>
            <a:endParaRPr lang="en-US" sz="660" dirty="0"/>
          </a:p>
        </p:txBody>
      </p:sp>
      <p:sp>
        <p:nvSpPr>
          <p:cNvPr id="55" name="Shape 49"/>
          <p:cNvSpPr/>
          <p:nvPr/>
        </p:nvSpPr>
        <p:spPr>
          <a:xfrm>
            <a:off x="7026250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56" name="Shape 50"/>
          <p:cNvSpPr/>
          <p:nvPr/>
        </p:nvSpPr>
        <p:spPr>
          <a:xfrm>
            <a:off x="7172554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7" name="Text 51"/>
          <p:cNvSpPr/>
          <p:nvPr/>
        </p:nvSpPr>
        <p:spPr>
          <a:xfrm>
            <a:off x="7199986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Email</a:t>
            </a:r>
            <a:endParaRPr lang="en-US" sz="660" dirty="0"/>
          </a:p>
        </p:txBody>
      </p:sp>
      <p:sp>
        <p:nvSpPr>
          <p:cNvPr id="58" name="Shape 52"/>
          <p:cNvSpPr/>
          <p:nvPr/>
        </p:nvSpPr>
        <p:spPr>
          <a:xfrm>
            <a:off x="4553712" y="4517136"/>
            <a:ext cx="3099816" cy="201168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 w="5080">
            <a:solidFill>
              <a:srgbClr val="F23A2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9" name="Text 53"/>
          <p:cNvSpPr/>
          <p:nvPr/>
        </p:nvSpPr>
        <p:spPr>
          <a:xfrm>
            <a:off x="4645152" y="4562856"/>
            <a:ext cx="2916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B9B5AC"/>
                </a:solidFill>
              </a:rPr>
              <a:t>Output: Weekly funding/investor briefing</a:t>
            </a:r>
            <a:endParaRPr lang="en-US" sz="580" dirty="0"/>
          </a:p>
        </p:txBody>
      </p:sp>
      <p:sp>
        <p:nvSpPr>
          <p:cNvPr id="60" name="Shape 54"/>
          <p:cNvSpPr/>
          <p:nvPr/>
        </p:nvSpPr>
        <p:spPr>
          <a:xfrm>
            <a:off x="8092440" y="31546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0B0E10">
              <a:alpha val="97000"/>
            </a:srgbClr>
          </a:solidFill>
          <a:ln w="1333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1" name="Shape 55"/>
          <p:cNvSpPr/>
          <p:nvPr/>
        </p:nvSpPr>
        <p:spPr>
          <a:xfrm>
            <a:off x="8257032" y="3593592"/>
            <a:ext cx="3282696" cy="0"/>
          </a:xfrm>
          <a:prstGeom prst="line">
            <a:avLst/>
          </a:prstGeom>
          <a:noFill/>
          <a:ln w="8890">
            <a:solidFill>
              <a:srgbClr val="F23A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2" name="Text 56"/>
          <p:cNvSpPr/>
          <p:nvPr/>
        </p:nvSpPr>
        <p:spPr>
          <a:xfrm>
            <a:off x="8348472" y="3300984"/>
            <a:ext cx="3099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D843"/>
                </a:solidFill>
              </a:rPr>
              <a:t>3  CAL — Coaching to LinkedIn</a:t>
            </a:r>
            <a:endParaRPr lang="en-US" sz="1100" dirty="0"/>
          </a:p>
        </p:txBody>
      </p:sp>
      <p:sp>
        <p:nvSpPr>
          <p:cNvPr id="63" name="Text 57"/>
          <p:cNvSpPr/>
          <p:nvPr/>
        </p:nvSpPr>
        <p:spPr>
          <a:xfrm>
            <a:off x="8348472" y="3483864"/>
            <a:ext cx="309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B9B5AC"/>
                </a:solidFill>
              </a:rPr>
              <a:t>Granola session becomes an evidence-backed post</a:t>
            </a:r>
            <a:endParaRPr lang="en-US" sz="680" dirty="0"/>
          </a:p>
        </p:txBody>
      </p:sp>
      <p:sp>
        <p:nvSpPr>
          <p:cNvPr id="64" name="Shape 58"/>
          <p:cNvSpPr/>
          <p:nvPr/>
        </p:nvSpPr>
        <p:spPr>
          <a:xfrm>
            <a:off x="8348472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5" name="Text 59"/>
          <p:cNvSpPr/>
          <p:nvPr/>
        </p:nvSpPr>
        <p:spPr>
          <a:xfrm>
            <a:off x="8375904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Drive</a:t>
            </a:r>
            <a:endParaRPr lang="en-US" sz="660" dirty="0"/>
          </a:p>
        </p:txBody>
      </p:sp>
      <p:sp>
        <p:nvSpPr>
          <p:cNvPr id="66" name="Shape 60"/>
          <p:cNvSpPr/>
          <p:nvPr/>
        </p:nvSpPr>
        <p:spPr>
          <a:xfrm>
            <a:off x="8856878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67" name="Shape 61"/>
          <p:cNvSpPr/>
          <p:nvPr/>
        </p:nvSpPr>
        <p:spPr>
          <a:xfrm>
            <a:off x="9003182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8" name="Text 62"/>
          <p:cNvSpPr/>
          <p:nvPr/>
        </p:nvSpPr>
        <p:spPr>
          <a:xfrm>
            <a:off x="9030614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Extract</a:t>
            </a:r>
            <a:endParaRPr lang="en-US" sz="660" dirty="0"/>
          </a:p>
        </p:txBody>
      </p:sp>
      <p:sp>
        <p:nvSpPr>
          <p:cNvPr id="69" name="Shape 63"/>
          <p:cNvSpPr/>
          <p:nvPr/>
        </p:nvSpPr>
        <p:spPr>
          <a:xfrm>
            <a:off x="9511589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70" name="Shape 64"/>
          <p:cNvSpPr/>
          <p:nvPr/>
        </p:nvSpPr>
        <p:spPr>
          <a:xfrm>
            <a:off x="9657893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1" name="Text 65"/>
          <p:cNvSpPr/>
          <p:nvPr/>
        </p:nvSpPr>
        <p:spPr>
          <a:xfrm>
            <a:off x="9685325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Pinecone</a:t>
            </a:r>
            <a:endParaRPr lang="en-US" sz="660" dirty="0"/>
          </a:p>
        </p:txBody>
      </p:sp>
      <p:sp>
        <p:nvSpPr>
          <p:cNvPr id="72" name="Shape 66"/>
          <p:cNvSpPr/>
          <p:nvPr/>
        </p:nvSpPr>
        <p:spPr>
          <a:xfrm>
            <a:off x="10166299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73" name="Shape 67"/>
          <p:cNvSpPr/>
          <p:nvPr/>
        </p:nvSpPr>
        <p:spPr>
          <a:xfrm>
            <a:off x="10312603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4" name="Text 68"/>
          <p:cNvSpPr/>
          <p:nvPr/>
        </p:nvSpPr>
        <p:spPr>
          <a:xfrm>
            <a:off x="10340035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Topic AI</a:t>
            </a:r>
            <a:endParaRPr lang="en-US" sz="660" dirty="0"/>
          </a:p>
        </p:txBody>
      </p:sp>
      <p:sp>
        <p:nvSpPr>
          <p:cNvPr id="75" name="Shape 69"/>
          <p:cNvSpPr/>
          <p:nvPr/>
        </p:nvSpPr>
        <p:spPr>
          <a:xfrm>
            <a:off x="10821010" y="3968496"/>
            <a:ext cx="118872" cy="0"/>
          </a:xfrm>
          <a:prstGeom prst="line">
            <a:avLst/>
          </a:prstGeom>
          <a:noFill/>
          <a:ln w="8890">
            <a:solidFill>
              <a:srgbClr val="F3F1E8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76" name="Shape 70"/>
          <p:cNvSpPr/>
          <p:nvPr/>
        </p:nvSpPr>
        <p:spPr>
          <a:xfrm>
            <a:off x="10967314" y="3776472"/>
            <a:ext cx="490118" cy="384048"/>
          </a:xfrm>
          <a:prstGeom prst="roundRect">
            <a:avLst>
              <a:gd name="adj" fmla="val 14286"/>
            </a:avLst>
          </a:prstGeom>
          <a:solidFill>
            <a:srgbClr val="101111"/>
          </a:solidFill>
          <a:ln w="9525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7" name="Text 71"/>
          <p:cNvSpPr/>
          <p:nvPr/>
        </p:nvSpPr>
        <p:spPr>
          <a:xfrm>
            <a:off x="10994746" y="3895344"/>
            <a:ext cx="4352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3F1E8"/>
                </a:solidFill>
              </a:rPr>
              <a:t>Draft</a:t>
            </a:r>
            <a:endParaRPr lang="en-US" sz="660" dirty="0"/>
          </a:p>
        </p:txBody>
      </p:sp>
      <p:sp>
        <p:nvSpPr>
          <p:cNvPr id="78" name="Shape 72"/>
          <p:cNvSpPr/>
          <p:nvPr/>
        </p:nvSpPr>
        <p:spPr>
          <a:xfrm>
            <a:off x="8348472" y="4517136"/>
            <a:ext cx="3099816" cy="201168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 w="5080">
            <a:solidFill>
              <a:srgbClr val="F23A2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9" name="Text 73"/>
          <p:cNvSpPr/>
          <p:nvPr/>
        </p:nvSpPr>
        <p:spPr>
          <a:xfrm>
            <a:off x="8439912" y="4562856"/>
            <a:ext cx="2916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B9B5AC"/>
                </a:solidFill>
              </a:rPr>
              <a:t>Output: Notion draft + Telegram</a:t>
            </a:r>
            <a:endParaRPr lang="en-US" sz="580" dirty="0"/>
          </a:p>
        </p:txBody>
      </p:sp>
      <p:sp>
        <p:nvSpPr>
          <p:cNvPr id="80" name="Shape 74"/>
          <p:cNvSpPr/>
          <p:nvPr/>
        </p:nvSpPr>
        <p:spPr>
          <a:xfrm>
            <a:off x="502920" y="5614416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0A0C0E"/>
          </a:solidFill>
          <a:ln w="12700">
            <a:solidFill>
              <a:srgbClr val="F23A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1" name="Text 75"/>
          <p:cNvSpPr/>
          <p:nvPr/>
        </p:nvSpPr>
        <p:spPr>
          <a:xfrm>
            <a:off x="4206240" y="548640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23A2E"/>
                </a:solidFill>
              </a:rPr>
              <a:t>SHARED INTELLIGENCE LAYER</a:t>
            </a:r>
            <a:endParaRPr lang="en-US" sz="830" dirty="0"/>
          </a:p>
        </p:txBody>
      </p:sp>
      <p:sp>
        <p:nvSpPr>
          <p:cNvPr id="82" name="Text 76"/>
          <p:cNvSpPr/>
          <p:nvPr/>
        </p:nvSpPr>
        <p:spPr>
          <a:xfrm>
            <a:off x="54864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OpenAI</a:t>
            </a:r>
            <a:endParaRPr lang="en-US" sz="850" dirty="0"/>
          </a:p>
        </p:txBody>
      </p:sp>
      <p:sp>
        <p:nvSpPr>
          <p:cNvPr id="83" name="Text 77"/>
          <p:cNvSpPr/>
          <p:nvPr/>
        </p:nvSpPr>
        <p:spPr>
          <a:xfrm>
            <a:off x="55778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GPT + embeddings</a:t>
            </a:r>
            <a:endParaRPr lang="en-US" sz="580" dirty="0"/>
          </a:p>
        </p:txBody>
      </p:sp>
      <p:sp>
        <p:nvSpPr>
          <p:cNvPr id="84" name="Shape 78"/>
          <p:cNvSpPr/>
          <p:nvPr/>
        </p:nvSpPr>
        <p:spPr>
          <a:xfrm>
            <a:off x="1148144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5" name="Shape 79"/>
          <p:cNvSpPr/>
          <p:nvPr/>
        </p:nvSpPr>
        <p:spPr>
          <a:xfrm>
            <a:off x="190309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6" name="Text 80"/>
          <p:cNvSpPr/>
          <p:nvPr/>
        </p:nvSpPr>
        <p:spPr>
          <a:xfrm>
            <a:off x="194881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Pinecone</a:t>
            </a:r>
            <a:endParaRPr lang="en-US" sz="850" dirty="0"/>
          </a:p>
        </p:txBody>
      </p:sp>
      <p:sp>
        <p:nvSpPr>
          <p:cNvPr id="87" name="Text 81"/>
          <p:cNvSpPr/>
          <p:nvPr/>
        </p:nvSpPr>
        <p:spPr>
          <a:xfrm>
            <a:off x="195795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Vector memory</a:t>
            </a:r>
            <a:endParaRPr lang="en-US" sz="580" dirty="0"/>
          </a:p>
        </p:txBody>
      </p:sp>
      <p:sp>
        <p:nvSpPr>
          <p:cNvPr id="88" name="Shape 82"/>
          <p:cNvSpPr/>
          <p:nvPr/>
        </p:nvSpPr>
        <p:spPr>
          <a:xfrm>
            <a:off x="2548319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9" name="Shape 83"/>
          <p:cNvSpPr/>
          <p:nvPr/>
        </p:nvSpPr>
        <p:spPr>
          <a:xfrm>
            <a:off x="3303270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0" name="Text 84"/>
          <p:cNvSpPr/>
          <p:nvPr/>
        </p:nvSpPr>
        <p:spPr>
          <a:xfrm>
            <a:off x="334899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Notion</a:t>
            </a:r>
            <a:endParaRPr lang="en-US" sz="850" dirty="0"/>
          </a:p>
        </p:txBody>
      </p:sp>
      <p:sp>
        <p:nvSpPr>
          <p:cNvPr id="91" name="Text 85"/>
          <p:cNvSpPr/>
          <p:nvPr/>
        </p:nvSpPr>
        <p:spPr>
          <a:xfrm>
            <a:off x="335813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KB + Pipeline</a:t>
            </a:r>
            <a:endParaRPr lang="en-US" sz="580" dirty="0"/>
          </a:p>
        </p:txBody>
      </p:sp>
      <p:sp>
        <p:nvSpPr>
          <p:cNvPr id="92" name="Shape 86"/>
          <p:cNvSpPr/>
          <p:nvPr/>
        </p:nvSpPr>
        <p:spPr>
          <a:xfrm>
            <a:off x="3948494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3" name="Shape 87"/>
          <p:cNvSpPr/>
          <p:nvPr/>
        </p:nvSpPr>
        <p:spPr>
          <a:xfrm>
            <a:off x="470344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4" name="Text 88"/>
          <p:cNvSpPr/>
          <p:nvPr/>
        </p:nvSpPr>
        <p:spPr>
          <a:xfrm>
            <a:off x="474916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Tavily</a:t>
            </a:r>
            <a:endParaRPr lang="en-US" sz="850" dirty="0"/>
          </a:p>
        </p:txBody>
      </p:sp>
      <p:sp>
        <p:nvSpPr>
          <p:cNvPr id="95" name="Text 89"/>
          <p:cNvSpPr/>
          <p:nvPr/>
        </p:nvSpPr>
        <p:spPr>
          <a:xfrm>
            <a:off x="475830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Web research</a:t>
            </a:r>
            <a:endParaRPr lang="en-US" sz="580" dirty="0"/>
          </a:p>
        </p:txBody>
      </p:sp>
      <p:sp>
        <p:nvSpPr>
          <p:cNvPr id="96" name="Shape 90"/>
          <p:cNvSpPr/>
          <p:nvPr/>
        </p:nvSpPr>
        <p:spPr>
          <a:xfrm>
            <a:off x="5348669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7" name="Shape 91"/>
          <p:cNvSpPr/>
          <p:nvPr/>
        </p:nvSpPr>
        <p:spPr>
          <a:xfrm>
            <a:off x="6103620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8" name="Text 92"/>
          <p:cNvSpPr/>
          <p:nvPr/>
        </p:nvSpPr>
        <p:spPr>
          <a:xfrm>
            <a:off x="614934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Telegram</a:t>
            </a:r>
            <a:endParaRPr lang="en-US" sz="850" dirty="0"/>
          </a:p>
        </p:txBody>
      </p:sp>
      <p:sp>
        <p:nvSpPr>
          <p:cNvPr id="99" name="Text 93"/>
          <p:cNvSpPr/>
          <p:nvPr/>
        </p:nvSpPr>
        <p:spPr>
          <a:xfrm>
            <a:off x="615848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Notifications</a:t>
            </a:r>
            <a:endParaRPr lang="en-US" sz="580" dirty="0"/>
          </a:p>
        </p:txBody>
      </p:sp>
      <p:sp>
        <p:nvSpPr>
          <p:cNvPr id="100" name="Shape 94"/>
          <p:cNvSpPr/>
          <p:nvPr/>
        </p:nvSpPr>
        <p:spPr>
          <a:xfrm>
            <a:off x="6748844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1" name="Shape 95"/>
          <p:cNvSpPr/>
          <p:nvPr/>
        </p:nvSpPr>
        <p:spPr>
          <a:xfrm>
            <a:off x="750379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2" name="Text 96"/>
          <p:cNvSpPr/>
          <p:nvPr/>
        </p:nvSpPr>
        <p:spPr>
          <a:xfrm>
            <a:off x="754951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Google Drive</a:t>
            </a:r>
            <a:endParaRPr lang="en-US" sz="850" dirty="0"/>
          </a:p>
        </p:txBody>
      </p:sp>
      <p:sp>
        <p:nvSpPr>
          <p:cNvPr id="103" name="Text 97"/>
          <p:cNvSpPr/>
          <p:nvPr/>
        </p:nvSpPr>
        <p:spPr>
          <a:xfrm>
            <a:off x="755865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Granola sessions</a:t>
            </a:r>
            <a:endParaRPr lang="en-US" sz="580" dirty="0"/>
          </a:p>
        </p:txBody>
      </p:sp>
      <p:sp>
        <p:nvSpPr>
          <p:cNvPr id="104" name="Shape 98"/>
          <p:cNvSpPr/>
          <p:nvPr/>
        </p:nvSpPr>
        <p:spPr>
          <a:xfrm>
            <a:off x="8149019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5" name="Shape 99"/>
          <p:cNvSpPr/>
          <p:nvPr/>
        </p:nvSpPr>
        <p:spPr>
          <a:xfrm>
            <a:off x="8903970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6" name="Text 100"/>
          <p:cNvSpPr/>
          <p:nvPr/>
        </p:nvSpPr>
        <p:spPr>
          <a:xfrm>
            <a:off x="8949690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SMTP</a:t>
            </a:r>
            <a:endParaRPr lang="en-US" sz="850" dirty="0"/>
          </a:p>
        </p:txBody>
      </p:sp>
      <p:sp>
        <p:nvSpPr>
          <p:cNvPr id="107" name="Text 101"/>
          <p:cNvSpPr/>
          <p:nvPr/>
        </p:nvSpPr>
        <p:spPr>
          <a:xfrm>
            <a:off x="8958834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Email briefings</a:t>
            </a:r>
            <a:endParaRPr lang="en-US" sz="580" dirty="0"/>
          </a:p>
        </p:txBody>
      </p:sp>
      <p:sp>
        <p:nvSpPr>
          <p:cNvPr id="108" name="Shape 102"/>
          <p:cNvSpPr/>
          <p:nvPr/>
        </p:nvSpPr>
        <p:spPr>
          <a:xfrm>
            <a:off x="9549194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9" name="Shape 103"/>
          <p:cNvSpPr/>
          <p:nvPr/>
        </p:nvSpPr>
        <p:spPr>
          <a:xfrm>
            <a:off x="10304145" y="5760720"/>
            <a:ext cx="0" cy="621792"/>
          </a:xfrm>
          <a:prstGeom prst="line">
            <a:avLst/>
          </a:prstGeom>
          <a:noFill/>
          <a:ln w="4445">
            <a:solidFill>
              <a:srgbClr val="F23A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0" name="Text 104"/>
          <p:cNvSpPr/>
          <p:nvPr/>
        </p:nvSpPr>
        <p:spPr>
          <a:xfrm>
            <a:off x="10349865" y="5852160"/>
            <a:ext cx="1308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1E8"/>
                </a:solidFill>
              </a:rPr>
              <a:t>n8n</a:t>
            </a:r>
            <a:endParaRPr lang="en-US" sz="850" dirty="0"/>
          </a:p>
        </p:txBody>
      </p:sp>
      <p:sp>
        <p:nvSpPr>
          <p:cNvPr id="111" name="Text 105"/>
          <p:cNvSpPr/>
          <p:nvPr/>
        </p:nvSpPr>
        <p:spPr>
          <a:xfrm>
            <a:off x="10359009" y="6080760"/>
            <a:ext cx="1290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B9B5AC"/>
                </a:solidFill>
              </a:rPr>
              <a:t>Orchestrator</a:t>
            </a:r>
            <a:endParaRPr lang="en-US" sz="580" dirty="0"/>
          </a:p>
        </p:txBody>
      </p:sp>
      <p:sp>
        <p:nvSpPr>
          <p:cNvPr id="112" name="Shape 106"/>
          <p:cNvSpPr/>
          <p:nvPr/>
        </p:nvSpPr>
        <p:spPr>
          <a:xfrm>
            <a:off x="10949369" y="6291072"/>
            <a:ext cx="109728" cy="109728"/>
          </a:xfrm>
          <a:prstGeom prst="ellipse">
            <a:avLst/>
          </a:prstGeom>
          <a:solidFill>
            <a:srgbClr val="7CD843"/>
          </a:solidFill>
          <a:ln w="12700">
            <a:solidFill>
              <a:srgbClr val="7CD84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3" name="Text 107"/>
          <p:cNvSpPr/>
          <p:nvPr/>
        </p:nvSpPr>
        <p:spPr>
          <a:xfrm>
            <a:off x="3108960" y="656539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9B5AC"/>
                </a:solidFill>
              </a:rPr>
              <a:t>BUILT WITH N8N  •  POWERED BY AI  •  DESIGNED FOR FOUNDER IMPACT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051792" y="0"/>
            <a:ext cx="109728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MOINLAND'S AI OPERATING SYSTEM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5760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Three live AI agents — built with N8N · powered by AI · designed for founder impact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7772400" cy="44805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7772400" cy="36576"/>
          </a:xfrm>
          <a:prstGeom prst="rect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8912" y="1088136"/>
            <a:ext cx="347472" cy="347472"/>
          </a:xfrm>
          <a:prstGeom prst="ellipse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07899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128016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C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Idea to Notion · Telegram → LinkedIn Draft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" y="1554480"/>
            <a:ext cx="7443216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8912" y="1719072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912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3232" y="169164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Telegram Listener &amp; Acknowledgement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8912" y="2011680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8912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" y="198424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Get Brand Voice (Notion Knowledge Base)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8912" y="2304288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8912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" y="2276856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GPT-4o-mini Research &amp; Content Brief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8912" y="2596896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8912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3232" y="2569464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Tavily Web Search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8912" y="2889504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38912" y="2889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3232" y="2862072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Get Example Posts (Notion)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8912" y="3182112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38912" y="3182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3232" y="315468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GPT-4o-mini Create LinkedIn Post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8912" y="3474720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38912" y="3474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3232" y="344728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Notion Blogpost Pipeline — Create Draft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38912" y="3767328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38912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13232" y="3739896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Telegram Success Notification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4320" y="5120640"/>
            <a:ext cx="7772400" cy="3200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38912" y="515721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Stack: Telegram  ·  OpenAI  ·  Tavily  ·  Notion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321040" y="960120"/>
            <a:ext cx="3566160" cy="4480560"/>
          </a:xfrm>
          <a:prstGeom prst="rect">
            <a:avLst/>
          </a:prstGeom>
          <a:solidFill>
            <a:srgbClr val="0C0C0C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321040" y="26060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 + CAL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coming next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74320" y="5559552"/>
            <a:ext cx="11612880" cy="1188720"/>
          </a:xfrm>
          <a:prstGeom prst="rect">
            <a:avLst/>
          </a:prstGeom>
          <a:solidFill>
            <a:srgbClr val="0C0C0C"/>
          </a:solidFill>
          <a:ln w="12700">
            <a:solidFill>
              <a:srgbClr val="2A111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38912" y="5632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CC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SHARED INTELLIGENCE LAYER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38912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38912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OpenAI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38912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GPT-4o-mini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686560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686560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Pinecone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686560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Moinland DB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934208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934208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Notion KB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934208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Knowledge Base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181856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181856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Notion BP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181856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Blogpost Pipeline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429504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429504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Tavily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429504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 Search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677152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677152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Telegram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677152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Account 2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924800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924800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SMTP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924800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Ionos Mail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9172448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9172448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Google Drive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9172448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Moinland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0420096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0420096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N8N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0420096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Orchestrator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051792" y="0"/>
            <a:ext cx="109728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MOINLAND'S AI OPERATING SYSTEM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5760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Three live AI agents — built with N8N · powered by AI · designed for founder impact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389120" cy="44805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389120" cy="36576"/>
          </a:xfrm>
          <a:prstGeom prst="rect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8912" y="1088136"/>
            <a:ext cx="347472" cy="347472"/>
          </a:xfrm>
          <a:prstGeom prst="ellipse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12801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C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Idea to Notion · Telegram → LinkedIn Draft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" y="1554480"/>
            <a:ext cx="4059936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8912" y="1719072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912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3232" y="1691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Telegram Listener &amp; Acknowledgement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8912" y="2011680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8912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" y="19842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Get Brand Voice (Notion Knowledge Base)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8912" y="2304288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8912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" y="22768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GPT-4o-mini Research &amp; Content Brief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8912" y="2596896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8912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3232" y="25694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Tavily Web Search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8912" y="2889504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38912" y="2889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3232" y="28620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Get Example Posts (Notion)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8912" y="3182112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38912" y="3182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3232" y="31546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GPT-4o-mini Create LinkedIn Post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8912" y="3474720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38912" y="3474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3232" y="34472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Notion Blogpost Pipeline — Create Draft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38912" y="3767328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38912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13232" y="37398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Telegram Success Notification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4320" y="5120640"/>
            <a:ext cx="4389120" cy="3200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38912" y="51572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Stack: Telegram  ·  OpenAI  ·  Tavily  ·  Notion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846320" y="960120"/>
            <a:ext cx="5029200" cy="44805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846320" y="960120"/>
            <a:ext cx="5029200" cy="36576"/>
          </a:xfrm>
          <a:prstGeom prst="rect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010912" y="1088136"/>
            <a:ext cx="347472" cy="347472"/>
          </a:xfrm>
          <a:prstGeom prst="ellipse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010912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440680" y="10789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440680" y="128016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C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Research &amp; Analysis · Funding News + Weekly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010912" y="1554480"/>
            <a:ext cx="4700016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010912" y="1719072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010912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285232" y="16916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Daily 06:00 — Schedule, Set RSS Feed, Split, Read, Filter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010912" y="2011680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010912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85232" y="198424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Normalize Fields → OpenAI Embeddings → Store in Pinecone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010912" y="2304288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010912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285232" y="227685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Weekly Mon 07:00 — Topics of Interest via GPT-4o-mini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010912" y="2596896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010912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285232" y="256946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Retrieve Funding News from Pinecone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010912" y="2889504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010912" y="2889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285232" y="286207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Markdown → HTML → Send Email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846320" y="5120640"/>
            <a:ext cx="5029200" cy="3200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010912" y="51572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Stack: N8N Schedule  ·  RSS  ·  OpenAI  ·  Pinecone  ·  SMTP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0058400" y="960120"/>
            <a:ext cx="1828800" cy="4480560"/>
          </a:xfrm>
          <a:prstGeom prst="rect">
            <a:avLst/>
          </a:prstGeom>
          <a:solidFill>
            <a:srgbClr val="0C0C0C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0058400" y="2788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274320" y="5559552"/>
            <a:ext cx="11612880" cy="1188720"/>
          </a:xfrm>
          <a:prstGeom prst="rect">
            <a:avLst/>
          </a:prstGeom>
          <a:solidFill>
            <a:srgbClr val="0C0C0C"/>
          </a:solidFill>
          <a:ln w="12700">
            <a:solidFill>
              <a:srgbClr val="2A111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38912" y="5632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CC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SHARED INTELLIGENCE LAYER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438912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438912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OpenAI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438912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GPT-4o-mini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686560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686560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Pinecone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686560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Moinland DB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2934208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2934208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Notion KB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934208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Knowledge Base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4181856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4181856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Notion BP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4181856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Blogpost Pipeline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5429504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5429504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Tavily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5429504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 Search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6677152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677152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Telegram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677152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Account 2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7924800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7924800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SMTP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7924800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Ionos Mail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9172448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9172448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Google Drive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9172448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Moinland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10420096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10420096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N8N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10420096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Orchestrator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051792" y="0"/>
            <a:ext cx="109728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MOINLAND'S AI OPERATING SYSTEM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5760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Three live AI agents — built with N8N · powered by AI · designed for founder impact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840480" cy="44805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3840480" cy="36576"/>
          </a:xfrm>
          <a:prstGeom prst="rect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8912" y="1088136"/>
            <a:ext cx="347472" cy="347472"/>
          </a:xfrm>
          <a:prstGeom prst="ellipse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0789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12801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C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Telegram → LinkedIn Draft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" y="1554480"/>
            <a:ext cx="3511296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8912" y="1719072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912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3232" y="16916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Telegram Listener &amp; Acknowledgement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8912" y="2011680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8912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" y="19842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Get Brand Voice (Notion Knowledge Base)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8912" y="2304288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8912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" y="2276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GPT-4o-mini Research &amp; Content Brief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8912" y="2596896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8912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3232" y="25694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Tavily Web Search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8912" y="2889504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38912" y="2889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3232" y="28620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Get Example Posts (Notion)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8912" y="3182112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38912" y="3182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3232" y="31546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GPT-4o-mini Create LinkedIn Post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8912" y="3474720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38912" y="3474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3232" y="34472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Notion Blogpost Pipeline — Create Draft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38912" y="3767328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38912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13232" y="37398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Telegram Success Notification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4320" y="5120640"/>
            <a:ext cx="3840480" cy="3200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38912" y="51572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Stack: Telegram  ·  OpenAI  ·  Tavily  ·  Notion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206240" y="960120"/>
            <a:ext cx="3840480" cy="44805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206240" y="960120"/>
            <a:ext cx="3840480" cy="36576"/>
          </a:xfrm>
          <a:prstGeom prst="rect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370832" y="1088136"/>
            <a:ext cx="347472" cy="347472"/>
          </a:xfrm>
          <a:prstGeom prst="ellipse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370832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800600" y="10789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800600" y="12801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C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Funding News + Weekly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370832" y="1554480"/>
            <a:ext cx="3511296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370832" y="1719072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370832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645152" y="16916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Daily 06:00 — Schedule, Set RSS Feed, Split, Read, Filter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370832" y="2011680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370832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645152" y="19842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Normalize Fields → OpenAI Embeddings → Store in Pinecone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370832" y="2304288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370832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645152" y="2276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Weekly Mon 07:00 — Topics of Interest via GPT-4o-mini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370832" y="2596896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370832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645152" y="25694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Retrieve Funding News from Pinecone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370832" y="2889504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370832" y="2889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645152" y="28620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Markdown → HTML → Send Email Briefing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206240" y="5120640"/>
            <a:ext cx="3840480" cy="3200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370832" y="51572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Stack: N8N  ·  RSS  ·  OpenAI  ·  Pinecone  ·  SMTP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138160" y="960120"/>
            <a:ext cx="3840480" cy="44805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138160" y="960120"/>
            <a:ext cx="3840480" cy="36576"/>
          </a:xfrm>
          <a:prstGeom prst="rect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8302752" y="1088136"/>
            <a:ext cx="347472" cy="347472"/>
          </a:xfrm>
          <a:prstGeom prst="ellipse">
            <a:avLst/>
          </a:prstGeom>
          <a:solidFill>
            <a:srgbClr val="CC1616"/>
          </a:solidFill>
          <a:ln w="12700">
            <a:solidFill>
              <a:srgbClr val="CC16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302752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732520" y="10789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732520" y="12801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C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Coaching Session → LinkedIn Draft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8302752" y="1554480"/>
            <a:ext cx="3511296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8302752" y="1719072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8302752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8577072" y="16916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Google Drive Trigger — new file in Granola Sessions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8302752" y="2011680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8302752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8577072" y="19842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Download &amp; Extract Session Text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8302752" y="2304288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8302752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8577072" y="2276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Telegram Detected → Normalize → Store in Pinecone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8302752" y="2596896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8302752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8577072" y="25694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Query Pinecone → Identify Best LinkedIn Topic (GPT-4o-mini)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8302752" y="2889504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8302752" y="2889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8577072" y="28620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Parse Topic → Get Brand Voice + Example Posts (Notion)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8302752" y="3182112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8302752" y="3182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8577072" y="31546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Tavily Search → Create LinkedIn Post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8302752" y="3474720"/>
            <a:ext cx="201168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8302752" y="3474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8577072" y="34472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Guard Output → Notion Draft → Telegram Success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8138160" y="5120640"/>
            <a:ext cx="3840480" cy="3200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8302752" y="51572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Stack: Google Drive  ·  OpenAI  ·  Pinecone  ·  Tavily  ·  Notion  ·  Telegram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274320" y="5559552"/>
            <a:ext cx="11612880" cy="1188720"/>
          </a:xfrm>
          <a:prstGeom prst="rect">
            <a:avLst/>
          </a:prstGeom>
          <a:solidFill>
            <a:srgbClr val="0C0C0C"/>
          </a:solidFill>
          <a:ln w="12700">
            <a:solidFill>
              <a:srgbClr val="2A111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438912" y="5632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CC16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SHARED INTELLIGENCE LAYER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438912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438912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OpenAI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438912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GPT-4o-mini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1686560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686560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Pinecone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1686560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Moinland DB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2934208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2934208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Notion KB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2934208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Knowledge Base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181856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4181856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Notion BP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4181856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Blogpost Pipeline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5429504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5429504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Tavily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5429504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 Search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6677152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6677152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Telegram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6677152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Account 2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7924800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7924800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SMTP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7924800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Ionos Mail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9172448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9172448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Google Drive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9172448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Moinland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10420096" y="5971032"/>
            <a:ext cx="113792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10420096" y="6007608"/>
            <a:ext cx="113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N8N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10420096" y="6245352"/>
            <a:ext cx="113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Orchestrator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1038</Words>
  <Application>Microsoft Macintosh PowerPoint</Application>
  <PresentationFormat>Widescreen</PresentationFormat>
  <Paragraphs>328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Arial Black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Moinland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Moinland Agents 1-3 Architecture</dc:title>
  <dc:subject>Moinland AI Agent Architecture</dc:subject>
  <dc:creator>OpenAI</dc:creator>
  <cp:lastModifiedBy>Markus von Aschoff</cp:lastModifiedBy>
  <cp:revision>7</cp:revision>
  <dcterms:created xsi:type="dcterms:W3CDTF">2026-05-20T07:58:19Z</dcterms:created>
  <dcterms:modified xsi:type="dcterms:W3CDTF">2026-05-20T08:54:11Z</dcterms:modified>
</cp:coreProperties>
</file>