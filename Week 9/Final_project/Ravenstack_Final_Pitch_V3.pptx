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702"/>
    <p:restoredTop sz="94610"/>
  </p:normalViewPr>
  <p:slideViewPr>
    <p:cSldViewPr snapToGrid="0" snapToObjects="1">
      <p:cViewPr varScale="1">
        <p:scale>
          <a:sx n="164" d="100"/>
          <a:sy n="164" d="100"/>
        </p:scale>
        <p:origin x="62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62315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A5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7472" cy="514350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3" name="Text 1"/>
          <p:cNvSpPr/>
          <p:nvPr/>
        </p:nvSpPr>
        <p:spPr>
          <a:xfrm>
            <a:off x="594360" y="8686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</a:t>
            </a:r>
            <a:r>
              <a:rPr lang="en-US" dirty="0" err="1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</a:t>
            </a:r>
            <a:r>
              <a:rPr lang="en-US" sz="180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POC Approval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94360" y="132588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US" sz="4800" b="1" dirty="0" err="1">
                <a:solidFill>
                  <a:srgbClr val="FFFFFF"/>
                </a:solidFill>
                <a:latin typeface="Cambria"/>
                <a:ea typeface="Cambria"/>
                <a:cs typeface="Cambria" pitchFamily="34" charset="-120"/>
              </a:rPr>
              <a:t>Ravenstack</a:t>
            </a:r>
            <a:r>
              <a:rPr lang="en-US" sz="4800" b="1" dirty="0">
                <a:solidFill>
                  <a:srgbClr val="FFFFFF"/>
                </a:solidFill>
                <a:latin typeface="Cambria"/>
                <a:ea typeface="Cambria"/>
                <a:cs typeface="Cambria" pitchFamily="34" charset="-120"/>
              </a:rPr>
              <a:t> has lost  </a:t>
            </a:r>
            <a:endParaRPr lang="en-US" sz="4800" dirty="0">
              <a:latin typeface="Cambria"/>
              <a:ea typeface="Cambria"/>
            </a:endParaRP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$14.1M to churn.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594360" y="3246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decision-support tool that tells the customer success team who to call — before the customer cancels.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94360" y="3977640"/>
            <a:ext cx="4114800" cy="0"/>
          </a:xfrm>
          <a:prstGeom prst="line">
            <a:avLst/>
          </a:prstGeom>
          <a:noFill/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7" name="Text 5"/>
          <p:cNvSpPr/>
          <p:nvPr/>
        </p:nvSpPr>
        <p:spPr>
          <a:xfrm>
            <a:off x="594360" y="4160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Markus von Aschoff  ·  markus@vonaschoff.de ·  June 2026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0" y="468172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·  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66928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Customers cancel. Nobody sees it coming.</a:t>
            </a:r>
            <a:endParaRPr lang="en-US" sz="2700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5435CE-C075-AD75-E273-8794CE1B5103}"/>
              </a:ext>
            </a:extLst>
          </p:cNvPr>
          <p:cNvGrpSpPr/>
          <p:nvPr/>
        </p:nvGrpSpPr>
        <p:grpSpPr>
          <a:xfrm>
            <a:off x="475488" y="1626551"/>
            <a:ext cx="2651760" cy="1463040"/>
            <a:chOff x="475488" y="1866772"/>
            <a:chExt cx="2651760" cy="1463040"/>
          </a:xfrm>
        </p:grpSpPr>
        <p:sp>
          <p:nvSpPr>
            <p:cNvPr id="9" name="Shape 7"/>
            <p:cNvSpPr/>
            <p:nvPr/>
          </p:nvSpPr>
          <p:spPr>
            <a:xfrm>
              <a:off x="475488" y="1866772"/>
              <a:ext cx="2651760" cy="14630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DE"/>
            </a:p>
          </p:txBody>
        </p:sp>
        <p:sp>
          <p:nvSpPr>
            <p:cNvPr id="10" name="Shape 8"/>
            <p:cNvSpPr/>
            <p:nvPr/>
          </p:nvSpPr>
          <p:spPr>
            <a:xfrm>
              <a:off x="475488" y="1866772"/>
              <a:ext cx="2651760" cy="82296"/>
            </a:xfrm>
            <a:prstGeom prst="rect">
              <a:avLst/>
            </a:prstGeom>
            <a:solidFill>
              <a:srgbClr val="B23A48"/>
            </a:solidFill>
            <a:ln w="12700">
              <a:solidFill>
                <a:srgbClr val="B23A48"/>
              </a:solidFill>
              <a:prstDash val="solid"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1" name="Text 9"/>
            <p:cNvSpPr/>
            <p:nvPr/>
          </p:nvSpPr>
          <p:spPr>
            <a:xfrm>
              <a:off x="658368" y="2022220"/>
              <a:ext cx="23317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kern="0" spc="15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LOST TO CHURN SO FAR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640080" y="2278252"/>
              <a:ext cx="2377440" cy="6583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4200" b="1" dirty="0">
                  <a:solidFill>
                    <a:srgbClr val="B23A48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$14.1M</a:t>
              </a:r>
              <a:endParaRPr lang="en-US" sz="42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58368" y="2954908"/>
              <a:ext cx="2331720" cy="3108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ARR from cancelled accounts, ‘23–’24</a:t>
              </a:r>
              <a:endParaRPr lang="en-US" sz="1100" dirty="0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0F6487F-46AE-0CCC-F1B1-E98C0DF843D3}"/>
              </a:ext>
            </a:extLst>
          </p:cNvPr>
          <p:cNvGrpSpPr/>
          <p:nvPr/>
        </p:nvGrpSpPr>
        <p:grpSpPr>
          <a:xfrm>
            <a:off x="6091920" y="1635695"/>
            <a:ext cx="2651760" cy="1463040"/>
            <a:chOff x="3310128" y="2331720"/>
            <a:chExt cx="2651760" cy="1463040"/>
          </a:xfrm>
        </p:grpSpPr>
        <p:sp>
          <p:nvSpPr>
            <p:cNvPr id="14" name="Shape 12"/>
            <p:cNvSpPr/>
            <p:nvPr/>
          </p:nvSpPr>
          <p:spPr>
            <a:xfrm>
              <a:off x="3310128" y="2331720"/>
              <a:ext cx="2651760" cy="14630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DE"/>
            </a:p>
          </p:txBody>
        </p:sp>
        <p:sp>
          <p:nvSpPr>
            <p:cNvPr id="15" name="Shape 13"/>
            <p:cNvSpPr/>
            <p:nvPr/>
          </p:nvSpPr>
          <p:spPr>
            <a:xfrm>
              <a:off x="3310128" y="2331720"/>
              <a:ext cx="2651760" cy="82296"/>
            </a:xfrm>
            <a:prstGeom prst="rect">
              <a:avLst/>
            </a:prstGeom>
            <a:solidFill>
              <a:srgbClr val="B23A48"/>
            </a:solidFill>
            <a:ln w="12700">
              <a:solidFill>
                <a:srgbClr val="B23A48"/>
              </a:solidFill>
              <a:prstDash val="solid"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6" name="Text 14"/>
            <p:cNvSpPr/>
            <p:nvPr/>
          </p:nvSpPr>
          <p:spPr>
            <a:xfrm>
              <a:off x="3493008" y="2487168"/>
              <a:ext cx="23317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kern="0" spc="15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AT RISK NEXT 12 MONTHS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474720" y="2743200"/>
              <a:ext cx="2377440" cy="6583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4200" b="1" dirty="0">
                  <a:solidFill>
                    <a:srgbClr val="B23A48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$47.2M</a:t>
              </a:r>
              <a:endParaRPr lang="en-US" sz="42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493008" y="3419856"/>
              <a:ext cx="2331720" cy="3108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At the 4%/month SMB SaaS benchmark</a:t>
              </a:r>
              <a:endParaRPr lang="en-US" sz="1100" dirty="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B4F3B5F-A03B-055F-2E3A-CEB418583932}"/>
              </a:ext>
            </a:extLst>
          </p:cNvPr>
          <p:cNvGrpSpPr/>
          <p:nvPr/>
        </p:nvGrpSpPr>
        <p:grpSpPr>
          <a:xfrm>
            <a:off x="3275568" y="1626551"/>
            <a:ext cx="2651760" cy="1463040"/>
            <a:chOff x="6144768" y="2331720"/>
            <a:chExt cx="2651760" cy="1463040"/>
          </a:xfrm>
        </p:grpSpPr>
        <p:sp>
          <p:nvSpPr>
            <p:cNvPr id="19" name="Shape 17"/>
            <p:cNvSpPr/>
            <p:nvPr/>
          </p:nvSpPr>
          <p:spPr>
            <a:xfrm>
              <a:off x="6144768" y="2331720"/>
              <a:ext cx="2651760" cy="14630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DE"/>
            </a:p>
          </p:txBody>
        </p:sp>
        <p:sp>
          <p:nvSpPr>
            <p:cNvPr id="20" name="Shape 18"/>
            <p:cNvSpPr/>
            <p:nvPr/>
          </p:nvSpPr>
          <p:spPr>
            <a:xfrm>
              <a:off x="6144768" y="2331720"/>
              <a:ext cx="2651760" cy="82296"/>
            </a:xfrm>
            <a:prstGeom prst="rect">
              <a:avLst/>
            </a:prstGeom>
            <a:solidFill>
              <a:srgbClr val="2E74B5"/>
            </a:solidFill>
            <a:ln w="12700">
              <a:solidFill>
                <a:srgbClr val="2E74B5"/>
              </a:solidFill>
              <a:prstDash val="solid"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1" name="Text 19"/>
            <p:cNvSpPr/>
            <p:nvPr/>
          </p:nvSpPr>
          <p:spPr>
            <a:xfrm>
              <a:off x="6327648" y="2487168"/>
              <a:ext cx="23317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kern="0" spc="15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ANNUAL CHURN RATE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309360" y="2743200"/>
              <a:ext cx="2377440" cy="6583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4200" b="1" dirty="0">
                  <a:solidFill>
                    <a:srgbClr val="2E74B5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12.1%</a:t>
              </a:r>
              <a:endParaRPr lang="en-US" sz="42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327648" y="3419856"/>
              <a:ext cx="2450592" cy="3108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Annualized from 22% cancellation ‘23-’24</a:t>
              </a:r>
              <a:endParaRPr lang="en-US" sz="1100" dirty="0"/>
            </a:p>
          </p:txBody>
        </p:sp>
      </p:grpSp>
      <p:sp>
        <p:nvSpPr>
          <p:cNvPr id="25" name="Text 23"/>
          <p:cNvSpPr/>
          <p:nvPr/>
        </p:nvSpPr>
        <p:spPr>
          <a:xfrm>
            <a:off x="8229600" y="468172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E31FCC6-21BB-8FEB-C08A-76A97A2E81E0}"/>
              </a:ext>
            </a:extLst>
          </p:cNvPr>
          <p:cNvGrpSpPr/>
          <p:nvPr/>
        </p:nvGrpSpPr>
        <p:grpSpPr>
          <a:xfrm>
            <a:off x="475488" y="3471785"/>
            <a:ext cx="8375904" cy="1211027"/>
            <a:chOff x="475488" y="3319272"/>
            <a:chExt cx="8375904" cy="806983"/>
          </a:xfrm>
        </p:grpSpPr>
        <p:sp>
          <p:nvSpPr>
            <p:cNvPr id="31" name="Shape 22">
              <a:extLst>
                <a:ext uri="{FF2B5EF4-FFF2-40B4-BE49-F238E27FC236}">
                  <a16:creationId xmlns:a16="http://schemas.microsoft.com/office/drawing/2014/main" id="{6ABAC5AC-BE2C-D9C0-5DA9-FED86A1D8C3F}"/>
                </a:ext>
              </a:extLst>
            </p:cNvPr>
            <p:cNvSpPr/>
            <p:nvPr/>
          </p:nvSpPr>
          <p:spPr>
            <a:xfrm>
              <a:off x="475488" y="3321583"/>
              <a:ext cx="8268192" cy="804672"/>
            </a:xfrm>
            <a:prstGeom prst="rect">
              <a:avLst/>
            </a:prstGeom>
            <a:solidFill>
              <a:srgbClr val="163A5A"/>
            </a:solidFill>
            <a:ln w="12700">
              <a:solidFill>
                <a:srgbClr val="163A5A"/>
              </a:solidFill>
              <a:prstDash val="solid"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2" name="Text 23">
              <a:extLst>
                <a:ext uri="{FF2B5EF4-FFF2-40B4-BE49-F238E27FC236}">
                  <a16:creationId xmlns:a16="http://schemas.microsoft.com/office/drawing/2014/main" id="{C4F61BE4-F552-7D09-7FE7-249990710ABA}"/>
                </a:ext>
              </a:extLst>
            </p:cNvPr>
            <p:cNvSpPr/>
            <p:nvPr/>
          </p:nvSpPr>
          <p:spPr>
            <a:xfrm>
              <a:off x="658368" y="3319272"/>
              <a:ext cx="8193024" cy="7863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Key Insights</a:t>
              </a:r>
            </a:p>
            <a:p>
              <a:pPr marL="285750" indent="-285750" algn="l">
                <a:buFont typeface="Arial" panose="020B0604020202020204" pitchFamily="34" charset="0"/>
                <a:buChar char="•"/>
              </a:pPr>
              <a:r>
                <a:rPr lang="en-US" sz="14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53% of all churn happens in the first 90 days after signup, often before teams notice a customer is at risk.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400" b="1" dirty="0">
                  <a:solidFill>
                    <a:srgbClr val="FFFFFF"/>
                  </a:solidFill>
                  <a:latin typeface="Calibri" pitchFamily="34" charset="0"/>
                  <a:cs typeface="Calibri" pitchFamily="34" charset="-120"/>
                </a:rPr>
                <a:t>DevTools with 31% highest churn rate.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400" b="1" dirty="0" err="1">
                  <a:solidFill>
                    <a:srgbClr val="FFFFFF"/>
                  </a:solidFill>
                  <a:latin typeface="Calibri" pitchFamily="34" charset="0"/>
                  <a:cs typeface="Calibri" pitchFamily="34" charset="-120"/>
                </a:rPr>
                <a:t>CyberSecurity</a:t>
              </a:r>
              <a:r>
                <a:rPr lang="en-US" sz="1400" b="1" dirty="0">
                  <a:solidFill>
                    <a:srgbClr val="FFFFFF"/>
                  </a:solidFill>
                  <a:latin typeface="Calibri" pitchFamily="34" charset="0"/>
                  <a:cs typeface="Calibri" pitchFamily="34" charset="-120"/>
                </a:rPr>
                <a:t> with $3.3m highest ARR churn.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·  THE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66928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weekly ranked list of who to call — and why.</a:t>
            </a:r>
            <a:endParaRPr lang="en-US" sz="2700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2CCB2A61-A7A2-DF2C-83F8-8DD17C67A558}"/>
              </a:ext>
            </a:extLst>
          </p:cNvPr>
          <p:cNvGrpSpPr/>
          <p:nvPr/>
        </p:nvGrpSpPr>
        <p:grpSpPr>
          <a:xfrm>
            <a:off x="502920" y="4105656"/>
            <a:ext cx="8321040" cy="640080"/>
            <a:chOff x="475488" y="1261872"/>
            <a:chExt cx="8412480" cy="640080"/>
          </a:xfrm>
        </p:grpSpPr>
        <p:sp>
          <p:nvSpPr>
            <p:cNvPr id="6" name="Shape 4"/>
            <p:cNvSpPr/>
            <p:nvPr/>
          </p:nvSpPr>
          <p:spPr>
            <a:xfrm>
              <a:off x="475488" y="1261872"/>
              <a:ext cx="8412480" cy="640080"/>
            </a:xfrm>
            <a:prstGeom prst="rect">
              <a:avLst/>
            </a:prstGeom>
            <a:solidFill>
              <a:srgbClr val="163A5A"/>
            </a:solidFill>
            <a:ln w="12700">
              <a:solidFill>
                <a:srgbClr val="163A5A"/>
              </a:solidFill>
              <a:prstDash val="solid"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" name="Text 5"/>
            <p:cNvSpPr/>
            <p:nvPr/>
          </p:nvSpPr>
          <p:spPr>
            <a:xfrm>
              <a:off x="658368" y="1335024"/>
              <a:ext cx="809244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14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Every Monday, all 390+ accounts, flag the top 20 at risk. The model recommends. The CS team decides. </a:t>
              </a:r>
              <a:endParaRPr lang="en-US" sz="1400" dirty="0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60CF266-2CFA-AC19-52F8-FE14C48525F3}"/>
              </a:ext>
            </a:extLst>
          </p:cNvPr>
          <p:cNvGrpSpPr/>
          <p:nvPr/>
        </p:nvGrpSpPr>
        <p:grpSpPr>
          <a:xfrm>
            <a:off x="502920" y="1362456"/>
            <a:ext cx="8321040" cy="2331720"/>
            <a:chOff x="475488" y="2103120"/>
            <a:chExt cx="8321040" cy="2331720"/>
          </a:xfrm>
        </p:grpSpPr>
        <p:sp>
          <p:nvSpPr>
            <p:cNvPr id="8" name="Shape 6"/>
            <p:cNvSpPr/>
            <p:nvPr/>
          </p:nvSpPr>
          <p:spPr>
            <a:xfrm>
              <a:off x="475488" y="2103120"/>
              <a:ext cx="2651760" cy="2331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DE"/>
            </a:p>
          </p:txBody>
        </p:sp>
        <p:sp>
          <p:nvSpPr>
            <p:cNvPr id="9" name="Shape 7"/>
            <p:cNvSpPr/>
            <p:nvPr/>
          </p:nvSpPr>
          <p:spPr>
            <a:xfrm>
              <a:off x="475488" y="2103120"/>
              <a:ext cx="2651760" cy="82296"/>
            </a:xfrm>
            <a:prstGeom prst="rect">
              <a:avLst/>
            </a:prstGeom>
            <a:solidFill>
              <a:srgbClr val="2E74B5"/>
            </a:solidFill>
            <a:ln w="12700">
              <a:solidFill>
                <a:srgbClr val="2E74B5"/>
              </a:solidFill>
              <a:prstDash val="solid"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0" name="Text 8"/>
            <p:cNvSpPr/>
            <p:nvPr/>
          </p:nvSpPr>
          <p:spPr>
            <a:xfrm>
              <a:off x="658368" y="2212848"/>
              <a:ext cx="54864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3200" b="1" dirty="0">
                  <a:solidFill>
                    <a:srgbClr val="CBD5E1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1</a:t>
              </a:r>
              <a:endParaRPr lang="en-US" sz="32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58368" y="2743200"/>
              <a:ext cx="233172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000" b="1" dirty="0">
                  <a:solidFill>
                    <a:srgbClr val="1F4E79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Score</a:t>
              </a:r>
              <a:endParaRPr lang="en-US" sz="2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658368" y="3200400"/>
              <a:ext cx="2304288" cy="7772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25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 model ranks every account by churn risk: account age, segment, usage trend, contract type.</a:t>
              </a:r>
              <a:endParaRPr lang="en-US" sz="12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58368" y="4078224"/>
              <a:ext cx="248716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50" i="1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Recommendation AI · rule-based, upgrades to ML</a:t>
              </a:r>
              <a:endParaRPr lang="en-US" sz="95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310128" y="2103120"/>
              <a:ext cx="2651760" cy="2331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DE"/>
            </a:p>
          </p:txBody>
        </p:sp>
        <p:sp>
          <p:nvSpPr>
            <p:cNvPr id="15" name="Shape 13"/>
            <p:cNvSpPr/>
            <p:nvPr/>
          </p:nvSpPr>
          <p:spPr>
            <a:xfrm>
              <a:off x="3310128" y="2103120"/>
              <a:ext cx="2651760" cy="82296"/>
            </a:xfrm>
            <a:prstGeom prst="rect">
              <a:avLst/>
            </a:prstGeom>
            <a:solidFill>
              <a:srgbClr val="2E74B5"/>
            </a:solidFill>
            <a:ln w="12700">
              <a:solidFill>
                <a:srgbClr val="2E74B5"/>
              </a:solidFill>
              <a:prstDash val="solid"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6" name="Text 14"/>
            <p:cNvSpPr/>
            <p:nvPr/>
          </p:nvSpPr>
          <p:spPr>
            <a:xfrm>
              <a:off x="3493008" y="2212848"/>
              <a:ext cx="54864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3200" b="1" dirty="0">
                  <a:solidFill>
                    <a:srgbClr val="CBD5E1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2</a:t>
              </a:r>
              <a:endParaRPr lang="en-US" sz="32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493008" y="2743200"/>
              <a:ext cx="233172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000" b="1" dirty="0">
                  <a:solidFill>
                    <a:srgbClr val="1F4E79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Explain</a:t>
              </a:r>
              <a:endParaRPr lang="en-US" sz="2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493008" y="3200400"/>
              <a:ext cx="2304288" cy="7772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25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Claude turns each score into one sentence a CS manager can read in 5 seconds and act on.</a:t>
              </a:r>
              <a:endParaRPr lang="en-US" sz="125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493008" y="4078224"/>
              <a:ext cx="230428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50" i="1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Generative AI · one API call per week</a:t>
              </a:r>
              <a:endParaRPr lang="en-US" sz="95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144768" y="2103120"/>
              <a:ext cx="2651760" cy="2331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DE"/>
            </a:p>
          </p:txBody>
        </p:sp>
        <p:sp>
          <p:nvSpPr>
            <p:cNvPr id="21" name="Shape 19"/>
            <p:cNvSpPr/>
            <p:nvPr/>
          </p:nvSpPr>
          <p:spPr>
            <a:xfrm>
              <a:off x="6144768" y="2103120"/>
              <a:ext cx="2651760" cy="82296"/>
            </a:xfrm>
            <a:prstGeom prst="rect">
              <a:avLst/>
            </a:prstGeom>
            <a:solidFill>
              <a:srgbClr val="2E74B5"/>
            </a:solidFill>
            <a:ln w="12700">
              <a:solidFill>
                <a:srgbClr val="2E74B5"/>
              </a:solidFill>
              <a:prstDash val="solid"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2" name="Text 20"/>
            <p:cNvSpPr/>
            <p:nvPr/>
          </p:nvSpPr>
          <p:spPr>
            <a:xfrm>
              <a:off x="6327648" y="2212848"/>
              <a:ext cx="54864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3200" b="1" dirty="0">
                  <a:solidFill>
                    <a:srgbClr val="CBD5E1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3</a:t>
              </a:r>
              <a:endParaRPr lang="en-US" sz="32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327648" y="2743200"/>
              <a:ext cx="233172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000" b="1" dirty="0">
                  <a:solidFill>
                    <a:srgbClr val="1F4E79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Deliver</a:t>
              </a:r>
              <a:endParaRPr lang="en-US" sz="2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6327648" y="3200400"/>
              <a:ext cx="2304288" cy="7772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25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n8n runs the whole flow on a schedule and posts the digest to the team's Slack channel.</a:t>
              </a:r>
              <a:endParaRPr lang="en-US" sz="125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6327648" y="4078224"/>
              <a:ext cx="230428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50" i="1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Automation · 8 nodes, no code to maintain</a:t>
              </a:r>
              <a:endParaRPr lang="en-US" sz="950" dirty="0"/>
            </a:p>
          </p:txBody>
        </p:sp>
      </p:grpSp>
      <p:sp>
        <p:nvSpPr>
          <p:cNvPr id="27" name="Text 25"/>
          <p:cNvSpPr/>
          <p:nvPr/>
        </p:nvSpPr>
        <p:spPr>
          <a:xfrm>
            <a:off x="8229600" y="468172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30" name="Text 24">
            <a:extLst>
              <a:ext uri="{FF2B5EF4-FFF2-40B4-BE49-F238E27FC236}">
                <a16:creationId xmlns:a16="http://schemas.microsoft.com/office/drawing/2014/main" id="{67B4F701-43CC-C86F-65C1-B31D7C4B9000}"/>
              </a:ext>
            </a:extLst>
          </p:cNvPr>
          <p:cNvSpPr/>
          <p:nvPr/>
        </p:nvSpPr>
        <p:spPr>
          <a:xfrm>
            <a:off x="822960" y="5321808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recommends. The CS team decides. No message ever reaches a customer automatically.</a:t>
            </a:r>
            <a:endParaRPr lang="en-US" sz="1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·  PROOF OF CONCEPT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66928"/>
            <a:ext cx="8641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works today. The digest arrives in under 30 seconds.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02920" y="13258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runs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17373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8" name="Text 6"/>
          <p:cNvSpPr/>
          <p:nvPr/>
        </p:nvSpPr>
        <p:spPr>
          <a:xfrm>
            <a:off x="502920" y="17556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24128" y="175564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8 AM — the schedule fires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94944" y="2121408"/>
            <a:ext cx="0" cy="292608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1" name="Shape 9"/>
          <p:cNvSpPr/>
          <p:nvPr/>
        </p:nvSpPr>
        <p:spPr>
          <a:xfrm>
            <a:off x="502920" y="24140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2" name="Text 10"/>
          <p:cNvSpPr/>
          <p:nvPr/>
        </p:nvSpPr>
        <p:spPr>
          <a:xfrm>
            <a:off x="502920" y="243230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24128" y="2432304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all 390 accounts, return top 20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94944" y="2798064"/>
            <a:ext cx="0" cy="292608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5" name="Shape 13"/>
          <p:cNvSpPr/>
          <p:nvPr/>
        </p:nvSpPr>
        <p:spPr>
          <a:xfrm>
            <a:off x="502920" y="3090672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6" name="Text 14"/>
          <p:cNvSpPr/>
          <p:nvPr/>
        </p:nvSpPr>
        <p:spPr>
          <a:xfrm>
            <a:off x="502920" y="31089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24128" y="31089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writes one reason per account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94944" y="3474720"/>
            <a:ext cx="0" cy="292608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9" name="Shape 17"/>
          <p:cNvSpPr/>
          <p:nvPr/>
        </p:nvSpPr>
        <p:spPr>
          <a:xfrm>
            <a:off x="502920" y="376732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0" name="Text 18"/>
          <p:cNvSpPr/>
          <p:nvPr/>
        </p:nvSpPr>
        <p:spPr>
          <a:xfrm>
            <a:off x="502920" y="378561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24128" y="378561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and post the digest to Slack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93776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team sees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8229600" y="468172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9ABCAC0D-05C7-45F1-9231-9FDE0542ACC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545" b="22490"/>
          <a:stretch>
            <a:fillRect/>
          </a:stretch>
        </p:blipFill>
        <p:spPr>
          <a:xfrm>
            <a:off x="4932638" y="1607872"/>
            <a:ext cx="3296937" cy="2649389"/>
          </a:xfrm>
          <a:prstGeom prst="rect">
            <a:avLst/>
          </a:prstGeom>
        </p:spPr>
      </p:pic>
      <p:sp>
        <p:nvSpPr>
          <p:cNvPr id="46" name="Text 35">
            <a:extLst>
              <a:ext uri="{FF2B5EF4-FFF2-40B4-BE49-F238E27FC236}">
                <a16:creationId xmlns:a16="http://schemas.microsoft.com/office/drawing/2014/main" id="{2BEF8EED-1C9A-2C1B-503B-E5B93B66C215}"/>
              </a:ext>
            </a:extLst>
          </p:cNvPr>
          <p:cNvSpPr/>
          <p:nvPr/>
        </p:nvSpPr>
        <p:spPr>
          <a:xfrm>
            <a:off x="662940" y="5216718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n8n and the Anthropic API. The POC proves the plumbing; the pilot proves the alerts change outcomes.</a:t>
            </a:r>
          </a:p>
          <a:p>
            <a:pPr marL="0" indent="0" algn="l">
              <a:buNone/>
            </a:pPr>
            <a:r>
              <a:rPr lang="en-US" sz="11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whether on-prem deployment with Python, local LLM or N8N/Anthropic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·  THE BUSINESS CASE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66928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Payback in month 1. </a:t>
            </a:r>
            <a:endParaRPr lang="en-US" sz="2700" dirty="0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0D9C5794-2243-1BA5-31BA-F201CCC2C7FE}"/>
              </a:ext>
            </a:extLst>
          </p:cNvPr>
          <p:cNvGrpSpPr/>
          <p:nvPr/>
        </p:nvGrpSpPr>
        <p:grpSpPr>
          <a:xfrm>
            <a:off x="475488" y="1849340"/>
            <a:ext cx="2651760" cy="1554480"/>
            <a:chOff x="475488" y="1849340"/>
            <a:chExt cx="2651760" cy="1554480"/>
          </a:xfrm>
        </p:grpSpPr>
        <p:sp>
          <p:nvSpPr>
            <p:cNvPr id="6" name="Shape 4"/>
            <p:cNvSpPr/>
            <p:nvPr/>
          </p:nvSpPr>
          <p:spPr>
            <a:xfrm>
              <a:off x="475488" y="1849340"/>
              <a:ext cx="2651760" cy="15544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DE"/>
            </a:p>
          </p:txBody>
        </p:sp>
        <p:sp>
          <p:nvSpPr>
            <p:cNvPr id="7" name="Shape 5"/>
            <p:cNvSpPr/>
            <p:nvPr/>
          </p:nvSpPr>
          <p:spPr>
            <a:xfrm>
              <a:off x="475488" y="1849340"/>
              <a:ext cx="2651760" cy="82296"/>
            </a:xfrm>
            <a:prstGeom prst="rect">
              <a:avLst/>
            </a:prstGeom>
            <a:solidFill>
              <a:srgbClr val="1E293B"/>
            </a:solidFill>
            <a:ln w="12700">
              <a:solidFill>
                <a:srgbClr val="1E293B"/>
              </a:solidFill>
              <a:prstDash val="solid"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8" name="Text 6"/>
            <p:cNvSpPr/>
            <p:nvPr/>
          </p:nvSpPr>
          <p:spPr>
            <a:xfrm>
              <a:off x="658368" y="2004788"/>
              <a:ext cx="233172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kern="0" spc="15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COST TO BUILD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40080" y="2260820"/>
              <a:ext cx="237744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4400" b="1" dirty="0">
                  <a:solidFill>
                    <a:srgbClr val="1E293B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$10K</a:t>
              </a:r>
              <a:endParaRPr lang="en-US" sz="44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58368" y="2955764"/>
              <a:ext cx="233172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5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Upfront, Phases 1–3</a:t>
              </a:r>
              <a:endParaRPr lang="en-US" sz="1150" dirty="0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ACA4549B-BA58-8EBC-FA5E-7D0D8A9A732A}"/>
              </a:ext>
            </a:extLst>
          </p:cNvPr>
          <p:cNvGrpSpPr/>
          <p:nvPr/>
        </p:nvGrpSpPr>
        <p:grpSpPr>
          <a:xfrm>
            <a:off x="3310128" y="1849340"/>
            <a:ext cx="2651760" cy="1554480"/>
            <a:chOff x="3310128" y="1849340"/>
            <a:chExt cx="2651760" cy="1554480"/>
          </a:xfrm>
        </p:grpSpPr>
        <p:sp>
          <p:nvSpPr>
            <p:cNvPr id="11" name="Shape 9"/>
            <p:cNvSpPr/>
            <p:nvPr/>
          </p:nvSpPr>
          <p:spPr>
            <a:xfrm>
              <a:off x="3310128" y="1849340"/>
              <a:ext cx="2651760" cy="15544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DE"/>
            </a:p>
          </p:txBody>
        </p:sp>
        <p:sp>
          <p:nvSpPr>
            <p:cNvPr id="12" name="Shape 10"/>
            <p:cNvSpPr/>
            <p:nvPr/>
          </p:nvSpPr>
          <p:spPr>
            <a:xfrm>
              <a:off x="3310128" y="1849340"/>
              <a:ext cx="2651760" cy="82296"/>
            </a:xfrm>
            <a:prstGeom prst="rect">
              <a:avLst/>
            </a:prstGeom>
            <a:solidFill>
              <a:srgbClr val="16A34A"/>
            </a:solidFill>
            <a:ln w="12700">
              <a:solidFill>
                <a:srgbClr val="16A34A"/>
              </a:solidFill>
              <a:prstDash val="solid"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3" name="Text 11"/>
            <p:cNvSpPr/>
            <p:nvPr/>
          </p:nvSpPr>
          <p:spPr>
            <a:xfrm>
              <a:off x="3493008" y="2004788"/>
              <a:ext cx="233172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kern="0" spc="15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ARR SAVED / YEAR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4720" y="2260820"/>
              <a:ext cx="237744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4400" b="1" dirty="0">
                  <a:solidFill>
                    <a:srgbClr val="16A34A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$1.09m</a:t>
              </a:r>
              <a:endParaRPr lang="en-US" sz="44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493008" y="2955764"/>
              <a:ext cx="233172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5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Assuming 15% - case studies at 5-25%</a:t>
              </a:r>
              <a:endParaRPr lang="en-US" sz="1150" dirty="0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2118F058-87DD-F2D8-8ED2-78A7540F757B}"/>
              </a:ext>
            </a:extLst>
          </p:cNvPr>
          <p:cNvGrpSpPr/>
          <p:nvPr/>
        </p:nvGrpSpPr>
        <p:grpSpPr>
          <a:xfrm>
            <a:off x="6144768" y="1849340"/>
            <a:ext cx="2651760" cy="1554480"/>
            <a:chOff x="6144768" y="1849340"/>
            <a:chExt cx="2651760" cy="1554480"/>
          </a:xfrm>
        </p:grpSpPr>
        <p:sp>
          <p:nvSpPr>
            <p:cNvPr id="16" name="Shape 14"/>
            <p:cNvSpPr/>
            <p:nvPr/>
          </p:nvSpPr>
          <p:spPr>
            <a:xfrm>
              <a:off x="6144768" y="1849340"/>
              <a:ext cx="2651760" cy="15544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DE"/>
            </a:p>
          </p:txBody>
        </p:sp>
        <p:sp>
          <p:nvSpPr>
            <p:cNvPr id="17" name="Shape 15"/>
            <p:cNvSpPr/>
            <p:nvPr/>
          </p:nvSpPr>
          <p:spPr>
            <a:xfrm>
              <a:off x="6144768" y="1849340"/>
              <a:ext cx="2651760" cy="82296"/>
            </a:xfrm>
            <a:prstGeom prst="rect">
              <a:avLst/>
            </a:prstGeom>
            <a:solidFill>
              <a:srgbClr val="2E74B5"/>
            </a:solidFill>
            <a:ln w="12700">
              <a:solidFill>
                <a:srgbClr val="2E74B5"/>
              </a:solidFill>
              <a:prstDash val="solid"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8" name="Text 16"/>
            <p:cNvSpPr/>
            <p:nvPr/>
          </p:nvSpPr>
          <p:spPr>
            <a:xfrm>
              <a:off x="6327648" y="2004788"/>
              <a:ext cx="233172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kern="0" spc="15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RETURN AT 12 MONTHS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309360" y="2260820"/>
              <a:ext cx="237744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4400" b="1" dirty="0">
                  <a:solidFill>
                    <a:srgbClr val="2E74B5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3,521%</a:t>
              </a:r>
              <a:endParaRPr lang="en-US" sz="44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327648" y="2955764"/>
              <a:ext cx="233172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5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5,735% over 36 months</a:t>
              </a:r>
              <a:endParaRPr lang="en-US" sz="1150" dirty="0"/>
            </a:p>
          </p:txBody>
        </p:sp>
      </p:grpSp>
      <p:sp>
        <p:nvSpPr>
          <p:cNvPr id="37" name="Text 35"/>
          <p:cNvSpPr/>
          <p:nvPr/>
        </p:nvSpPr>
        <p:spPr>
          <a:xfrm>
            <a:off x="8229600" y="468172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019E0A28-0EFF-29AF-2F95-FBB1E1D803AD}"/>
              </a:ext>
            </a:extLst>
          </p:cNvPr>
          <p:cNvSpPr/>
          <p:nvPr/>
        </p:nvSpPr>
        <p:spPr>
          <a:xfrm>
            <a:off x="658368" y="527004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assumption: a 15% save rate. Honest, and conservative — the pilot measures the real number against a control group.</a:t>
            </a:r>
            <a:endParaRPr lang="en-US" sz="1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·  TOP RISKS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66928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risks could derail this. All three are managed.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75488" y="1528131"/>
            <a:ext cx="8412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7" name="Shape 5"/>
          <p:cNvSpPr/>
          <p:nvPr/>
        </p:nvSpPr>
        <p:spPr>
          <a:xfrm>
            <a:off x="475488" y="1528131"/>
            <a:ext cx="91440" cy="804672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8" name="Text 6"/>
          <p:cNvSpPr/>
          <p:nvPr/>
        </p:nvSpPr>
        <p:spPr>
          <a:xfrm>
            <a:off x="676656" y="1647003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drifts as the product changes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76656" y="2040195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Likelihood 4 × Impact 3 = 12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06240" y="1656147"/>
            <a:ext cx="0" cy="54864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1" name="Text 9"/>
          <p:cNvSpPr/>
          <p:nvPr/>
        </p:nvSpPr>
        <p:spPr>
          <a:xfrm>
            <a:off x="4389120" y="1637859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15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MANAGE IT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389120" y="1829883"/>
            <a:ext cx="4370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 monthly. Detect drift weekly — flag any input that shifts more than 20% from its training distribution.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5488" y="2442531"/>
            <a:ext cx="8412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14" name="Shape 12"/>
          <p:cNvSpPr/>
          <p:nvPr/>
        </p:nvSpPr>
        <p:spPr>
          <a:xfrm>
            <a:off x="475488" y="2442531"/>
            <a:ext cx="91440" cy="804672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5" name="Text 13"/>
          <p:cNvSpPr/>
          <p:nvPr/>
        </p:nvSpPr>
        <p:spPr>
          <a:xfrm>
            <a:off x="676656" y="2561403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CS team stops trusting the alerts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76656" y="2954595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Likelihood 3 × Impact 4 = 12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06240" y="2570547"/>
            <a:ext cx="0" cy="54864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8" name="Text 16"/>
          <p:cNvSpPr/>
          <p:nvPr/>
        </p:nvSpPr>
        <p:spPr>
          <a:xfrm>
            <a:off x="4389120" y="2552259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15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MANAGE IT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389120" y="2744283"/>
            <a:ext cx="4370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rates alerts from week one. If reaction rates fall below 50% for two weeks, the workflow pauses and we investigate.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75488" y="3356931"/>
            <a:ext cx="8412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21" name="Shape 19"/>
          <p:cNvSpPr/>
          <p:nvPr/>
        </p:nvSpPr>
        <p:spPr>
          <a:xfrm>
            <a:off x="475488" y="3356931"/>
            <a:ext cx="91440" cy="804672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2" name="Text 20"/>
          <p:cNvSpPr/>
          <p:nvPr/>
        </p:nvSpPr>
        <p:spPr>
          <a:xfrm>
            <a:off x="676656" y="3475803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data crosses borders (GDPR)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76656" y="3868995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Likelihood 2 × Impact 4 = 8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06240" y="3484947"/>
            <a:ext cx="0" cy="54864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5" name="Text 23"/>
          <p:cNvSpPr/>
          <p:nvPr/>
        </p:nvSpPr>
        <p:spPr>
          <a:xfrm>
            <a:off x="4389120" y="3466659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15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MANAGE IT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389120" y="3658683"/>
            <a:ext cx="4370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if the Anthropic and Slack data processing agreements are signed. Send account IDs, not names. No individual personal data in prompts.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229600" y="468172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9EE41795-842A-4D9F-911C-2DB6FDA98D7F}"/>
              </a:ext>
            </a:extLst>
          </p:cNvPr>
          <p:cNvSpPr/>
          <p:nvPr/>
        </p:nvSpPr>
        <p:spPr>
          <a:xfrm>
            <a:off x="795528" y="5247573"/>
            <a:ext cx="8092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these are blockers. Each has a named mitigation and a clear trigger for action. The risks are manageable.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·  COMPLIANCE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66928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Deployable compliantly. Here's why.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75488" y="1298448"/>
            <a:ext cx="400507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7" name="Shape 5"/>
          <p:cNvSpPr/>
          <p:nvPr/>
        </p:nvSpPr>
        <p:spPr>
          <a:xfrm>
            <a:off x="475488" y="1298448"/>
            <a:ext cx="4005072" cy="420624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AI ACT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8368" y="18288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Class: Limited Risk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58368" y="2084832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in any high-risk Annex III category. The LLM text shown to staff triggers Article 52 transparency duties.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58368" y="27249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Obligation: met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58368" y="298094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digest is labelled 'rule-based v1'. The AI is disclosed from day one.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8368" y="362102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to close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58368" y="3877056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written policy telling the CS team what the model does and does not do.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63440" y="1298448"/>
            <a:ext cx="4224528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16" name="Shape 14"/>
          <p:cNvSpPr/>
          <p:nvPr/>
        </p:nvSpPr>
        <p:spPr>
          <a:xfrm>
            <a:off x="4663440" y="1298448"/>
            <a:ext cx="4224528" cy="420624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7" name="Text 15"/>
          <p:cNvSpPr/>
          <p:nvPr/>
        </p:nvSpPr>
        <p:spPr>
          <a:xfrm>
            <a:off x="4828032" y="13716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828032" y="182880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Basis: legitimate interest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828032" y="208483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6(1)(f). Aggregated B2B account data only — no individual personal data in prompts.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828032" y="272491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rights: supported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828032" y="2980944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Access, erasure, rectification, objection. Accounts can be excluded from scoring on request.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828032" y="362102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to close (if not yet done)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828032" y="3877056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the Anthropic and Slack data processing agreements before launch. (Assume it is signed because of corporate use)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67964" y="5266944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system can be deployed compliantly because a human makes every customer-facing decision and the AI is fully disclosed.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25" name="Text 23"/>
          <p:cNvSpPr/>
          <p:nvPr/>
        </p:nvSpPr>
        <p:spPr>
          <a:xfrm>
            <a:off x="8229600" y="468172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·  DEPLOYMENT PLAN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66928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POC to full deployment in 14 weeks. Then scale.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75488" y="1325880"/>
            <a:ext cx="201168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7" name="Shape 5"/>
          <p:cNvSpPr/>
          <p:nvPr/>
        </p:nvSpPr>
        <p:spPr>
          <a:xfrm>
            <a:off x="475488" y="1325880"/>
            <a:ext cx="2011680" cy="530352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8" name="Text 6"/>
          <p:cNvSpPr/>
          <p:nvPr/>
        </p:nvSpPr>
        <p:spPr>
          <a:xfrm>
            <a:off x="621792" y="13898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1792" y="162763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DD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– 4 weeks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700784" y="1389888"/>
            <a:ext cx="713232" cy="219456"/>
          </a:xfrm>
          <a:prstGeom prst="rect">
            <a:avLst/>
          </a:prstGeom>
          <a:solidFill>
            <a:schemeClr val="accent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1" name="Text 9"/>
          <p:cNvSpPr/>
          <p:nvPr/>
        </p:nvSpPr>
        <p:spPr>
          <a:xfrm>
            <a:off x="1700784" y="1408176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621792" y="2109007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POC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792" y="2760553"/>
            <a:ext cx="82296" cy="82296"/>
          </a:xfrm>
          <a:prstGeom prst="ellipse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4" name="Text 12"/>
          <p:cNvSpPr/>
          <p:nvPr/>
        </p:nvSpPr>
        <p:spPr>
          <a:xfrm>
            <a:off x="799092" y="2586664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live on test data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1792" y="3117016"/>
            <a:ext cx="82296" cy="82296"/>
          </a:xfrm>
          <a:prstGeom prst="ellipse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6" name="Text 14"/>
          <p:cNvSpPr/>
          <p:nvPr/>
        </p:nvSpPr>
        <p:spPr>
          <a:xfrm>
            <a:off x="799092" y="2943127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digest verified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2651760" y="1325880"/>
            <a:ext cx="201168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18" name="Shape 16"/>
          <p:cNvSpPr/>
          <p:nvPr/>
        </p:nvSpPr>
        <p:spPr>
          <a:xfrm>
            <a:off x="2651760" y="1325880"/>
            <a:ext cx="2011680" cy="530352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9" name="Text 17"/>
          <p:cNvSpPr/>
          <p:nvPr/>
        </p:nvSpPr>
        <p:spPr>
          <a:xfrm>
            <a:off x="2798064" y="13898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798064" y="162763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DD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– 10 weeks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877056" y="1389888"/>
            <a:ext cx="713232" cy="219456"/>
          </a:xfrm>
          <a:prstGeom prst="rect">
            <a:avLst/>
          </a:prstGeom>
          <a:solidFill>
            <a:srgbClr val="1F4E79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2" name="Text 20"/>
          <p:cNvSpPr/>
          <p:nvPr/>
        </p:nvSpPr>
        <p:spPr>
          <a:xfrm>
            <a:off x="3877056" y="1408176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798064" y="2109007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Pilot</a:t>
            </a:r>
            <a:endParaRPr lang="en-US" sz="1900" dirty="0"/>
          </a:p>
        </p:txBody>
      </p:sp>
      <p:sp>
        <p:nvSpPr>
          <p:cNvPr id="24" name="Shape 22"/>
          <p:cNvSpPr/>
          <p:nvPr/>
        </p:nvSpPr>
        <p:spPr>
          <a:xfrm>
            <a:off x="2798064" y="2760553"/>
            <a:ext cx="82296" cy="82296"/>
          </a:xfrm>
          <a:prstGeom prst="ellipse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5" name="Text 23"/>
          <p:cNvSpPr/>
          <p:nvPr/>
        </p:nvSpPr>
        <p:spPr>
          <a:xfrm>
            <a:off x="2983113" y="2586664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alerts to CS team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2798064" y="3117016"/>
            <a:ext cx="82296" cy="82296"/>
          </a:xfrm>
          <a:prstGeom prst="ellipse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7" name="Text 25"/>
          <p:cNvSpPr/>
          <p:nvPr/>
        </p:nvSpPr>
        <p:spPr>
          <a:xfrm>
            <a:off x="2983113" y="2943127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Go/no-go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828032" y="1325880"/>
            <a:ext cx="201168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29" name="Shape 27"/>
          <p:cNvSpPr/>
          <p:nvPr/>
        </p:nvSpPr>
        <p:spPr>
          <a:xfrm>
            <a:off x="4828032" y="1325880"/>
            <a:ext cx="2011680" cy="530352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30" name="Text 28"/>
          <p:cNvSpPr/>
          <p:nvPr/>
        </p:nvSpPr>
        <p:spPr>
          <a:xfrm>
            <a:off x="4974336" y="13898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974336" y="162763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DD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– 12 weeks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053328" y="1389888"/>
            <a:ext cx="713232" cy="219456"/>
          </a:xfrm>
          <a:prstGeom prst="rect">
            <a:avLst/>
          </a:prstGeom>
          <a:solidFill>
            <a:srgbClr val="1F4E79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33" name="Text 31"/>
          <p:cNvSpPr/>
          <p:nvPr/>
        </p:nvSpPr>
        <p:spPr>
          <a:xfrm>
            <a:off x="6053328" y="1408176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974336" y="2109007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</a:t>
            </a:r>
            <a:endParaRPr lang="en-US" sz="1900" dirty="0"/>
          </a:p>
        </p:txBody>
      </p:sp>
      <p:sp>
        <p:nvSpPr>
          <p:cNvPr id="35" name="Shape 33"/>
          <p:cNvSpPr/>
          <p:nvPr/>
        </p:nvSpPr>
        <p:spPr>
          <a:xfrm>
            <a:off x="4974336" y="2760553"/>
            <a:ext cx="82296" cy="82296"/>
          </a:xfrm>
          <a:prstGeom prst="ellipse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36" name="Text 34"/>
          <p:cNvSpPr/>
          <p:nvPr/>
        </p:nvSpPr>
        <p:spPr>
          <a:xfrm>
            <a:off x="5167134" y="2586664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rules for ML model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4974336" y="3117016"/>
            <a:ext cx="82296" cy="82296"/>
          </a:xfrm>
          <a:prstGeom prst="ellipse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38" name="Text 36"/>
          <p:cNvSpPr/>
          <p:nvPr/>
        </p:nvSpPr>
        <p:spPr>
          <a:xfrm>
            <a:off x="5167134" y="2943127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+ dashboard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7004304" y="1325880"/>
            <a:ext cx="201168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40" name="Shape 38"/>
          <p:cNvSpPr/>
          <p:nvPr/>
        </p:nvSpPr>
        <p:spPr>
          <a:xfrm>
            <a:off x="7004304" y="1325880"/>
            <a:ext cx="2011680" cy="530352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41" name="Text 39"/>
          <p:cNvSpPr/>
          <p:nvPr/>
        </p:nvSpPr>
        <p:spPr>
          <a:xfrm>
            <a:off x="7150608" y="13898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150608" y="162763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DD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8229600" y="1389888"/>
            <a:ext cx="713232" cy="219456"/>
          </a:xfrm>
          <a:prstGeom prst="rect">
            <a:avLst/>
          </a:prstGeom>
          <a:solidFill>
            <a:srgbClr val="2E74B5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44" name="Text 42"/>
          <p:cNvSpPr/>
          <p:nvPr/>
        </p:nvSpPr>
        <p:spPr>
          <a:xfrm>
            <a:off x="8229600" y="1408176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7150608" y="2109007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</a:t>
            </a:r>
            <a:endParaRPr lang="en-US" sz="1900" dirty="0"/>
          </a:p>
        </p:txBody>
      </p:sp>
      <p:sp>
        <p:nvSpPr>
          <p:cNvPr id="46" name="Shape 44"/>
          <p:cNvSpPr/>
          <p:nvPr/>
        </p:nvSpPr>
        <p:spPr>
          <a:xfrm>
            <a:off x="7150608" y="2760553"/>
            <a:ext cx="82296" cy="82296"/>
          </a:xfrm>
          <a:prstGeom prst="ellipse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47" name="Text 45"/>
          <p:cNvSpPr/>
          <p:nvPr/>
        </p:nvSpPr>
        <p:spPr>
          <a:xfrm>
            <a:off x="7351155" y="2594413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Upsell scoring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7150608" y="3117016"/>
            <a:ext cx="82296" cy="82296"/>
          </a:xfrm>
          <a:prstGeom prst="ellipse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49" name="Text 47"/>
          <p:cNvSpPr/>
          <p:nvPr/>
        </p:nvSpPr>
        <p:spPr>
          <a:xfrm>
            <a:off x="7351155" y="2950876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Productize decision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475488" y="3760968"/>
            <a:ext cx="8412480" cy="93030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51" name="Text 49"/>
          <p:cNvSpPr/>
          <p:nvPr/>
        </p:nvSpPr>
        <p:spPr>
          <a:xfrm>
            <a:off x="658368" y="38524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Commercialisation: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658368" y="4108440"/>
            <a:ext cx="8092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 algn="l">
              <a:lnSpc>
                <a:spcPct val="98000"/>
              </a:lnSpc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internal tool first. $10K upfront, $1,395/month, to protect ~</a:t>
            </a: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$1.09m/year at 15% save rate.</a:t>
            </a:r>
          </a:p>
          <a:p>
            <a:pPr marL="171450" indent="-171450" algn="l">
              <a:lnSpc>
                <a:spcPct val="98000"/>
              </a:lnSpc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Optional: Leverage infrastructure (at no additional cost) to flag upsell opportunities. Potential upside: </a:t>
            </a: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$3m-$5m/year</a:t>
            </a:r>
          </a:p>
          <a:p>
            <a:pPr marL="171450" indent="-171450" algn="l">
              <a:lnSpc>
                <a:spcPct val="98000"/>
              </a:lnSpc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Optional: Decide to productize for “PE-Cousins”</a:t>
            </a:r>
            <a:endParaRPr lang="en-US" sz="1150" dirty="0"/>
          </a:p>
        </p:txBody>
      </p:sp>
      <p:sp>
        <p:nvSpPr>
          <p:cNvPr id="53" name="Text 51"/>
          <p:cNvSpPr/>
          <p:nvPr/>
        </p:nvSpPr>
        <p:spPr>
          <a:xfrm>
            <a:off x="8229600" y="468172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·  THE ASK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60-day pilot to prove the alerts change outcomes.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75488" y="1417320"/>
            <a:ext cx="2651760" cy="2148840"/>
          </a:xfrm>
          <a:prstGeom prst="rect">
            <a:avLst/>
          </a:prstGeom>
          <a:solidFill>
            <a:srgbClr val="163A5A"/>
          </a:solidFill>
          <a:ln w="12700">
            <a:solidFill>
              <a:srgbClr val="2E74B5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5" name="Text 3"/>
          <p:cNvSpPr/>
          <p:nvPr/>
        </p:nvSpPr>
        <p:spPr>
          <a:xfrm>
            <a:off x="640080" y="173278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5FB3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54960" y="1778508"/>
            <a:ext cx="20728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Worth the investment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282283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$10K to test something that protects $90K a year. Payback in month 5. The downside is capped at the pilot cost.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10128" y="1417320"/>
            <a:ext cx="2651760" cy="2148840"/>
          </a:xfrm>
          <a:prstGeom prst="rect">
            <a:avLst/>
          </a:prstGeom>
          <a:solidFill>
            <a:srgbClr val="163A5A"/>
          </a:solidFill>
          <a:ln w="12700">
            <a:solidFill>
              <a:srgbClr val="2E74B5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9" name="Text 7"/>
          <p:cNvSpPr/>
          <p:nvPr/>
        </p:nvSpPr>
        <p:spPr>
          <a:xfrm>
            <a:off x="3474720" y="1739684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5FB3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776472" y="1775408"/>
            <a:ext cx="2105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 to deploy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474719" y="2282283"/>
            <a:ext cx="240688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Risk under the EU AI Act, legitimate interest under GDPR, and a human decides every customer contact.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44768" y="1417320"/>
            <a:ext cx="2651760" cy="2148840"/>
          </a:xfrm>
          <a:prstGeom prst="rect">
            <a:avLst/>
          </a:prstGeom>
          <a:solidFill>
            <a:srgbClr val="163A5A"/>
          </a:solidFill>
          <a:ln w="12700">
            <a:solidFill>
              <a:srgbClr val="2E74B5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13" name="Text 11"/>
          <p:cNvSpPr/>
          <p:nvPr/>
        </p:nvSpPr>
        <p:spPr>
          <a:xfrm>
            <a:off x="6320055" y="172968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5FB3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614212" y="1775408"/>
            <a:ext cx="205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Won't disrupt the team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309360" y="2282283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minutes of CS review on a Monday. No new hires. No customer-facing automation. The team owns it.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" y="3767328"/>
            <a:ext cx="8412480" cy="86868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7" name="Text 15"/>
          <p:cNvSpPr/>
          <p:nvPr/>
        </p:nvSpPr>
        <p:spPr>
          <a:xfrm>
            <a:off x="658368" y="384048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FF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STEP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58368" y="4059936"/>
            <a:ext cx="8092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Approve a 60-day pilot: decide tech-stack, score 390+ accounts weekly, CS team acts on the top 20, control group holds out, go/no-go milestone. $10K.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229600" y="468172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1064</Words>
  <Application>Microsoft Macintosh PowerPoint</Application>
  <PresentationFormat>On-screen Show (16:9)</PresentationFormat>
  <Paragraphs>155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Ravenstack Final Project — Panel Pitch</dc:title>
  <dc:subject>PptxGenJS Presentation</dc:subject>
  <dc:creator>Markus von Aschoff</dc:creator>
  <cp:lastModifiedBy>Markus von Aschoff</cp:lastModifiedBy>
  <cp:revision>11</cp:revision>
  <dcterms:created xsi:type="dcterms:W3CDTF">2026-06-12T10:28:58Z</dcterms:created>
  <dcterms:modified xsi:type="dcterms:W3CDTF">2026-06-15T08:58:20Z</dcterms:modified>
</cp:coreProperties>
</file>