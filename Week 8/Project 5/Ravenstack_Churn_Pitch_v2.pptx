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60" r:id="rId5"/>
    <p:sldId id="262" r:id="rId6"/>
    <p:sldId id="259" r:id="rId7"/>
    <p:sldId id="261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878"/>
    <p:restoredTop sz="94610"/>
  </p:normalViewPr>
  <p:slideViewPr>
    <p:cSldViewPr snapToGrid="0" snapToObjects="1">
      <p:cViewPr varScale="1">
        <p:scale>
          <a:sx n="164" d="100"/>
          <a:sy n="164" d="100"/>
        </p:scale>
        <p:origin x="86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12921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A5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7472" cy="514350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3" name="Text 1"/>
          <p:cNvSpPr/>
          <p:nvPr/>
        </p:nvSpPr>
        <p:spPr>
          <a:xfrm>
            <a:off x="594360" y="868680"/>
            <a:ext cx="6858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Ravenstack is losing </a:t>
            </a:r>
            <a:endParaRPr lang="en-US" sz="4600" dirty="0"/>
          </a:p>
          <a:p>
            <a:pPr marL="0" indent="0"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$14.1M to churn.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594360" y="310896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Let’s improve churn prediction. Evidence-based. Smart. Fast. Without vendor-lock-in.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94360" y="3977640"/>
            <a:ext cx="4114800" cy="0"/>
          </a:xfrm>
          <a:prstGeom prst="line">
            <a:avLst/>
          </a:prstGeom>
          <a:noFill/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6" name="Text 4"/>
          <p:cNvSpPr/>
          <p:nvPr/>
        </p:nvSpPr>
        <p:spPr>
          <a:xfrm>
            <a:off x="594360" y="4114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Markus von Aschoff  ·  markus@vonaschoff.de  ·  June 2026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138160" y="47091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·  THE STATUS QUO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75488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years of your data.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75488" y="1712239"/>
            <a:ext cx="196596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5" name="Shape 3"/>
          <p:cNvSpPr/>
          <p:nvPr/>
        </p:nvSpPr>
        <p:spPr>
          <a:xfrm>
            <a:off x="475488" y="1712239"/>
            <a:ext cx="1965960" cy="73152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6" name="Text 4"/>
          <p:cNvSpPr/>
          <p:nvPr/>
        </p:nvSpPr>
        <p:spPr>
          <a:xfrm>
            <a:off x="612648" y="1849399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LOST ARR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585216" y="2096287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$14.1M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612648" y="2672359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cancelled subscriptions,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 to 2024.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642616" y="1712239"/>
            <a:ext cx="1965960" cy="1298448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10" name="Shape 8"/>
          <p:cNvSpPr/>
          <p:nvPr/>
        </p:nvSpPr>
        <p:spPr>
          <a:xfrm>
            <a:off x="2642616" y="1712239"/>
            <a:ext cx="1965960" cy="73152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DE" dirty="0"/>
          </a:p>
        </p:txBody>
      </p:sp>
      <p:sp>
        <p:nvSpPr>
          <p:cNvPr id="11" name="Text 9"/>
          <p:cNvSpPr/>
          <p:nvPr/>
        </p:nvSpPr>
        <p:spPr>
          <a:xfrm>
            <a:off x="2779776" y="1849399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IN CLASS CHURN RATE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2752344" y="2096287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10 %</a:t>
            </a:r>
            <a:endParaRPr lang="en-US" sz="3600" dirty="0">
              <a:solidFill>
                <a:schemeClr val="accent6"/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2779776" y="2672359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SMB benchmark </a:t>
            </a:r>
            <a:b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active ARR.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809744" y="1712239"/>
            <a:ext cx="196596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15" name="Shape 13"/>
          <p:cNvSpPr/>
          <p:nvPr/>
        </p:nvSpPr>
        <p:spPr>
          <a:xfrm>
            <a:off x="4809744" y="1712239"/>
            <a:ext cx="1965960" cy="73152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6" name="Text 14"/>
          <p:cNvSpPr/>
          <p:nvPr/>
        </p:nvSpPr>
        <p:spPr>
          <a:xfrm>
            <a:off x="4946904" y="1849399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CHURN RATE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4919472" y="2096287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2E74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12.1%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4946904" y="2672359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 from 22% lifetime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cancellation over 2 years.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976872" y="1712239"/>
            <a:ext cx="196596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20" name="Shape 18"/>
          <p:cNvSpPr/>
          <p:nvPr/>
        </p:nvSpPr>
        <p:spPr>
          <a:xfrm>
            <a:off x="6976872" y="1712239"/>
            <a:ext cx="1965960" cy="7315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1" name="Text 19"/>
          <p:cNvSpPr/>
          <p:nvPr/>
        </p:nvSpPr>
        <p:spPr>
          <a:xfrm>
            <a:off x="7114032" y="1849399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CHURNED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086600" y="2096287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110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7114032" y="2672359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500 customers.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 of the base has left.</a:t>
            </a:r>
            <a:endParaRPr lang="en-US" sz="900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34EC81B-C92C-A9A3-7200-F76D6B0AA588}"/>
              </a:ext>
            </a:extLst>
          </p:cNvPr>
          <p:cNvGrpSpPr/>
          <p:nvPr/>
        </p:nvGrpSpPr>
        <p:grpSpPr>
          <a:xfrm>
            <a:off x="475488" y="3223813"/>
            <a:ext cx="8485632" cy="1211027"/>
            <a:chOff x="475488" y="3319272"/>
            <a:chExt cx="8485632" cy="806983"/>
          </a:xfrm>
        </p:grpSpPr>
        <p:sp>
          <p:nvSpPr>
            <p:cNvPr id="24" name="Shape 22"/>
            <p:cNvSpPr/>
            <p:nvPr/>
          </p:nvSpPr>
          <p:spPr>
            <a:xfrm>
              <a:off x="475488" y="3321583"/>
              <a:ext cx="8485632" cy="804672"/>
            </a:xfrm>
            <a:prstGeom prst="rect">
              <a:avLst/>
            </a:prstGeom>
            <a:solidFill>
              <a:srgbClr val="163A5A"/>
            </a:solidFill>
            <a:ln w="12700">
              <a:solidFill>
                <a:srgbClr val="163A5A"/>
              </a:solidFill>
              <a:prstDash val="solid"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5" name="Text 23"/>
            <p:cNvSpPr/>
            <p:nvPr/>
          </p:nvSpPr>
          <p:spPr>
            <a:xfrm>
              <a:off x="658368" y="3319272"/>
              <a:ext cx="8193024" cy="7863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Key Insights</a:t>
              </a:r>
            </a:p>
            <a:p>
              <a:pPr marL="285750" indent="-285750" algn="l">
                <a:buFont typeface="Arial" panose="020B0604020202020204" pitchFamily="34" charset="0"/>
                <a:buChar char="•"/>
              </a:pPr>
              <a:r>
                <a:rPr lang="en-US" sz="14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53% of all churn happens in the first 90 days after signup, often before teams notice a customer is at risk.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400" b="1" dirty="0">
                  <a:solidFill>
                    <a:srgbClr val="FFFFFF"/>
                  </a:solidFill>
                  <a:latin typeface="Calibri" pitchFamily="34" charset="0"/>
                  <a:cs typeface="Calibri" pitchFamily="34" charset="-120"/>
                </a:rPr>
                <a:t>DevTools with 31% highest churn rate.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400" b="1" dirty="0" err="1">
                  <a:solidFill>
                    <a:srgbClr val="FFFFFF"/>
                  </a:solidFill>
                  <a:latin typeface="Calibri" pitchFamily="34" charset="0"/>
                  <a:cs typeface="Calibri" pitchFamily="34" charset="-120"/>
                </a:rPr>
                <a:t>CyberSecurity</a:t>
              </a:r>
              <a:r>
                <a:rPr lang="en-US" sz="1400" b="1" dirty="0">
                  <a:solidFill>
                    <a:srgbClr val="FFFFFF"/>
                  </a:solidFill>
                  <a:latin typeface="Calibri" pitchFamily="34" charset="0"/>
                  <a:cs typeface="Calibri" pitchFamily="34" charset="-120"/>
                </a:rPr>
                <a:t> with $3.3m highest ARR churn.</a:t>
              </a:r>
            </a:p>
          </p:txBody>
        </p:sp>
      </p:grpSp>
      <p:sp>
        <p:nvSpPr>
          <p:cNvPr id="28" name="Text 26"/>
          <p:cNvSpPr/>
          <p:nvPr/>
        </p:nvSpPr>
        <p:spPr>
          <a:xfrm>
            <a:off x="850392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·  DATA EVIDENCE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75488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Better signals prevent churn.  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75488" y="1234440"/>
            <a:ext cx="4005072" cy="30663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5" name="Shape 3"/>
          <p:cNvSpPr/>
          <p:nvPr/>
        </p:nvSpPr>
        <p:spPr>
          <a:xfrm>
            <a:off x="4663440" y="1234440"/>
            <a:ext cx="4251960" cy="30663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6" name="Shape 4"/>
          <p:cNvSpPr/>
          <p:nvPr/>
        </p:nvSpPr>
        <p:spPr>
          <a:xfrm>
            <a:off x="475488" y="1234440"/>
            <a:ext cx="4005072" cy="3474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7" name="Text 5"/>
          <p:cNvSpPr/>
          <p:nvPr/>
        </p:nvSpPr>
        <p:spPr>
          <a:xfrm>
            <a:off x="594360" y="128016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STRONG SIGNALS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1234440"/>
            <a:ext cx="4251960" cy="347472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9" name="Text 7"/>
          <p:cNvSpPr/>
          <p:nvPr/>
        </p:nvSpPr>
        <p:spPr>
          <a:xfrm>
            <a:off x="4782312" y="128016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WEAK OR ABSENT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17190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accounts (under 90 days)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8368" y="2019077"/>
            <a:ext cx="3697592" cy="347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churned accounts left in their first 90 days. Rule: flag every account under 3 </a:t>
            </a: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old.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58368" y="35478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Industry: DevTools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7" y="3847312"/>
            <a:ext cx="36975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31% logo churn, main reason is budget and support. Both are addressable with better signaling.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00600" y="1719072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drop before cancellation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00600" y="2019077"/>
            <a:ext cx="3977640" cy="329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usage ratio 30–90 days before churn: 1.02. Only 18% showed a 50%+ drop. 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00600" y="2633472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ticket spike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00600" y="2932912"/>
            <a:ext cx="3977640" cy="346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tickets in 60 days before churn: 0.3. Same as retained customers. No spike.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00600" y="3547872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tier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00600" y="3847312"/>
            <a:ext cx="3977640" cy="346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Basic, Pro, and Enterprise all churn at 9–10% per subscription. Plan is not a signal.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50392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2" name="Text 10">
            <a:extLst>
              <a:ext uri="{FF2B5EF4-FFF2-40B4-BE49-F238E27FC236}">
                <a16:creationId xmlns:a16="http://schemas.microsoft.com/office/drawing/2014/main" id="{11AD995C-C357-2876-5ED5-374F5C1CF180}"/>
              </a:ext>
            </a:extLst>
          </p:cNvPr>
          <p:cNvSpPr/>
          <p:nvPr/>
        </p:nvSpPr>
        <p:spPr>
          <a:xfrm>
            <a:off x="658368" y="26334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Industry: Cybersecurity</a:t>
            </a:r>
            <a:endParaRPr lang="en-US" sz="1200" dirty="0"/>
          </a:p>
        </p:txBody>
      </p:sp>
      <p:sp>
        <p:nvSpPr>
          <p:cNvPr id="23" name="Text 11">
            <a:extLst>
              <a:ext uri="{FF2B5EF4-FFF2-40B4-BE49-F238E27FC236}">
                <a16:creationId xmlns:a16="http://schemas.microsoft.com/office/drawing/2014/main" id="{1678ED32-EB26-DBB1-8E11-518D26A94C81}"/>
              </a:ext>
            </a:extLst>
          </p:cNvPr>
          <p:cNvSpPr/>
          <p:nvPr/>
        </p:nvSpPr>
        <p:spPr>
          <a:xfrm>
            <a:off x="658368" y="2932912"/>
            <a:ext cx="3697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$3.3m ARR churn, high sales tickets, main reasons are ‘unknown’ and budget. Customer Success needs to know who to focus. </a:t>
            </a:r>
            <a:endParaRPr lang="en-US" sz="11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3C0BA8D-7D6E-C161-A74B-2BCCA0415B4E}"/>
              </a:ext>
            </a:extLst>
          </p:cNvPr>
          <p:cNvGrpSpPr/>
          <p:nvPr/>
        </p:nvGrpSpPr>
        <p:grpSpPr>
          <a:xfrm>
            <a:off x="475488" y="4425696"/>
            <a:ext cx="8439911" cy="320040"/>
            <a:chOff x="475488" y="4189407"/>
            <a:chExt cx="8439911" cy="320040"/>
          </a:xfrm>
        </p:grpSpPr>
        <p:sp>
          <p:nvSpPr>
            <p:cNvPr id="25" name="Shape 49">
              <a:extLst>
                <a:ext uri="{FF2B5EF4-FFF2-40B4-BE49-F238E27FC236}">
                  <a16:creationId xmlns:a16="http://schemas.microsoft.com/office/drawing/2014/main" id="{3782AF40-1FD6-8353-F2BA-02F6C199CDE4}"/>
                </a:ext>
              </a:extLst>
            </p:cNvPr>
            <p:cNvSpPr/>
            <p:nvPr/>
          </p:nvSpPr>
          <p:spPr>
            <a:xfrm>
              <a:off x="475488" y="4189407"/>
              <a:ext cx="8439911" cy="320040"/>
            </a:xfrm>
            <a:prstGeom prst="rect">
              <a:avLst/>
            </a:prstGeom>
            <a:solidFill>
              <a:srgbClr val="1F4E79"/>
            </a:solidFill>
            <a:ln w="12700">
              <a:solidFill>
                <a:srgbClr val="1F4E79"/>
              </a:solidFill>
              <a:prstDash val="solid"/>
            </a:ln>
          </p:spPr>
          <p:txBody>
            <a:bodyPr/>
            <a:lstStyle/>
            <a:p>
              <a:pPr algn="ctr"/>
              <a:endParaRPr lang="en-DE"/>
            </a:p>
          </p:txBody>
        </p:sp>
        <p:sp>
          <p:nvSpPr>
            <p:cNvPr id="26" name="Text 50">
              <a:extLst>
                <a:ext uri="{FF2B5EF4-FFF2-40B4-BE49-F238E27FC236}">
                  <a16:creationId xmlns:a16="http://schemas.microsoft.com/office/drawing/2014/main" id="{2BEBC78D-A740-2A40-E172-55BAC5592392}"/>
                </a:ext>
              </a:extLst>
            </p:cNvPr>
            <p:cNvSpPr/>
            <p:nvPr/>
          </p:nvSpPr>
          <p:spPr>
            <a:xfrm>
              <a:off x="585216" y="4257987"/>
              <a:ext cx="8330183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Calibri" pitchFamily="34" charset="0"/>
                  <a:cs typeface="Calibri" pitchFamily="34" charset="-120"/>
                </a:rPr>
                <a:t>IMPORTANT: Dataset is outdated. Need more recent data to find stronger signals.</a:t>
              </a:r>
              <a:endParaRPr lang="en-US" sz="11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·  IMPLEMENTATION PLAN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75488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phases to reducing churn.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75488" y="1463040"/>
            <a:ext cx="2011680" cy="2566347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5" name="Shape 3"/>
          <p:cNvSpPr/>
          <p:nvPr/>
        </p:nvSpPr>
        <p:spPr>
          <a:xfrm>
            <a:off x="475488" y="1463040"/>
            <a:ext cx="2011680" cy="457200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6" name="Text 4"/>
          <p:cNvSpPr/>
          <p:nvPr/>
        </p:nvSpPr>
        <p:spPr>
          <a:xfrm>
            <a:off x="603504" y="1517904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03504" y="1746504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4-6 weeks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03504" y="20299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audit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04088" y="2423160"/>
            <a:ext cx="170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12 months of usage, billing, and ticket data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85216" y="2514600"/>
            <a:ext cx="73152" cy="73152"/>
          </a:xfrm>
          <a:prstGeom prst="ellipse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1" name="Text 9"/>
          <p:cNvSpPr/>
          <p:nvPr/>
        </p:nvSpPr>
        <p:spPr>
          <a:xfrm>
            <a:off x="704088" y="2926080"/>
            <a:ext cx="170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rule-based health score as a baseline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85216" y="3017520"/>
            <a:ext cx="73152" cy="73152"/>
          </a:xfrm>
          <a:prstGeom prst="ellipse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3" name="Text 11"/>
          <p:cNvSpPr/>
          <p:nvPr/>
        </p:nvSpPr>
        <p:spPr>
          <a:xfrm>
            <a:off x="704088" y="3429000"/>
            <a:ext cx="170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/ no-go decision before spending more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85216" y="3520440"/>
            <a:ext cx="73152" cy="73152"/>
          </a:xfrm>
          <a:prstGeom prst="ellipse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5" name="Shape 13"/>
          <p:cNvSpPr/>
          <p:nvPr/>
        </p:nvSpPr>
        <p:spPr>
          <a:xfrm>
            <a:off x="2496312" y="2542032"/>
            <a:ext cx="13716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6" name="Shape 14"/>
          <p:cNvSpPr/>
          <p:nvPr/>
        </p:nvSpPr>
        <p:spPr>
          <a:xfrm>
            <a:off x="2651760" y="1463040"/>
            <a:ext cx="2011680" cy="2566347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17" name="Shape 15"/>
          <p:cNvSpPr/>
          <p:nvPr/>
        </p:nvSpPr>
        <p:spPr>
          <a:xfrm>
            <a:off x="2651760" y="1463040"/>
            <a:ext cx="2011680" cy="457200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8" name="Text 16"/>
          <p:cNvSpPr/>
          <p:nvPr/>
        </p:nvSpPr>
        <p:spPr>
          <a:xfrm>
            <a:off x="2779776" y="1517904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779776" y="1746504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8-12 weeks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779776" y="20299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 model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2880360" y="2423160"/>
            <a:ext cx="170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time-windowed features (7 / 30 / 90-day usage)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761488" y="2514600"/>
            <a:ext cx="73152" cy="73152"/>
          </a:xfrm>
          <a:prstGeom prst="ellipse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3" name="Text 21"/>
          <p:cNvSpPr/>
          <p:nvPr/>
        </p:nvSpPr>
        <p:spPr>
          <a:xfrm>
            <a:off x="2880360" y="2926080"/>
            <a:ext cx="170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logistic regression. Test on the last 6 months of data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761488" y="3017520"/>
            <a:ext cx="73152" cy="73152"/>
          </a:xfrm>
          <a:prstGeom prst="ellipse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5" name="Text 23"/>
          <p:cNvSpPr/>
          <p:nvPr/>
        </p:nvSpPr>
        <p:spPr>
          <a:xfrm>
            <a:off x="2880360" y="3504364"/>
            <a:ext cx="170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team rates weekly alerts and the model must beat rules to proceed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761488" y="3520440"/>
            <a:ext cx="73152" cy="73152"/>
          </a:xfrm>
          <a:prstGeom prst="ellipse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7" name="Shape 25"/>
          <p:cNvSpPr/>
          <p:nvPr/>
        </p:nvSpPr>
        <p:spPr>
          <a:xfrm>
            <a:off x="4672584" y="2542032"/>
            <a:ext cx="13716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8" name="Shape 26"/>
          <p:cNvSpPr/>
          <p:nvPr/>
        </p:nvSpPr>
        <p:spPr>
          <a:xfrm>
            <a:off x="4828032" y="1463040"/>
            <a:ext cx="2011680" cy="2566347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29" name="Shape 27"/>
          <p:cNvSpPr/>
          <p:nvPr/>
        </p:nvSpPr>
        <p:spPr>
          <a:xfrm>
            <a:off x="4828032" y="1463040"/>
            <a:ext cx="2011680" cy="457200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30" name="Text 28"/>
          <p:cNvSpPr/>
          <p:nvPr/>
        </p:nvSpPr>
        <p:spPr>
          <a:xfrm>
            <a:off x="4956048" y="1517904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956048" y="1746504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8-12 weeks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956048" y="20299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Integrate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5056632" y="2423160"/>
            <a:ext cx="170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Slack alerts: top 20 at-risk accounts each Monday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937760" y="2514600"/>
            <a:ext cx="73152" cy="73152"/>
          </a:xfrm>
          <a:prstGeom prst="ellipse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35" name="Text 33"/>
          <p:cNvSpPr/>
          <p:nvPr/>
        </p:nvSpPr>
        <p:spPr>
          <a:xfrm>
            <a:off x="5056632" y="2926080"/>
            <a:ext cx="170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/ HTML dashboard for Cleo and CS lead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937760" y="3017520"/>
            <a:ext cx="73152" cy="73152"/>
          </a:xfrm>
          <a:prstGeom prst="ellipse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37" name="Text 35"/>
          <p:cNvSpPr/>
          <p:nvPr/>
        </p:nvSpPr>
        <p:spPr>
          <a:xfrm>
            <a:off x="5056632" y="3429000"/>
            <a:ext cx="1709928" cy="588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explains each alert in plain English and enriches with value add information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937760" y="3520440"/>
            <a:ext cx="73152" cy="73152"/>
          </a:xfrm>
          <a:prstGeom prst="ellipse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39" name="Shape 37"/>
          <p:cNvSpPr/>
          <p:nvPr/>
        </p:nvSpPr>
        <p:spPr>
          <a:xfrm>
            <a:off x="6848856" y="2542032"/>
            <a:ext cx="13716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40" name="Shape 38"/>
          <p:cNvSpPr/>
          <p:nvPr/>
        </p:nvSpPr>
        <p:spPr>
          <a:xfrm>
            <a:off x="7004304" y="1463040"/>
            <a:ext cx="2011680" cy="2566347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41" name="Shape 39"/>
          <p:cNvSpPr/>
          <p:nvPr/>
        </p:nvSpPr>
        <p:spPr>
          <a:xfrm>
            <a:off x="7004304" y="1463040"/>
            <a:ext cx="2011680" cy="45720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42" name="Text 40"/>
          <p:cNvSpPr/>
          <p:nvPr/>
        </p:nvSpPr>
        <p:spPr>
          <a:xfrm>
            <a:off x="7132320" y="1517904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132320" y="1746504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132320" y="20299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7232904" y="2423160"/>
            <a:ext cx="170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retraining (drift from product changes)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114032" y="2514600"/>
            <a:ext cx="73152" cy="73152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47" name="Text 45"/>
          <p:cNvSpPr/>
          <p:nvPr/>
        </p:nvSpPr>
        <p:spPr>
          <a:xfrm>
            <a:off x="7232904" y="2926080"/>
            <a:ext cx="170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feature drift detection and flag shifts &gt; 20%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7114032" y="3017520"/>
            <a:ext cx="73152" cy="73152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49" name="Text 47"/>
          <p:cNvSpPr/>
          <p:nvPr/>
        </p:nvSpPr>
        <p:spPr>
          <a:xfrm>
            <a:off x="7232904" y="3429000"/>
            <a:ext cx="170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lift review: did alerts improve retention?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7114032" y="3520440"/>
            <a:ext cx="73152" cy="73152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83995230-EFD8-C34F-17F6-6276EAFACEDE}"/>
              </a:ext>
            </a:extLst>
          </p:cNvPr>
          <p:cNvGrpSpPr/>
          <p:nvPr/>
        </p:nvGrpSpPr>
        <p:grpSpPr>
          <a:xfrm>
            <a:off x="475488" y="4189407"/>
            <a:ext cx="8540496" cy="320040"/>
            <a:chOff x="475488" y="4189407"/>
            <a:chExt cx="8540496" cy="320040"/>
          </a:xfrm>
        </p:grpSpPr>
        <p:sp>
          <p:nvSpPr>
            <p:cNvPr id="51" name="Shape 49"/>
            <p:cNvSpPr/>
            <p:nvPr/>
          </p:nvSpPr>
          <p:spPr>
            <a:xfrm>
              <a:off x="475488" y="4189407"/>
              <a:ext cx="8540496" cy="320040"/>
            </a:xfrm>
            <a:prstGeom prst="rect">
              <a:avLst/>
            </a:prstGeom>
            <a:solidFill>
              <a:srgbClr val="1F4E79"/>
            </a:solidFill>
            <a:ln w="12700">
              <a:solidFill>
                <a:srgbClr val="1F4E79"/>
              </a:solidFill>
              <a:prstDash val="solid"/>
            </a:ln>
          </p:spPr>
          <p:txBody>
            <a:bodyPr/>
            <a:lstStyle/>
            <a:p>
              <a:pPr algn="ctr"/>
              <a:endParaRPr lang="en-DE"/>
            </a:p>
          </p:txBody>
        </p:sp>
        <p:sp>
          <p:nvSpPr>
            <p:cNvPr id="52" name="Text 50"/>
            <p:cNvSpPr/>
            <p:nvPr/>
          </p:nvSpPr>
          <p:spPr>
            <a:xfrm>
              <a:off x="585216" y="4257987"/>
              <a:ext cx="8330183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Upfront: $8,200 – $12,200   ·   Monthly: $1,310 – $2,680   ·   Total year 1: under $45K</a:t>
              </a:r>
              <a:endParaRPr lang="en-US" sz="1100" dirty="0"/>
            </a:p>
          </p:txBody>
        </p:sp>
      </p:grpSp>
      <p:sp>
        <p:nvSpPr>
          <p:cNvPr id="53" name="Text 51"/>
          <p:cNvSpPr/>
          <p:nvPr/>
        </p:nvSpPr>
        <p:spPr>
          <a:xfrm>
            <a:off x="8229600" y="468172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r>
              <a:rPr lang="en-US" sz="900" b="1" kern="0" spc="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NEXT STEP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Crawl. Walk. Run.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75488" y="1325880"/>
            <a:ext cx="2651760" cy="2377440"/>
          </a:xfrm>
          <a:prstGeom prst="rect">
            <a:avLst/>
          </a:prstGeom>
          <a:solidFill>
            <a:srgbClr val="163A5A"/>
          </a:solidFill>
          <a:ln w="12700">
            <a:solidFill>
              <a:srgbClr val="2E74B5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5" name="Text 3"/>
          <p:cNvSpPr/>
          <p:nvPr/>
        </p:nvSpPr>
        <p:spPr>
          <a:xfrm>
            <a:off x="640080" y="1444752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74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93852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is great. </a:t>
            </a:r>
            <a:b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</a:b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Data is better.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to cut churn by 30% sounds great but does not work according to the data. That led to focus even more on signaling and CS prepping.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10128" y="1325880"/>
            <a:ext cx="2651760" cy="2377440"/>
          </a:xfrm>
          <a:prstGeom prst="rect">
            <a:avLst/>
          </a:prstGeom>
          <a:solidFill>
            <a:srgbClr val="163A5A"/>
          </a:solidFill>
          <a:ln w="12700">
            <a:solidFill>
              <a:srgbClr val="2E74B5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9" name="Text 7"/>
          <p:cNvSpPr/>
          <p:nvPr/>
        </p:nvSpPr>
        <p:spPr>
          <a:xfrm>
            <a:off x="3474720" y="1444752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74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474720" y="193852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Focus, Focus, Focus.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74720" y="2286000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tells a clear story. Customer Success needs clear signals to help with root cause analysis, budget justification and support escalations.</a:t>
            </a:r>
          </a:p>
        </p:txBody>
      </p:sp>
      <p:sp>
        <p:nvSpPr>
          <p:cNvPr id="12" name="Shape 10"/>
          <p:cNvSpPr/>
          <p:nvPr/>
        </p:nvSpPr>
        <p:spPr>
          <a:xfrm>
            <a:off x="6144768" y="1325880"/>
            <a:ext cx="2651760" cy="2377440"/>
          </a:xfrm>
          <a:prstGeom prst="rect">
            <a:avLst/>
          </a:prstGeom>
          <a:solidFill>
            <a:srgbClr val="163A5A"/>
          </a:solidFill>
          <a:ln w="12700">
            <a:solidFill>
              <a:srgbClr val="2E74B5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13" name="Text 11"/>
          <p:cNvSpPr/>
          <p:nvPr/>
        </p:nvSpPr>
        <p:spPr>
          <a:xfrm>
            <a:off x="6309360" y="1444752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74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309360" y="193852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Iteration is key to success.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09360" y="2286000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$8–12K internal pilot with a go/no-go at Phase 1 protects you from an uninformed decision that locks you into $300k+ investment.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" y="3858768"/>
            <a:ext cx="8412480" cy="713232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7" name="Text 15"/>
          <p:cNvSpPr/>
          <p:nvPr/>
        </p:nvSpPr>
        <p:spPr>
          <a:xfrm>
            <a:off x="658368" y="391363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FF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58368" y="4114800"/>
            <a:ext cx="8302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Approve the pilot. $8–12K upfront. Test for 6 months. </a:t>
            </a:r>
            <a:r>
              <a:rPr lang="en-US" sz="18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 decide</a:t>
            </a:r>
            <a:r>
              <a:rPr lang="en-US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platform.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50392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·  THE RECOMMENDATION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75488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 first. Platform later - if it is worth it.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75488" y="1508760"/>
            <a:ext cx="2633472" cy="2880360"/>
          </a:xfrm>
          <a:prstGeom prst="rect">
            <a:avLst/>
          </a:prstGeom>
          <a:solidFill>
            <a:srgbClr val="FFFFFF"/>
          </a:solidFill>
          <a:ln w="254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5" name="Text 3"/>
          <p:cNvSpPr/>
          <p:nvPr/>
        </p:nvSpPr>
        <p:spPr>
          <a:xfrm>
            <a:off x="640080" y="1618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CBD5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Rules only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79" y="2487168"/>
            <a:ext cx="240457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hand-written heuristics.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accounts with tenure &lt; 90 days,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DevTools &amp; Cybersecurity. Create discovery &amp; messaging around budgeting.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347472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$2–4K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370332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Time: &lt; 1 month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10128" y="1508760"/>
            <a:ext cx="2633472" cy="2880360"/>
          </a:xfrm>
          <a:prstGeom prst="rect">
            <a:avLst/>
          </a:prstGeom>
          <a:solidFill>
            <a:srgbClr val="163A5A"/>
          </a:solidFill>
          <a:ln w="25400">
            <a:solidFill>
              <a:srgbClr val="163A5A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11" name="Text 9"/>
          <p:cNvSpPr/>
          <p:nvPr/>
        </p:nvSpPr>
        <p:spPr>
          <a:xfrm>
            <a:off x="3474720" y="1618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90CA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474720" y="210312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Rules + ML pilot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474720" y="2487168"/>
            <a:ext cx="2331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rule-based health score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first. Only add a ML model if it provides additional value. 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74720" y="347472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$8–12K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74720" y="370332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Time: &lt; 3 months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474720" y="4023360"/>
            <a:ext cx="2286000" cy="256032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7" name="Text 15"/>
          <p:cNvSpPr/>
          <p:nvPr/>
        </p:nvSpPr>
        <p:spPr>
          <a:xfrm>
            <a:off x="3474720" y="404164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144768" y="1508760"/>
            <a:ext cx="2633472" cy="2880360"/>
          </a:xfrm>
          <a:prstGeom prst="rect">
            <a:avLst/>
          </a:prstGeom>
          <a:solidFill>
            <a:srgbClr val="FFFFFF"/>
          </a:solidFill>
          <a:ln w="254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19" name="Text 17"/>
          <p:cNvSpPr/>
          <p:nvPr/>
        </p:nvSpPr>
        <p:spPr>
          <a:xfrm>
            <a:off x="6309360" y="1618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CBD5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6309360" y="210312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Vendor platform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309360" y="2487168"/>
            <a:ext cx="2331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ChurnZero, Pecan, or similar.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$30–100K per year. Hard to undo.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Overkill for 500 customers.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09360" y="347472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$30–100K/yr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309360" y="370332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Time: 3–6 months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50392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·  RISKS AND HOW WE MANAGE THEM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75488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risks. Four mitigations. Nothing hidden.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75488" y="1261872"/>
            <a:ext cx="40233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5" name="Shape 3"/>
          <p:cNvSpPr/>
          <p:nvPr/>
        </p:nvSpPr>
        <p:spPr>
          <a:xfrm>
            <a:off x="475488" y="1261872"/>
            <a:ext cx="91440" cy="155448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6" name="Text 4"/>
          <p:cNvSpPr/>
          <p:nvPr/>
        </p:nvSpPr>
        <p:spPr>
          <a:xfrm>
            <a:off x="676656" y="138988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20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676656" y="158191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is weaker than expected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76656" y="199339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2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76656" y="2194560"/>
            <a:ext cx="3749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health score becomes the deliverable.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ends with useful output either way.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261872"/>
            <a:ext cx="40233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11" name="Shape 9"/>
          <p:cNvSpPr/>
          <p:nvPr/>
        </p:nvSpPr>
        <p:spPr>
          <a:xfrm>
            <a:off x="4754880" y="1261872"/>
            <a:ext cx="91440" cy="155448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2" name="Text 10"/>
          <p:cNvSpPr/>
          <p:nvPr/>
        </p:nvSpPr>
        <p:spPr>
          <a:xfrm>
            <a:off x="4956048" y="138988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20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956048" y="158191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can't dedicate full-time staff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56048" y="199339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2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956048" y="2194560"/>
            <a:ext cx="3749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 FTE for 8 weeks. CS team 2 hours per week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rate alerts. No new hires required.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" y="2953512"/>
            <a:ext cx="40233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17" name="Shape 15"/>
          <p:cNvSpPr/>
          <p:nvPr/>
        </p:nvSpPr>
        <p:spPr>
          <a:xfrm>
            <a:off x="475488" y="2953512"/>
            <a:ext cx="91440" cy="155448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8" name="Text 16"/>
          <p:cNvSpPr/>
          <p:nvPr/>
        </p:nvSpPr>
        <p:spPr>
          <a:xfrm>
            <a:off x="676656" y="308152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20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76656" y="327355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drifts when product changes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76656" y="3685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2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76656" y="3886200"/>
            <a:ext cx="3749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retraining. Weekly drift detection.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on the team can read the drift report.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54880" y="2953512"/>
            <a:ext cx="40233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23" name="Shape 21"/>
          <p:cNvSpPr/>
          <p:nvPr/>
        </p:nvSpPr>
        <p:spPr>
          <a:xfrm>
            <a:off x="4754880" y="2953512"/>
            <a:ext cx="91440" cy="155448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4" name="Text 22"/>
          <p:cNvSpPr/>
          <p:nvPr/>
        </p:nvSpPr>
        <p:spPr>
          <a:xfrm>
            <a:off x="4956048" y="308152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20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956048" y="327355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data and GDPR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956048" y="3685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2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956048" y="3886200"/>
            <a:ext cx="3749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processing stays in the EU.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customer-identifying data passed to LLM APIs.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50392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</TotalTime>
  <Words>880</Words>
  <Application>Microsoft Macintosh PowerPoint</Application>
  <PresentationFormat>On-screen Show (16:9)</PresentationFormat>
  <Paragraphs>141</Paragraphs>
  <Slides>7</Slides>
  <Notes>7</Notes>
  <HiddenSlides>2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Ravenstack Churn Prediction Proposal</dc:title>
  <dc:subject>PptxGenJS Presentation</dc:subject>
  <dc:creator>Markus von Aschoff</dc:creator>
  <cp:lastModifiedBy>Markus von Aschoff</cp:lastModifiedBy>
  <cp:revision>20</cp:revision>
  <dcterms:created xsi:type="dcterms:W3CDTF">2026-06-08T09:06:44Z</dcterms:created>
  <dcterms:modified xsi:type="dcterms:W3CDTF">2026-06-09T15:40:14Z</dcterms:modified>
</cp:coreProperties>
</file>