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2"/>
    <p:sldId id="257" r:id="rId3"/>
    <p:sldId id="258" r:id="rId4"/>
    <p:sldId id="260" r:id="rId5"/>
    <p:sldId id="262" r:id="rId6"/>
    <p:sldId id="259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583AEA-5D2E-F531-D6A9-013C67BF1A68}" v="23" dt="2026-06-11T14:30:56.498"/>
    <p1510:client id="{9CE7963D-D35D-D348-A88F-B6F144D0F21E}" v="13" dt="2026-06-11T13:10:36.1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78"/>
    <p:restoredTop sz="94610"/>
  </p:normalViewPr>
  <p:slideViewPr>
    <p:cSldViewPr snapToGrid="0" snapToObjects="1">
      <p:cViewPr varScale="1">
        <p:scale>
          <a:sx n="190" d="100"/>
          <a:sy n="190" d="100"/>
        </p:scale>
        <p:origin x="1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1292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D5253-F2E3-0764-92AC-0BB82D6BD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3B02C-5230-9F03-C743-750CCA60C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58FF4-B6AC-49AA-4C2D-FF6562807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F0EB8-C3F0-F097-8256-3B6DA49EE5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61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A5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1EFF32-A63E-373E-092C-AF4B14B96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D5FFC24-6B6D-FC95-5D5E-A8257673224E}"/>
              </a:ext>
            </a:extLst>
          </p:cNvPr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B3DF02-C9DA-831C-3D8E-0BBA6D05D93B}"/>
              </a:ext>
            </a:extLst>
          </p:cNvPr>
          <p:cNvSpPr/>
          <p:nvPr/>
        </p:nvSpPr>
        <p:spPr>
          <a:xfrm>
            <a:off x="594360" y="86868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4600" b="1" dirty="0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Ravenstack</a:t>
            </a:r>
            <a:r>
              <a:rPr lang="en-US" sz="46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has lost  </a:t>
            </a:r>
            <a:endParaRPr lang="en-US" sz="4600" dirty="0">
              <a:latin typeface="Cambria"/>
              <a:ea typeface="Cambria"/>
            </a:endParaRPr>
          </a:p>
          <a:p>
            <a:pPr marL="0" indent="0"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$14.1M to churn.</a:t>
            </a:r>
            <a:endParaRPr lang="en-US" sz="4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3990149-0EED-821A-2FB2-E5162540FFDC}"/>
              </a:ext>
            </a:extLst>
          </p:cNvPr>
          <p:cNvSpPr/>
          <p:nvPr/>
        </p:nvSpPr>
        <p:spPr>
          <a:xfrm>
            <a:off x="594360" y="31089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improve churn prediction. Evidence-based. Smart. Fast. Without vendor-lock-in.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A18F47C-2CC9-EDBE-3028-5AEC148FEE2B}"/>
              </a:ext>
            </a:extLst>
          </p:cNvPr>
          <p:cNvSpPr/>
          <p:nvPr/>
        </p:nvSpPr>
        <p:spPr>
          <a:xfrm>
            <a:off x="594360" y="3977640"/>
            <a:ext cx="4114800" cy="0"/>
          </a:xfrm>
          <a:prstGeom prst="line">
            <a:avLst/>
          </a:prstGeom>
          <a:noFill/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79B4A78-7E60-1511-BF2A-ADEEA21116C0}"/>
              </a:ext>
            </a:extLst>
          </p:cNvPr>
          <p:cNvSpPr/>
          <p:nvPr/>
        </p:nvSpPr>
        <p:spPr>
          <a:xfrm>
            <a:off x="594360" y="4114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Markus von Aschoff  ·  markus@vonaschoff.de  ·  June 2026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61FA941-7F0F-B492-9C61-FC5CF3416A2B}"/>
              </a:ext>
            </a:extLst>
          </p:cNvPr>
          <p:cNvSpPr/>
          <p:nvPr/>
        </p:nvSpPr>
        <p:spPr>
          <a:xfrm>
            <a:off x="813816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25281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STATUS QUO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years of your data.</a:t>
            </a:r>
            <a:endParaRPr lang="en-US" sz="28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5F74128-7A57-8308-18AA-1F37893EC3A2}"/>
              </a:ext>
            </a:extLst>
          </p:cNvPr>
          <p:cNvGrpSpPr/>
          <p:nvPr/>
        </p:nvGrpSpPr>
        <p:grpSpPr>
          <a:xfrm>
            <a:off x="475488" y="1709771"/>
            <a:ext cx="1965960" cy="1298448"/>
            <a:chOff x="475488" y="1712239"/>
            <a:chExt cx="1965960" cy="1298448"/>
          </a:xfrm>
        </p:grpSpPr>
        <p:sp>
          <p:nvSpPr>
            <p:cNvPr id="4" name="Shape 2"/>
            <p:cNvSpPr/>
            <p:nvPr/>
          </p:nvSpPr>
          <p:spPr>
            <a:xfrm>
              <a:off x="475488" y="1712239"/>
              <a:ext cx="1965960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5" name="Shape 3"/>
            <p:cNvSpPr/>
            <p:nvPr/>
          </p:nvSpPr>
          <p:spPr>
            <a:xfrm>
              <a:off x="475488" y="1712239"/>
              <a:ext cx="1965960" cy="73152"/>
            </a:xfrm>
            <a:prstGeom prst="rect">
              <a:avLst/>
            </a:prstGeom>
            <a:solidFill>
              <a:srgbClr val="B23A48"/>
            </a:solidFill>
            <a:ln w="12700">
              <a:solidFill>
                <a:srgbClr val="B23A48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6" name="Text 4"/>
            <p:cNvSpPr/>
            <p:nvPr/>
          </p:nvSpPr>
          <p:spPr>
            <a:xfrm>
              <a:off x="612648" y="1849399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kern="0" spc="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LIFETIME LOST ARR</a:t>
              </a:r>
              <a:endParaRPr lang="en-US" sz="7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85216" y="2096287"/>
              <a:ext cx="17830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B23A4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$14.1M</a:t>
              </a:r>
              <a:endParaRPr lang="en-US" sz="3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12648" y="2672359"/>
              <a:ext cx="1737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From cancelled subscriptions,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2023 to 2024.</a:t>
              </a:r>
              <a:endParaRPr lang="en-US" sz="9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3AC74B9-ABAF-E69C-3A9B-71C01E8178A2}"/>
              </a:ext>
            </a:extLst>
          </p:cNvPr>
          <p:cNvGrpSpPr/>
          <p:nvPr/>
        </p:nvGrpSpPr>
        <p:grpSpPr>
          <a:xfrm>
            <a:off x="6988168" y="1709771"/>
            <a:ext cx="1965960" cy="1298448"/>
            <a:chOff x="2642616" y="1712239"/>
            <a:chExt cx="1965960" cy="1298448"/>
          </a:xfrm>
        </p:grpSpPr>
        <p:sp>
          <p:nvSpPr>
            <p:cNvPr id="9" name="Shape 7"/>
            <p:cNvSpPr/>
            <p:nvPr/>
          </p:nvSpPr>
          <p:spPr>
            <a:xfrm>
              <a:off x="2642616" y="1712239"/>
              <a:ext cx="1965960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accent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10" name="Shape 8"/>
            <p:cNvSpPr/>
            <p:nvPr/>
          </p:nvSpPr>
          <p:spPr>
            <a:xfrm>
              <a:off x="2642616" y="1712239"/>
              <a:ext cx="1965960" cy="73152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DE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779776" y="1849399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kern="0" spc="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BEST IN CLASS CHURN RATE</a:t>
              </a:r>
              <a:endParaRPr lang="en-US" sz="7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752344" y="2096287"/>
              <a:ext cx="17830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3600" b="1" dirty="0">
                  <a:solidFill>
                    <a:schemeClr val="accent6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&lt; 10 %</a:t>
              </a:r>
              <a:endParaRPr lang="en-US" sz="3600" dirty="0">
                <a:solidFill>
                  <a:schemeClr val="accent6"/>
                </a:solidFill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2779776" y="2672359"/>
              <a:ext cx="1737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SMB benchmark </a:t>
              </a:r>
              <a:b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 active ARR.</a:t>
              </a:r>
              <a:endParaRPr lang="en-US" sz="9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2E64B02-72FB-0E44-DCE8-15F1D5704F2F}"/>
              </a:ext>
            </a:extLst>
          </p:cNvPr>
          <p:cNvGrpSpPr/>
          <p:nvPr/>
        </p:nvGrpSpPr>
        <p:grpSpPr>
          <a:xfrm>
            <a:off x="4817274" y="1709771"/>
            <a:ext cx="1965960" cy="1298448"/>
            <a:chOff x="4809744" y="1712239"/>
            <a:chExt cx="1965960" cy="1298448"/>
          </a:xfrm>
        </p:grpSpPr>
        <p:sp>
          <p:nvSpPr>
            <p:cNvPr id="14" name="Shape 12"/>
            <p:cNvSpPr/>
            <p:nvPr/>
          </p:nvSpPr>
          <p:spPr>
            <a:xfrm>
              <a:off x="4809744" y="1712239"/>
              <a:ext cx="1965960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15" name="Shape 13"/>
            <p:cNvSpPr/>
            <p:nvPr/>
          </p:nvSpPr>
          <p:spPr>
            <a:xfrm>
              <a:off x="4809744" y="1712239"/>
              <a:ext cx="1965960" cy="73152"/>
            </a:xfrm>
            <a:prstGeom prst="rect">
              <a:avLst/>
            </a:prstGeom>
            <a:solidFill>
              <a:srgbClr val="2E74B5"/>
            </a:solidFill>
            <a:ln w="12700">
              <a:solidFill>
                <a:srgbClr val="2E74B5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6" name="Text 14"/>
            <p:cNvSpPr/>
            <p:nvPr/>
          </p:nvSpPr>
          <p:spPr>
            <a:xfrm>
              <a:off x="4946904" y="1849399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kern="0" spc="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ANNUAL CHURN RATE</a:t>
              </a:r>
              <a:endParaRPr lang="en-US" sz="7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919472" y="2096287"/>
              <a:ext cx="17830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2E74B5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12.1%</a:t>
              </a:r>
              <a:endParaRPr lang="en-US" sz="3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946904" y="2672359"/>
              <a:ext cx="1737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Annualised from 22% lifetime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cancellation over 2 years.</a:t>
              </a:r>
              <a:endParaRPr lang="en-US" sz="9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EE00724-9BB4-9D40-2636-CB4BBA1C5660}"/>
              </a:ext>
            </a:extLst>
          </p:cNvPr>
          <p:cNvGrpSpPr/>
          <p:nvPr/>
        </p:nvGrpSpPr>
        <p:grpSpPr>
          <a:xfrm>
            <a:off x="2646381" y="1709771"/>
            <a:ext cx="1965960" cy="1298448"/>
            <a:chOff x="6976872" y="1712239"/>
            <a:chExt cx="1965960" cy="1298448"/>
          </a:xfrm>
        </p:grpSpPr>
        <p:sp>
          <p:nvSpPr>
            <p:cNvPr id="19" name="Shape 17"/>
            <p:cNvSpPr/>
            <p:nvPr/>
          </p:nvSpPr>
          <p:spPr>
            <a:xfrm>
              <a:off x="6976872" y="1712239"/>
              <a:ext cx="1965960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20" name="Shape 18"/>
            <p:cNvSpPr/>
            <p:nvPr/>
          </p:nvSpPr>
          <p:spPr>
            <a:xfrm>
              <a:off x="6976872" y="1712239"/>
              <a:ext cx="1965960" cy="73152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1E293B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1" name="Text 19"/>
            <p:cNvSpPr/>
            <p:nvPr/>
          </p:nvSpPr>
          <p:spPr>
            <a:xfrm>
              <a:off x="7114032" y="1849399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 kern="0" spc="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ACCOUNTS CHURNED</a:t>
              </a:r>
              <a:endParaRPr lang="en-US" sz="7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7086600" y="2096287"/>
              <a:ext cx="17830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110</a:t>
              </a:r>
              <a:endParaRPr lang="en-US" sz="3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7114032" y="2672359"/>
              <a:ext cx="1737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 of 500 customers.</a:t>
              </a:r>
              <a:endParaRPr lang="en-US" sz="900" dirty="0"/>
            </a:p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22% of the base has left.</a:t>
              </a:r>
              <a:endParaRPr lang="en-US" sz="9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4EC81B-C92C-A9A3-7200-F76D6B0AA588}"/>
              </a:ext>
            </a:extLst>
          </p:cNvPr>
          <p:cNvGrpSpPr/>
          <p:nvPr/>
        </p:nvGrpSpPr>
        <p:grpSpPr>
          <a:xfrm>
            <a:off x="475488" y="3223813"/>
            <a:ext cx="8485632" cy="1211027"/>
            <a:chOff x="475488" y="3319272"/>
            <a:chExt cx="8485632" cy="806983"/>
          </a:xfrm>
        </p:grpSpPr>
        <p:sp>
          <p:nvSpPr>
            <p:cNvPr id="24" name="Shape 22"/>
            <p:cNvSpPr/>
            <p:nvPr/>
          </p:nvSpPr>
          <p:spPr>
            <a:xfrm>
              <a:off x="475488" y="3321583"/>
              <a:ext cx="8485632" cy="804672"/>
            </a:xfrm>
            <a:prstGeom prst="rect">
              <a:avLst/>
            </a:prstGeom>
            <a:solidFill>
              <a:srgbClr val="163A5A"/>
            </a:solidFill>
            <a:ln w="12700">
              <a:solidFill>
                <a:srgbClr val="163A5A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5" name="Text 23"/>
            <p:cNvSpPr/>
            <p:nvPr/>
          </p:nvSpPr>
          <p:spPr>
            <a:xfrm>
              <a:off x="658368" y="3319272"/>
              <a:ext cx="8193024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Insights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53% of all churn happens in the first 90 days after signup, often before teams notice a customer is at risk.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DevTools with 31% highest churn rate.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b="1" dirty="0" err="1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CyberSecurity</a:t>
              </a: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with $3.3m highest ARR churn.</a:t>
              </a:r>
            </a:p>
          </p:txBody>
        </p:sp>
      </p:grpSp>
      <p:sp>
        <p:nvSpPr>
          <p:cNvPr id="28" name="Text 26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DATA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signals prevent churn.  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234440"/>
            <a:ext cx="4005072" cy="30663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663440" y="1234440"/>
            <a:ext cx="4251960" cy="30663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475488" y="1234440"/>
            <a:ext cx="4005072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STRONG SIGNALS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251960" cy="347472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4782312" y="12801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WEAK OR ABSENT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1719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accounts (under 90 days)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019077"/>
            <a:ext cx="3697592" cy="34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of churned accounts left in their first 90 days. Rule: flag every account under 3 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old.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3547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DevTools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7" y="3847312"/>
            <a:ext cx="36975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logo churn, main reason is budget and support. Both are addressable with better signaling.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7190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drop before cancellation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019077"/>
            <a:ext cx="3977640" cy="329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usage ratio 30–90 days before churn: 1.02. Only 18% showed a 50%+ drop.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6334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spike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932912"/>
            <a:ext cx="3977640" cy="346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tickets in 60 days before churn: 0.3. Same as retained customers. No spike.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35478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tier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847312"/>
            <a:ext cx="3977640" cy="346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Basic, Pro, and Enterprise all churn at 9–10% per subscription. Plan is not a signal.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1AD995C-C357-2876-5ED5-374F5C1CF180}"/>
              </a:ext>
            </a:extLst>
          </p:cNvPr>
          <p:cNvSpPr/>
          <p:nvPr/>
        </p:nvSpPr>
        <p:spPr>
          <a:xfrm>
            <a:off x="658368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Cybersecurity</a:t>
            </a:r>
            <a:endParaRPr lang="en-US" sz="12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1678ED32-EB26-DBB1-8E11-518D26A94C81}"/>
              </a:ext>
            </a:extLst>
          </p:cNvPr>
          <p:cNvSpPr/>
          <p:nvPr/>
        </p:nvSpPr>
        <p:spPr>
          <a:xfrm>
            <a:off x="658368" y="2932912"/>
            <a:ext cx="369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$3.3m ARR churn, high sales tickets, main reasons are ‘unknown’ and budget. Customer Success needs to know who to focus. </a:t>
            </a:r>
            <a:endParaRPr lang="en-US" sz="11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3C0BA8D-7D6E-C161-A74B-2BCCA0415B4E}"/>
              </a:ext>
            </a:extLst>
          </p:cNvPr>
          <p:cNvGrpSpPr/>
          <p:nvPr/>
        </p:nvGrpSpPr>
        <p:grpSpPr>
          <a:xfrm>
            <a:off x="475488" y="4425696"/>
            <a:ext cx="8439911" cy="320040"/>
            <a:chOff x="475488" y="4189407"/>
            <a:chExt cx="8439911" cy="320040"/>
          </a:xfrm>
        </p:grpSpPr>
        <p:sp>
          <p:nvSpPr>
            <p:cNvPr id="25" name="Shape 49">
              <a:extLst>
                <a:ext uri="{FF2B5EF4-FFF2-40B4-BE49-F238E27FC236}">
                  <a16:creationId xmlns:a16="http://schemas.microsoft.com/office/drawing/2014/main" id="{3782AF40-1FD6-8353-F2BA-02F6C199CDE4}"/>
                </a:ext>
              </a:extLst>
            </p:cNvPr>
            <p:cNvSpPr/>
            <p:nvPr/>
          </p:nvSpPr>
          <p:spPr>
            <a:xfrm>
              <a:off x="475488" y="4189407"/>
              <a:ext cx="8439911" cy="320040"/>
            </a:xfrm>
            <a:prstGeom prst="rect">
              <a:avLst/>
            </a:prstGeom>
            <a:solidFill>
              <a:srgbClr val="1F4E79"/>
            </a:solidFill>
            <a:ln w="12700">
              <a:solidFill>
                <a:srgbClr val="1F4E79"/>
              </a:solidFill>
              <a:prstDash val="solid"/>
            </a:ln>
          </p:spPr>
          <p:txBody>
            <a:bodyPr/>
            <a:lstStyle/>
            <a:p>
              <a:pPr algn="ctr"/>
              <a:endParaRPr lang="en-DE"/>
            </a:p>
          </p:txBody>
        </p:sp>
        <p:sp>
          <p:nvSpPr>
            <p:cNvPr id="26" name="Text 50">
              <a:extLst>
                <a:ext uri="{FF2B5EF4-FFF2-40B4-BE49-F238E27FC236}">
                  <a16:creationId xmlns:a16="http://schemas.microsoft.com/office/drawing/2014/main" id="{2BEBC78D-A740-2A40-E172-55BAC5592392}"/>
                </a:ext>
              </a:extLst>
            </p:cNvPr>
            <p:cNvSpPr/>
            <p:nvPr/>
          </p:nvSpPr>
          <p:spPr>
            <a:xfrm>
              <a:off x="585216" y="4257987"/>
              <a:ext cx="8330183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IMPORTANT</a:t>
              </a: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: Need </a:t>
              </a: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more recent data to find stronger signals.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IMPLEMENTATION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 to reducing churn.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463040"/>
            <a:ext cx="2011680" cy="256634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75488" y="1463040"/>
            <a:ext cx="2011680" cy="4572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603504" y="15179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17465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3504" y="2029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audit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4088" y="242316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12 months of usage, billing, and ticket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5216" y="251460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704088" y="292608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rule-based health score as a baseline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" y="301752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704088" y="342900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decision before spending more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5216" y="352044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2496312" y="2542032"/>
            <a:ext cx="1371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2651760" y="1463040"/>
            <a:ext cx="2011680" cy="256634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2651760" y="1463040"/>
            <a:ext cx="2011680" cy="4572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2779776" y="15179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79776" y="17465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79776" y="2029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880360" y="242316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time-windowed features (7 / 30 / 90-day usage)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61488" y="251460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2880360" y="292608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logistic regression. Test on the last 6 months of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61488" y="301752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2880360" y="3504364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team rates weekly alerts and the model must beat rules to proceed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61488" y="352044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Shape 25"/>
          <p:cNvSpPr/>
          <p:nvPr/>
        </p:nvSpPr>
        <p:spPr>
          <a:xfrm>
            <a:off x="4672584" y="2542032"/>
            <a:ext cx="1371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4828032" y="1463040"/>
            <a:ext cx="2011680" cy="256634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4828032" y="1463040"/>
            <a:ext cx="2011680" cy="4572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4956048" y="15179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56048" y="17465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56048" y="2029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056632" y="242316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Slack alerts: top 20 at-risk accounts each Monday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37760" y="251460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5" name="Text 33"/>
          <p:cNvSpPr/>
          <p:nvPr/>
        </p:nvSpPr>
        <p:spPr>
          <a:xfrm>
            <a:off x="5056632" y="292608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/ HTML dashboard for Cleo and CS lead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37760" y="301752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Text 35"/>
          <p:cNvSpPr/>
          <p:nvPr/>
        </p:nvSpPr>
        <p:spPr>
          <a:xfrm>
            <a:off x="5056632" y="3429000"/>
            <a:ext cx="1709928" cy="588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explains each alert in plain English and enriches with value add information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37760" y="352044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Shape 37"/>
          <p:cNvSpPr/>
          <p:nvPr/>
        </p:nvSpPr>
        <p:spPr>
          <a:xfrm>
            <a:off x="6848856" y="2542032"/>
            <a:ext cx="1371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0" name="Shape 38"/>
          <p:cNvSpPr/>
          <p:nvPr/>
        </p:nvSpPr>
        <p:spPr>
          <a:xfrm>
            <a:off x="7004304" y="1463040"/>
            <a:ext cx="2011680" cy="256634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1" name="Shape 39"/>
          <p:cNvSpPr/>
          <p:nvPr/>
        </p:nvSpPr>
        <p:spPr>
          <a:xfrm>
            <a:off x="7004304" y="1463040"/>
            <a:ext cx="201168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2" name="Text 40"/>
          <p:cNvSpPr/>
          <p:nvPr/>
        </p:nvSpPr>
        <p:spPr>
          <a:xfrm>
            <a:off x="7132320" y="15179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17465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32320" y="2029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7232904" y="242316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retraining (drift from product changes)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114032" y="2514600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7" name="Text 45"/>
          <p:cNvSpPr/>
          <p:nvPr/>
        </p:nvSpPr>
        <p:spPr>
          <a:xfrm>
            <a:off x="7232904" y="292608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feature drift detection and flag shifts &gt; 20%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114032" y="3017520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9" name="Text 47"/>
          <p:cNvSpPr/>
          <p:nvPr/>
        </p:nvSpPr>
        <p:spPr>
          <a:xfrm>
            <a:off x="7232904" y="3429000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lift review: did alerts improve retention?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114032" y="3520440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3995230-EFD8-C34F-17F6-6276EAFACEDE}"/>
              </a:ext>
            </a:extLst>
          </p:cNvPr>
          <p:cNvGrpSpPr/>
          <p:nvPr/>
        </p:nvGrpSpPr>
        <p:grpSpPr>
          <a:xfrm>
            <a:off x="475488" y="4189407"/>
            <a:ext cx="8540496" cy="320040"/>
            <a:chOff x="475488" y="4189407"/>
            <a:chExt cx="8540496" cy="320040"/>
          </a:xfrm>
        </p:grpSpPr>
        <p:sp>
          <p:nvSpPr>
            <p:cNvPr id="51" name="Shape 49"/>
            <p:cNvSpPr/>
            <p:nvPr/>
          </p:nvSpPr>
          <p:spPr>
            <a:xfrm>
              <a:off x="475488" y="4189407"/>
              <a:ext cx="8540496" cy="320040"/>
            </a:xfrm>
            <a:prstGeom prst="rect">
              <a:avLst/>
            </a:prstGeom>
            <a:solidFill>
              <a:srgbClr val="1F4E79"/>
            </a:solidFill>
            <a:ln w="12700">
              <a:solidFill>
                <a:srgbClr val="1F4E79"/>
              </a:solidFill>
              <a:prstDash val="solid"/>
            </a:ln>
          </p:spPr>
          <p:txBody>
            <a:bodyPr/>
            <a:lstStyle/>
            <a:p>
              <a:pPr algn="ctr"/>
              <a:endParaRPr lang="en-DE"/>
            </a:p>
          </p:txBody>
        </p:sp>
        <p:sp>
          <p:nvSpPr>
            <p:cNvPr id="52" name="Text 50"/>
            <p:cNvSpPr/>
            <p:nvPr/>
          </p:nvSpPr>
          <p:spPr>
            <a:xfrm>
              <a:off x="585216" y="4257987"/>
              <a:ext cx="8330183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Upfront: $8,200 – $12,200   ·   Monthly: $1,310 – $2,680   ·   Total year 1: under $45K</a:t>
              </a:r>
              <a:endParaRPr lang="en-US" sz="1100" dirty="0"/>
            </a:p>
          </p:txBody>
        </p:sp>
      </p:grpSp>
      <p:sp>
        <p:nvSpPr>
          <p:cNvPr id="53" name="Text 51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9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NEXT STEP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Crawl. Walk. Run.</a:t>
            </a:r>
            <a:endParaRPr lang="en-US" sz="3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3A2DDFE-28BE-5294-D1B4-64EA4B9A15A2}"/>
              </a:ext>
            </a:extLst>
          </p:cNvPr>
          <p:cNvGrpSpPr/>
          <p:nvPr/>
        </p:nvGrpSpPr>
        <p:grpSpPr>
          <a:xfrm>
            <a:off x="475488" y="1325880"/>
            <a:ext cx="2651760" cy="2377440"/>
            <a:chOff x="475488" y="1325880"/>
            <a:chExt cx="2651760" cy="2377440"/>
          </a:xfrm>
        </p:grpSpPr>
        <p:sp>
          <p:nvSpPr>
            <p:cNvPr id="4" name="Shape 2"/>
            <p:cNvSpPr/>
            <p:nvPr/>
          </p:nvSpPr>
          <p:spPr>
            <a:xfrm>
              <a:off x="475488" y="1325880"/>
              <a:ext cx="2651760" cy="2377440"/>
            </a:xfrm>
            <a:prstGeom prst="rect">
              <a:avLst/>
            </a:prstGeom>
            <a:solidFill>
              <a:srgbClr val="163A5A"/>
            </a:solidFill>
            <a:ln w="12700">
              <a:solidFill>
                <a:srgbClr val="2E74B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5" name="Text 3"/>
            <p:cNvSpPr/>
            <p:nvPr/>
          </p:nvSpPr>
          <p:spPr>
            <a:xfrm>
              <a:off x="640080" y="1444752"/>
              <a:ext cx="5943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600" b="1" dirty="0">
                  <a:solidFill>
                    <a:srgbClr val="2E74B5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01</a:t>
              </a:r>
              <a:endParaRPr lang="en-US" sz="26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40080" y="1938528"/>
              <a:ext cx="2331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AI is great. </a:t>
              </a:r>
              <a:br>
                <a:rPr lang="en-US" sz="14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</a:br>
              <a:r>
                <a:rPr lang="en-US" sz="14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Real Data is better.</a:t>
              </a:r>
              <a:endParaRPr lang="en-US" sz="1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40080" y="2286000"/>
              <a:ext cx="23317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dirty="0">
                  <a:solidFill>
                    <a:srgbClr val="B0BEC5"/>
                  </a:solidFill>
                  <a:latin typeface="Calibri"/>
                  <a:ea typeface="Calibri"/>
                  <a:cs typeface="Calibri"/>
                </a:rPr>
                <a:t>AI to cut churn by 30% sounds great but does not work according to the data. </a:t>
              </a:r>
              <a:r>
                <a:rPr lang="en-US" sz="1100">
                  <a:solidFill>
                    <a:srgbClr val="B0BEC5"/>
                  </a:solidFill>
                  <a:latin typeface="Calibri"/>
                  <a:ea typeface="Calibri"/>
                  <a:cs typeface="Calibri"/>
                </a:rPr>
                <a:t>The approach needs to focus</a:t>
              </a:r>
              <a:r>
                <a:rPr lang="en-US" sz="1100" dirty="0">
                  <a:solidFill>
                    <a:srgbClr val="B0BEC5"/>
                  </a:solidFill>
                  <a:latin typeface="Calibri"/>
                  <a:ea typeface="Calibri"/>
                  <a:cs typeface="Calibri"/>
                </a:rPr>
                <a:t> even more on signaling and CS prepping.</a:t>
              </a:r>
              <a:endParaRPr lang="en-US" sz="1100" dirty="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F8D96F5-4306-B40B-B99A-EC09BAC59432}"/>
              </a:ext>
            </a:extLst>
          </p:cNvPr>
          <p:cNvGrpSpPr/>
          <p:nvPr/>
        </p:nvGrpSpPr>
        <p:grpSpPr>
          <a:xfrm>
            <a:off x="3310128" y="1325880"/>
            <a:ext cx="2651760" cy="2377440"/>
            <a:chOff x="3310128" y="1325880"/>
            <a:chExt cx="2651760" cy="2377440"/>
          </a:xfrm>
        </p:grpSpPr>
        <p:sp>
          <p:nvSpPr>
            <p:cNvPr id="8" name="Shape 6"/>
            <p:cNvSpPr/>
            <p:nvPr/>
          </p:nvSpPr>
          <p:spPr>
            <a:xfrm>
              <a:off x="3310128" y="1325880"/>
              <a:ext cx="2651760" cy="2377440"/>
            </a:xfrm>
            <a:prstGeom prst="rect">
              <a:avLst/>
            </a:prstGeom>
            <a:solidFill>
              <a:srgbClr val="163A5A"/>
            </a:solidFill>
            <a:ln w="12700">
              <a:solidFill>
                <a:srgbClr val="2E74B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9" name="Text 7"/>
            <p:cNvSpPr/>
            <p:nvPr/>
          </p:nvSpPr>
          <p:spPr>
            <a:xfrm>
              <a:off x="3474720" y="1444752"/>
              <a:ext cx="5943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600" b="1" dirty="0">
                  <a:solidFill>
                    <a:srgbClr val="2E74B5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02</a:t>
              </a:r>
              <a:endParaRPr lang="en-US" sz="2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474720" y="1938528"/>
              <a:ext cx="2331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Focus, Focus, Focus.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474720" y="2286000"/>
              <a:ext cx="23317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data tells a clear story. Customer Success needs clear signals to help with root cause analysis, budget justification and support escalations.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59D4F2-E0F6-7A69-BD7B-3A3F9711F8C4}"/>
              </a:ext>
            </a:extLst>
          </p:cNvPr>
          <p:cNvGrpSpPr/>
          <p:nvPr/>
        </p:nvGrpSpPr>
        <p:grpSpPr>
          <a:xfrm>
            <a:off x="475488" y="3858768"/>
            <a:ext cx="8321040" cy="713232"/>
            <a:chOff x="475488" y="3858768"/>
            <a:chExt cx="8321040" cy="713232"/>
          </a:xfrm>
        </p:grpSpPr>
        <p:sp>
          <p:nvSpPr>
            <p:cNvPr id="16" name="Shape 14"/>
            <p:cNvSpPr/>
            <p:nvPr/>
          </p:nvSpPr>
          <p:spPr>
            <a:xfrm>
              <a:off x="475488" y="3858768"/>
              <a:ext cx="8321040" cy="713232"/>
            </a:xfrm>
            <a:prstGeom prst="rect">
              <a:avLst/>
            </a:prstGeom>
            <a:solidFill>
              <a:srgbClr val="B23A48"/>
            </a:solidFill>
            <a:ln w="12700">
              <a:solidFill>
                <a:srgbClr val="B23A48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7" name="Text 15"/>
            <p:cNvSpPr/>
            <p:nvPr/>
          </p:nvSpPr>
          <p:spPr>
            <a:xfrm>
              <a:off x="658368" y="3913632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kern="0" spc="300" dirty="0">
                  <a:solidFill>
                    <a:srgbClr val="FFCD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ASK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58368" y="4114800"/>
              <a:ext cx="8138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Approve the 6-week pilot. $8–12K upfront. Test 6 months. Decide</a:t>
              </a:r>
              <a:r>
                <a:rPr lang="en-US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platform.</a:t>
              </a:r>
              <a:endParaRPr lang="en-US" sz="18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5F84079-1CD0-7FDC-F971-9CB6C1F190B3}"/>
              </a:ext>
            </a:extLst>
          </p:cNvPr>
          <p:cNvGrpSpPr/>
          <p:nvPr/>
        </p:nvGrpSpPr>
        <p:grpSpPr>
          <a:xfrm>
            <a:off x="6144768" y="1325880"/>
            <a:ext cx="2651760" cy="2377440"/>
            <a:chOff x="6144768" y="1325880"/>
            <a:chExt cx="2651760" cy="2377440"/>
          </a:xfrm>
        </p:grpSpPr>
        <p:sp>
          <p:nvSpPr>
            <p:cNvPr id="12" name="Shape 10"/>
            <p:cNvSpPr/>
            <p:nvPr/>
          </p:nvSpPr>
          <p:spPr>
            <a:xfrm>
              <a:off x="6144768" y="1325880"/>
              <a:ext cx="2651760" cy="2377440"/>
            </a:xfrm>
            <a:prstGeom prst="rect">
              <a:avLst/>
            </a:prstGeom>
            <a:solidFill>
              <a:srgbClr val="163A5A"/>
            </a:solidFill>
            <a:ln w="12700">
              <a:solidFill>
                <a:srgbClr val="2E74B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13" name="Text 11"/>
            <p:cNvSpPr/>
            <p:nvPr/>
          </p:nvSpPr>
          <p:spPr>
            <a:xfrm>
              <a:off x="6309360" y="1444752"/>
              <a:ext cx="5943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600" b="1" dirty="0">
                  <a:solidFill>
                    <a:srgbClr val="2E74B5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03</a:t>
              </a:r>
              <a:endParaRPr lang="en-US" sz="2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309360" y="1938528"/>
              <a:ext cx="2331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Iteration is key to success.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309360" y="2286000"/>
              <a:ext cx="233172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$8–12K internal pilot with a go/no-go at Phase 1 protects you from an uninformed decision that locks you into $300k+ investment.</a:t>
              </a:r>
              <a:endParaRPr lang="en-US" sz="11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598164" y="2985516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37474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07</a:t>
              </a:r>
              <a:endParaRPr lang="en-US" sz="1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THE RECOMMENDATION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first. Platform later - if it is worth 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508760"/>
            <a:ext cx="2633472" cy="2880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4008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only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79" y="2487168"/>
            <a:ext cx="240457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hand-written heuristics.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accounts with tenure &lt; 90 days,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&amp; Cybersecurity. Create discovery &amp; messaging around budgeting.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$2–4K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&lt; 1 month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0128" y="1508760"/>
            <a:ext cx="2633472" cy="2880360"/>
          </a:xfrm>
          <a:prstGeom prst="rect">
            <a:avLst/>
          </a:prstGeom>
          <a:solidFill>
            <a:srgbClr val="163A5A"/>
          </a:solidFill>
          <a:ln w="25400">
            <a:solidFill>
              <a:srgbClr val="16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347472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90C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+ ML pilot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48716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rule-based health score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first. Only add a ML model if it provides additional value.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34747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$8–12K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3703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&lt; 3 months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4023360"/>
            <a:ext cx="2286000" cy="25603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3474720" y="40416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44768" y="1508760"/>
            <a:ext cx="2633472" cy="2880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630936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2103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platform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248716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ChurnZero, Pecan, or similar.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$30–100K per year. Hard to undo.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for 500 customers.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4747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$30–100K/yr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3703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3–6 months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RISKS AND HOW WE MANAGE THEM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risks. Four mitigations. Nothing hidden.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261872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475488" y="1261872"/>
            <a:ext cx="91440" cy="155448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676656" y="13898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76656" y="1581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is weaker than expected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6656" y="19933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6656" y="21945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health score becomes the deliverable.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ends with useful output either way.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4754880" y="1261872"/>
            <a:ext cx="91440" cy="155448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4956048" y="13898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56048" y="1581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can't dedicate full-time staff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6048" y="19933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56048" y="21945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FTE for 8 weeks. CS team 2 hours per week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rate alerts. No new hires required.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" y="2953512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475488" y="2953512"/>
            <a:ext cx="91440" cy="155448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676656" y="3081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6656" y="3273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drifts when product changes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" y="3685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6656" y="38862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retraining. Weekly drift detection.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on the team can read the drift report.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4754880" y="2953512"/>
            <a:ext cx="91440" cy="155448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4956048" y="3081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56048" y="3273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and GDPR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56048" y="3685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56048" y="38862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stays in the EU.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customer-identifying data passed to LLM APIs.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875</Words>
  <Application>Microsoft Office PowerPoint</Application>
  <PresentationFormat>On-screen Show (16:9)</PresentationFormat>
  <Paragraphs>141</Paragraphs>
  <Slides>7</Slides>
  <Notes>7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Ravenstack Churn Prediction Proposal</dc:title>
  <dc:subject>PptxGenJS Presentation</dc:subject>
  <dc:creator>Markus von Aschoff</dc:creator>
  <cp:lastModifiedBy>Markus von Aschoff</cp:lastModifiedBy>
  <cp:revision>28</cp:revision>
  <dcterms:created xsi:type="dcterms:W3CDTF">2026-06-08T09:06:44Z</dcterms:created>
  <dcterms:modified xsi:type="dcterms:W3CDTF">2026-06-15T07:32:55Z</dcterms:modified>
</cp:coreProperties>
</file>