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78"/>
    <p:restoredTop sz="94610"/>
  </p:normalViewPr>
  <p:slideViewPr>
    <p:cSldViewPr snapToGrid="0" snapToObjects="1">
      <p:cViewPr varScale="1">
        <p:scale>
          <a:sx n="253" d="100"/>
          <a:sy n="253" d="100"/>
        </p:scale>
        <p:origin x="53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29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Ravenstack is losing </a:t>
            </a:r>
            <a:endParaRPr lang="en-US" sz="4600" dirty="0"/>
          </a:p>
          <a:p>
            <a:pPr marL="0" indent="0"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$14.1M to churn.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94360" y="31089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signals </a:t>
            </a:r>
            <a:r>
              <a:rPr lang="en-US" sz="150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</a:t>
            </a: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predict who leaves before they cancel.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the evidence shows and what it doesn’t. 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3977640"/>
            <a:ext cx="4114800" cy="0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59436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Markus von Aschoff  ·  markus@vonaschoff.de  ·  June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3816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what two years of your data shows.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712239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75488" y="1712239"/>
            <a:ext cx="1965960" cy="7315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12648" y="184939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LOST ARR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5216" y="2096287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$14.1M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12648" y="2672359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cancelled subscriptions,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to 2024.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42616" y="1712239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2642616" y="1712239"/>
            <a:ext cx="1965960" cy="7315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2779776" y="184939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AT RISK — NEXT 12 MO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52344" y="2096287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$47.2M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779776" y="2672359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SMB benchmark churn of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/ month on active ARR.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9744" y="1712239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4809744" y="1712239"/>
            <a:ext cx="1965960" cy="731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946904" y="184939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CHURN RATE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919472" y="2096287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946904" y="2672359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from 22% lifetime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over 2 years.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76872" y="1712239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6976872" y="1712239"/>
            <a:ext cx="1965960" cy="73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7114032" y="184939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CHURNED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086600" y="2096287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114032" y="2672359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500 customers.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the base has left.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" y="3175279"/>
            <a:ext cx="8485632" cy="804672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658368" y="3175279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of all churn happens in the first 90 days after signup — before most teams notice a customer is at risk.</a:t>
            </a:r>
          </a:p>
          <a:p>
            <a:pPr marL="0" indent="0" algn="l">
              <a:buNone/>
            </a:pPr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DevTools is the hardest-hit industry: 31% churn rate — 2× Cybersecurity.</a:t>
            </a:r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EVIDENCE VS HYPE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signals predict churn. Three don't.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234440"/>
            <a:ext cx="400507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425196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75488" y="1234440"/>
            <a:ext cx="400507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SIGNALS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251960" cy="34747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4782312" y="1280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WEAK OR ABSENT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(under 90 days)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039112"/>
            <a:ext cx="3566160" cy="34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of churned accounts left in their first 90 days. Rule: flag every account under 3 months old.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DevTools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1272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churn vs 16% for Cybersecurity. Worth separate onboarding tracks.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7190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drop before cancellation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019077"/>
            <a:ext cx="3977640" cy="32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usage ratio 30–90 days before churn: 1.02. Only 18% showed a 50%+ drop. The classic signal is absent here.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6334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spike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907792"/>
            <a:ext cx="3977640" cy="346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tickets in 60 days before churn: 0.3. Same as retained customers. No spike.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547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822192"/>
            <a:ext cx="3977640" cy="346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Basic, Pro, and Enterprise all churn at 9–10% per subscription. Plan is not a signal.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RECOMMENDATION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first. Platform later — if the data earns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508760"/>
            <a:ext cx="2633472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only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hand-written heuristics.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accounts with tenure &lt; 90 days,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industry, or support spikes.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$2–4K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&lt; 1 month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1508760"/>
            <a:ext cx="2633472" cy="2880360"/>
          </a:xfrm>
          <a:prstGeom prst="rect">
            <a:avLst/>
          </a:prstGeom>
          <a:solidFill>
            <a:srgbClr val="163A5A"/>
          </a:solidFill>
          <a:ln w="25400">
            <a:solidFill>
              <a:srgbClr val="16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347472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0C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+ ML pilot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4871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rule-based health score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first. Only add a ML model if it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outranks the rules.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4747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$8–12K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3703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&lt; 3 months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4023360"/>
            <a:ext cx="2286000" cy="25603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3474720" y="40416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44768" y="1508760"/>
            <a:ext cx="2633472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630936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platform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24871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ChurnZero, Pecan, or similar.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$30–100K per year. Hard to undo.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500 customers.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747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$30–100K/yr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703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3–6 months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switch: if ML doesn't beat the rules, we ship the rules and stop. No sunk cost, no locked-in vendor.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IMPLEMENTATION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phases. Ten to fourteen weeks. Live alerts.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463040"/>
            <a:ext cx="20116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75488" y="1463040"/>
            <a:ext cx="2011680" cy="4572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03504" y="15179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1746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audit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4088" y="242316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12 months of usage, billing, and ticket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" y="251460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704088" y="29260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rule-based health score </a:t>
            </a: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baseline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" y="301752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704088" y="342900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decision before spending more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" y="352044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2496312" y="254203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2651760" y="1463040"/>
            <a:ext cx="20116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2651760" y="1463040"/>
            <a:ext cx="2011680" cy="4572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2779776" y="15179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79776" y="1746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79776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880360" y="242316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time-windowed features (7 / 30 / 90-day usage)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61488" y="251460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2880360" y="29260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regression. Test on the last 6 months of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61488" y="301752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2880360" y="342900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rates weekly alerts — model must beat rules to proceed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61488" y="352044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4672584" y="254203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4828032" y="1463040"/>
            <a:ext cx="20116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828032" y="1463040"/>
            <a:ext cx="2011680" cy="4572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956048" y="15179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56048" y="1746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56048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56632" y="242316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Slack alerts: top 20 at-risk accounts each Monday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37760" y="251460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5056632" y="29260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for Chleo and CS lead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37760" y="301752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5056632" y="342900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explains each alert in plain English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37760" y="352044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6848856" y="254203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Shape 38"/>
          <p:cNvSpPr/>
          <p:nvPr/>
        </p:nvSpPr>
        <p:spPr>
          <a:xfrm>
            <a:off x="7004304" y="1463040"/>
            <a:ext cx="20116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1" name="Shape 39"/>
          <p:cNvSpPr/>
          <p:nvPr/>
        </p:nvSpPr>
        <p:spPr>
          <a:xfrm>
            <a:off x="7004304" y="1463040"/>
            <a:ext cx="201168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Text 40"/>
          <p:cNvSpPr/>
          <p:nvPr/>
        </p:nvSpPr>
        <p:spPr>
          <a:xfrm>
            <a:off x="7132320" y="15179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1746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232904" y="242316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retraining (drift from product changes)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114032" y="2514600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7" name="Text 45"/>
          <p:cNvSpPr/>
          <p:nvPr/>
        </p:nvSpPr>
        <p:spPr>
          <a:xfrm>
            <a:off x="7232904" y="29260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feature drift detection — flag shifts &gt; 20%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114032" y="3017520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9" name="Text 47"/>
          <p:cNvSpPr/>
          <p:nvPr/>
        </p:nvSpPr>
        <p:spPr>
          <a:xfrm>
            <a:off x="7232904" y="342900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lift review: did alerts improve retention?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14032" y="3520440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1" name="Shape 49"/>
          <p:cNvSpPr/>
          <p:nvPr/>
        </p:nvSpPr>
        <p:spPr>
          <a:xfrm>
            <a:off x="475488" y="4645152"/>
            <a:ext cx="841248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2" name="Text 50"/>
          <p:cNvSpPr/>
          <p:nvPr/>
        </p:nvSpPr>
        <p:spPr>
          <a:xfrm>
            <a:off x="658368" y="469087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Upfront: $8,200 – $12,200   ·   Monthly: $1,310 – $2,680   ·   Total year 1: under $45K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RISKS AND HOW WE MANAGE THEM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risks. Four mitigations. Nothing hidden.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26187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75488" y="126187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76656" y="13898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76656" y="1581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weaker than expected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" y="1993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6656" y="21945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health score becomes the deliverable.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ends with useful output either way — not nothing.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4754880" y="126187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56048" y="1581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can't dedicate full-time staff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1993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56048" y="21945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FTE for 8 weeks. CS team 2 hours per week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rate alerts. No new hires required.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295351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475488" y="295351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76656" y="3081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6656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drifts when product changes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" y="3685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" y="38862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retraining. Weekly drift detection.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on the team can read the drift report.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4754880" y="295351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4956048" y="3081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56048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and GDPR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56048" y="3685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56048" y="38862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stays in the EU.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customer-identifying data passed to LLM APIs.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LEARNINGS AND 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learned. What comes next.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75488" y="1325880"/>
            <a:ext cx="2651760" cy="237744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doesn't lie.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usage-drop signal wasn't in this data. That finding changed the proposal from 'build an ML model' to 'build rules first and earn the model's place.'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325880"/>
            <a:ext cx="2651760" cy="237744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3474720" y="14447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19385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is a feature.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Chleo's core concern was AI being a black box. Designing the model to explain each alert turned a blocker into a selling point.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4768" y="1325880"/>
            <a:ext cx="2651760" cy="237744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309360" y="14447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19385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scope matters.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$8–12K internal pilot with a go/no-go at Phase 1 protects Chleo from a bad investment. The kill switch is part of the value.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3858768"/>
            <a:ext cx="8412480" cy="71323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58368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114800"/>
            <a:ext cx="8302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6-week pilot. $8–12K upfront. Go / no-go at the end of Phase 1.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878</Words>
  <Application>Microsoft Macintosh PowerPoint</Application>
  <PresentationFormat>On-screen Show (16:9)</PresentationFormat>
  <Paragraphs>141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Ravenstack Churn Prediction Proposal</dc:title>
  <dc:subject>PptxGenJS Presentation</dc:subject>
  <dc:creator>Markus von Aschoff</dc:creator>
  <cp:lastModifiedBy>Markus von Aschoff</cp:lastModifiedBy>
  <cp:revision>6</cp:revision>
  <dcterms:created xsi:type="dcterms:W3CDTF">2026-06-08T09:06:44Z</dcterms:created>
  <dcterms:modified xsi:type="dcterms:W3CDTF">2026-06-09T12:27:28Z</dcterms:modified>
</cp:coreProperties>
</file>