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20"/>
  </p:notesMasterIdLst>
  <p:sldIdLst>
    <p:sldId id="256" r:id="rId3"/>
    <p:sldId id="257" r:id="rId4"/>
    <p:sldId id="268" r:id="rId5"/>
    <p:sldId id="261" r:id="rId6"/>
    <p:sldId id="274" r:id="rId7"/>
    <p:sldId id="277" r:id="rId8"/>
    <p:sldId id="278" r:id="rId9"/>
    <p:sldId id="267" r:id="rId10"/>
    <p:sldId id="270" r:id="rId11"/>
    <p:sldId id="258" r:id="rId12"/>
    <p:sldId id="259" r:id="rId13"/>
    <p:sldId id="260" r:id="rId14"/>
    <p:sldId id="262" r:id="rId15"/>
    <p:sldId id="271" r:id="rId16"/>
    <p:sldId id="272" r:id="rId17"/>
    <p:sldId id="273" r:id="rId18"/>
    <p:sldId id="275" r:id="rId19"/>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58"/>
  </p:normalViewPr>
  <p:slideViewPr>
    <p:cSldViewPr snapToGrid="0" snapToObjects="1">
      <p:cViewPr varScale="1">
        <p:scale>
          <a:sx n="116" d="100"/>
          <a:sy n="116" d="100"/>
        </p:scale>
        <p:origin x="864"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D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7C6C35-F921-E44F-9F3A-4E7915750F30}" type="datetimeFigureOut">
              <a:rPr lang="en-DE" smtClean="0"/>
              <a:t>06.05.26</a:t>
            </a:fld>
            <a:endParaRPr lang="en-D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D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D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F5E016-462E-AE4A-AC3A-03597F54962E}" type="slidenum">
              <a:rPr lang="en-DE" smtClean="0"/>
              <a:t>‹#›</a:t>
            </a:fld>
            <a:endParaRPr lang="en-DE"/>
          </a:p>
        </p:txBody>
      </p:sp>
    </p:spTree>
    <p:extLst>
      <p:ext uri="{BB962C8B-B14F-4D97-AF65-F5344CB8AC3E}">
        <p14:creationId xmlns:p14="http://schemas.microsoft.com/office/powerpoint/2010/main" val="5955868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98B2F-BA43-7CA0-74E1-07CFC94D32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747842-B7BC-577F-4364-CBD4B1319A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97331D-B109-0314-53E2-59B06109F87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08F0F1C-7B22-A45F-F33F-C9A1409CDBF8}"/>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601130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68D1C-C8BE-F155-B026-0F39B4C3C9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7D7B6E-626C-D496-0337-26503CFEB6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2DFE98-1E79-2B2B-D05B-0ABC4747603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173D4B1-523D-5DCD-7948-47E1DFC01F7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470472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67444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46561328"/>
      </p:ext>
    </p:extLst>
  </p:cSld>
  <p:clrMap bg1="lt1" tx1="dk1" bg2="lt2" tx2="dk2" accent1="accent1" accent2="accent2" accent3="accent3" accent4="accent4" accent5="accent5" accent6="accent6" hlink="hlink" folHlink="folHlink"/>
  <p:sldLayoutIdLst>
    <p:sldLayoutId id="2147483661" r:id="rId1"/>
  </p:sldLayoutIdLst>
  <p:hf sldNum="0" hdr="0" ftr="0" dt="0"/>
  <p:txStyles>
    <p:titleStyle>
      <a:lvl1pPr algn="ctr" defTabSz="1218895" rtl="0" eaLnBrk="1" latinLnBrk="0" hangingPunct="1">
        <a:spcBef>
          <a:spcPct val="0"/>
        </a:spcBef>
        <a:buNone/>
        <a:defRPr sz="5865" kern="1200">
          <a:solidFill>
            <a:schemeClr val="tx1"/>
          </a:solidFill>
          <a:latin typeface="+mj-lt"/>
          <a:ea typeface="+mj-ea"/>
          <a:cs typeface="+mj-cs"/>
        </a:defRPr>
      </a:lvl1pPr>
    </p:titleStyle>
    <p:bodyStyle>
      <a:lvl1pPr marL="457086" indent="-457086" algn="l" defTabSz="1218895" rtl="0" eaLnBrk="1" latinLnBrk="0" hangingPunct="1">
        <a:spcBef>
          <a:spcPct val="20000"/>
        </a:spcBef>
        <a:buFont typeface="Arial" pitchFamily="34" charset="0"/>
        <a:buChar char="•"/>
        <a:defRPr sz="4266" kern="1200">
          <a:solidFill>
            <a:schemeClr val="tx1"/>
          </a:solidFill>
          <a:latin typeface="+mn-lt"/>
          <a:ea typeface="+mn-ea"/>
          <a:cs typeface="+mn-cs"/>
        </a:defRPr>
      </a:lvl1pPr>
      <a:lvl2pPr marL="990352" indent="-380905" algn="l" defTabSz="1218895" rtl="0" eaLnBrk="1" latinLnBrk="0" hangingPunct="1">
        <a:spcBef>
          <a:spcPct val="20000"/>
        </a:spcBef>
        <a:buFont typeface="Arial" pitchFamily="34" charset="0"/>
        <a:buChar char="–"/>
        <a:defRPr sz="3732" kern="1200">
          <a:solidFill>
            <a:schemeClr val="tx1"/>
          </a:solidFill>
          <a:latin typeface="+mn-lt"/>
          <a:ea typeface="+mn-ea"/>
          <a:cs typeface="+mn-cs"/>
        </a:defRPr>
      </a:lvl2pPr>
      <a:lvl3pPr marL="1523619" indent="-304724" algn="l" defTabSz="1218895" rtl="0" eaLnBrk="1" latinLnBrk="0" hangingPunct="1">
        <a:spcBef>
          <a:spcPct val="20000"/>
        </a:spcBef>
        <a:buFont typeface="Arial" pitchFamily="34" charset="0"/>
        <a:buChar char="•"/>
        <a:defRPr sz="3199" kern="1200">
          <a:solidFill>
            <a:schemeClr val="tx1"/>
          </a:solidFill>
          <a:latin typeface="+mn-lt"/>
          <a:ea typeface="+mn-ea"/>
          <a:cs typeface="+mn-cs"/>
        </a:defRPr>
      </a:lvl3pPr>
      <a:lvl4pPr marL="2133067" indent="-304724" algn="l" defTabSz="1218895" rtl="0" eaLnBrk="1" latinLnBrk="0" hangingPunct="1">
        <a:spcBef>
          <a:spcPct val="20000"/>
        </a:spcBef>
        <a:buFont typeface="Arial" pitchFamily="34" charset="0"/>
        <a:buChar char="–"/>
        <a:defRPr sz="2666" kern="1200">
          <a:solidFill>
            <a:schemeClr val="tx1"/>
          </a:solidFill>
          <a:latin typeface="+mn-lt"/>
          <a:ea typeface="+mn-ea"/>
          <a:cs typeface="+mn-cs"/>
        </a:defRPr>
      </a:lvl4pPr>
      <a:lvl5pPr marL="2742514" indent="-304724" algn="l" defTabSz="1218895" rtl="0" eaLnBrk="1" latinLnBrk="0" hangingPunct="1">
        <a:spcBef>
          <a:spcPct val="20000"/>
        </a:spcBef>
        <a:buFont typeface="Arial" pitchFamily="34" charset="0"/>
        <a:buChar char="»"/>
        <a:defRPr sz="2666" kern="1200">
          <a:solidFill>
            <a:schemeClr val="tx1"/>
          </a:solidFill>
          <a:latin typeface="+mn-lt"/>
          <a:ea typeface="+mn-ea"/>
          <a:cs typeface="+mn-cs"/>
        </a:defRPr>
      </a:lvl5pPr>
      <a:lvl6pPr marL="3351962" indent="-304724" algn="l" defTabSz="1218895" rtl="0" eaLnBrk="1" latinLnBrk="0" hangingPunct="1">
        <a:spcBef>
          <a:spcPct val="20000"/>
        </a:spcBef>
        <a:buFont typeface="Arial" pitchFamily="34" charset="0"/>
        <a:buChar char="•"/>
        <a:defRPr sz="2666" kern="1200">
          <a:solidFill>
            <a:schemeClr val="tx1"/>
          </a:solidFill>
          <a:latin typeface="+mn-lt"/>
          <a:ea typeface="+mn-ea"/>
          <a:cs typeface="+mn-cs"/>
        </a:defRPr>
      </a:lvl6pPr>
      <a:lvl7pPr marL="3961409" indent="-304724" algn="l" defTabSz="1218895" rtl="0" eaLnBrk="1" latinLnBrk="0" hangingPunct="1">
        <a:spcBef>
          <a:spcPct val="20000"/>
        </a:spcBef>
        <a:buFont typeface="Arial" pitchFamily="34" charset="0"/>
        <a:buChar char="•"/>
        <a:defRPr sz="2666" kern="1200">
          <a:solidFill>
            <a:schemeClr val="tx1"/>
          </a:solidFill>
          <a:latin typeface="+mn-lt"/>
          <a:ea typeface="+mn-ea"/>
          <a:cs typeface="+mn-cs"/>
        </a:defRPr>
      </a:lvl7pPr>
      <a:lvl8pPr marL="4570857" indent="-304724" algn="l" defTabSz="1218895" rtl="0" eaLnBrk="1" latinLnBrk="0" hangingPunct="1">
        <a:spcBef>
          <a:spcPct val="20000"/>
        </a:spcBef>
        <a:buFont typeface="Arial" pitchFamily="34" charset="0"/>
        <a:buChar char="•"/>
        <a:defRPr sz="2666" kern="1200">
          <a:solidFill>
            <a:schemeClr val="tx1"/>
          </a:solidFill>
          <a:latin typeface="+mn-lt"/>
          <a:ea typeface="+mn-ea"/>
          <a:cs typeface="+mn-cs"/>
        </a:defRPr>
      </a:lvl8pPr>
      <a:lvl9pPr marL="5180305" indent="-304724" algn="l" defTabSz="1218895" rtl="0" eaLnBrk="1" latinLnBrk="0" hangingPunct="1">
        <a:spcBef>
          <a:spcPct val="20000"/>
        </a:spcBef>
        <a:buFont typeface="Arial" pitchFamily="34" charset="0"/>
        <a:buChar char="•"/>
        <a:defRPr sz="2666" kern="1200">
          <a:solidFill>
            <a:schemeClr val="tx1"/>
          </a:solidFill>
          <a:latin typeface="+mn-lt"/>
          <a:ea typeface="+mn-ea"/>
          <a:cs typeface="+mn-cs"/>
        </a:defRPr>
      </a:lvl9pPr>
    </p:bodyStyle>
    <p:otherStyle>
      <a:defPPr>
        <a:defRPr lang="en-US"/>
      </a:defPPr>
      <a:lvl1pPr marL="0" algn="l" defTabSz="1218895" rtl="0" eaLnBrk="1" latinLnBrk="0" hangingPunct="1">
        <a:defRPr sz="2399" kern="1200">
          <a:solidFill>
            <a:schemeClr val="tx1"/>
          </a:solidFill>
          <a:latin typeface="+mn-lt"/>
          <a:ea typeface="+mn-ea"/>
          <a:cs typeface="+mn-cs"/>
        </a:defRPr>
      </a:lvl1pPr>
      <a:lvl2pPr marL="609448" algn="l" defTabSz="1218895" rtl="0" eaLnBrk="1" latinLnBrk="0" hangingPunct="1">
        <a:defRPr sz="2399" kern="1200">
          <a:solidFill>
            <a:schemeClr val="tx1"/>
          </a:solidFill>
          <a:latin typeface="+mn-lt"/>
          <a:ea typeface="+mn-ea"/>
          <a:cs typeface="+mn-cs"/>
        </a:defRPr>
      </a:lvl2pPr>
      <a:lvl3pPr marL="1218895" algn="l" defTabSz="1218895" rtl="0" eaLnBrk="1" latinLnBrk="0" hangingPunct="1">
        <a:defRPr sz="2399" kern="1200">
          <a:solidFill>
            <a:schemeClr val="tx1"/>
          </a:solidFill>
          <a:latin typeface="+mn-lt"/>
          <a:ea typeface="+mn-ea"/>
          <a:cs typeface="+mn-cs"/>
        </a:defRPr>
      </a:lvl3pPr>
      <a:lvl4pPr marL="1828343" algn="l" defTabSz="1218895" rtl="0" eaLnBrk="1" latinLnBrk="0" hangingPunct="1">
        <a:defRPr sz="2399" kern="1200">
          <a:solidFill>
            <a:schemeClr val="tx1"/>
          </a:solidFill>
          <a:latin typeface="+mn-lt"/>
          <a:ea typeface="+mn-ea"/>
          <a:cs typeface="+mn-cs"/>
        </a:defRPr>
      </a:lvl4pPr>
      <a:lvl5pPr marL="2437790" algn="l" defTabSz="1218895" rtl="0" eaLnBrk="1" latinLnBrk="0" hangingPunct="1">
        <a:defRPr sz="2399" kern="1200">
          <a:solidFill>
            <a:schemeClr val="tx1"/>
          </a:solidFill>
          <a:latin typeface="+mn-lt"/>
          <a:ea typeface="+mn-ea"/>
          <a:cs typeface="+mn-cs"/>
        </a:defRPr>
      </a:lvl5pPr>
      <a:lvl6pPr marL="3047238" algn="l" defTabSz="1218895" rtl="0" eaLnBrk="1" latinLnBrk="0" hangingPunct="1">
        <a:defRPr sz="2399" kern="1200">
          <a:solidFill>
            <a:schemeClr val="tx1"/>
          </a:solidFill>
          <a:latin typeface="+mn-lt"/>
          <a:ea typeface="+mn-ea"/>
          <a:cs typeface="+mn-cs"/>
        </a:defRPr>
      </a:lvl6pPr>
      <a:lvl7pPr marL="3656686" algn="l" defTabSz="1218895" rtl="0" eaLnBrk="1" latinLnBrk="0" hangingPunct="1">
        <a:defRPr sz="2399" kern="1200">
          <a:solidFill>
            <a:schemeClr val="tx1"/>
          </a:solidFill>
          <a:latin typeface="+mn-lt"/>
          <a:ea typeface="+mn-ea"/>
          <a:cs typeface="+mn-cs"/>
        </a:defRPr>
      </a:lvl7pPr>
      <a:lvl8pPr marL="4266133" algn="l" defTabSz="1218895" rtl="0" eaLnBrk="1" latinLnBrk="0" hangingPunct="1">
        <a:defRPr sz="2399" kern="1200">
          <a:solidFill>
            <a:schemeClr val="tx1"/>
          </a:solidFill>
          <a:latin typeface="+mn-lt"/>
          <a:ea typeface="+mn-ea"/>
          <a:cs typeface="+mn-cs"/>
        </a:defRPr>
      </a:lvl8pPr>
      <a:lvl9pPr marL="4875581" algn="l" defTabSz="1218895" rtl="0" eaLnBrk="1" latinLnBrk="0" hangingPunct="1">
        <a:defRPr sz="23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54864" cy="685800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914400"/>
            <a:ext cx="7315200" cy="1280160"/>
          </a:xfrm>
          <a:prstGeom prst="rect">
            <a:avLst/>
          </a:prstGeom>
          <a:noFill/>
        </p:spPr>
        <p:txBody>
          <a:bodyPr wrap="square">
            <a:spAutoFit/>
          </a:bodyPr>
          <a:lstStyle/>
          <a:p>
            <a:pPr algn="l"/>
            <a:r>
              <a:rPr sz="7200" b="1" i="0">
                <a:solidFill>
                  <a:srgbClr val="FFFFFF"/>
                </a:solidFill>
                <a:latin typeface="Calibri"/>
              </a:rPr>
              <a:t>FitByte</a:t>
            </a:r>
          </a:p>
        </p:txBody>
      </p:sp>
      <p:sp>
        <p:nvSpPr>
          <p:cNvPr id="5" name="TextBox 4"/>
          <p:cNvSpPr txBox="1"/>
          <p:nvPr/>
        </p:nvSpPr>
        <p:spPr>
          <a:xfrm>
            <a:off x="457200" y="2148840"/>
            <a:ext cx="9144000" cy="822960"/>
          </a:xfrm>
          <a:prstGeom prst="rect">
            <a:avLst/>
          </a:prstGeom>
          <a:noFill/>
        </p:spPr>
        <p:txBody>
          <a:bodyPr wrap="square">
            <a:spAutoFit/>
          </a:bodyPr>
          <a:lstStyle/>
          <a:p>
            <a:pPr algn="l"/>
            <a:r>
              <a:rPr sz="4000" b="0" i="0">
                <a:solidFill>
                  <a:srgbClr val="00C8FF"/>
                </a:solidFill>
                <a:latin typeface="Calibri"/>
              </a:rPr>
              <a:t>AI Content Creator</a:t>
            </a:r>
          </a:p>
        </p:txBody>
      </p:sp>
      <p:sp>
        <p:nvSpPr>
          <p:cNvPr id="6" name="TextBox 5"/>
          <p:cNvSpPr txBox="1"/>
          <p:nvPr/>
        </p:nvSpPr>
        <p:spPr>
          <a:xfrm>
            <a:off x="457200" y="3017520"/>
            <a:ext cx="5842000" cy="548640"/>
          </a:xfrm>
          <a:prstGeom prst="rect">
            <a:avLst/>
          </a:prstGeom>
          <a:noFill/>
        </p:spPr>
        <p:txBody>
          <a:bodyPr wrap="square">
            <a:spAutoFit/>
          </a:bodyPr>
          <a:lstStyle/>
          <a:p>
            <a:pPr algn="l"/>
            <a:r>
              <a:rPr sz="1800" b="0" i="0">
                <a:solidFill>
                  <a:srgbClr val="C8D6E5"/>
                </a:solidFill>
                <a:latin typeface="Calibri"/>
              </a:rPr>
              <a:t>Brand-aligned content generation powered by dual knowledge bases</a:t>
            </a:r>
          </a:p>
        </p:txBody>
      </p:sp>
      <p:sp>
        <p:nvSpPr>
          <p:cNvPr id="7" name="Rectangle 6"/>
          <p:cNvSpPr/>
          <p:nvPr/>
        </p:nvSpPr>
        <p:spPr>
          <a:xfrm>
            <a:off x="457200" y="3703320"/>
            <a:ext cx="5486400" cy="36576"/>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3840480"/>
            <a:ext cx="9144000" cy="738664"/>
          </a:xfrm>
          <a:prstGeom prst="rect">
            <a:avLst/>
          </a:prstGeom>
          <a:noFill/>
        </p:spPr>
        <p:txBody>
          <a:bodyPr wrap="square">
            <a:spAutoFit/>
          </a:bodyPr>
          <a:lstStyle/>
          <a:p>
            <a:pPr algn="l"/>
            <a:r>
              <a:rPr lang="de-DE" sz="1400" b="0" i="0" dirty="0">
                <a:solidFill>
                  <a:srgbClr val="C8D6E5"/>
                </a:solidFill>
                <a:latin typeface="Calibri"/>
              </a:rPr>
              <a:t>Adi, Gunther, Markus</a:t>
            </a:r>
          </a:p>
          <a:p>
            <a:pPr algn="l"/>
            <a:r>
              <a:rPr sz="1400" b="0" i="0" dirty="0" err="1">
                <a:solidFill>
                  <a:srgbClr val="C8D6E5"/>
                </a:solidFill>
                <a:latin typeface="Calibri"/>
              </a:rPr>
              <a:t>Ironhack</a:t>
            </a:r>
            <a:r>
              <a:rPr sz="1400" b="0" i="0" dirty="0">
                <a:solidFill>
                  <a:srgbClr val="C8D6E5"/>
                </a:solidFill>
                <a:latin typeface="Calibri"/>
              </a:rPr>
              <a:t> Data Analytics Bootcamp  •  Module 2 Project</a:t>
            </a:r>
            <a:endParaRPr lang="de-DE" sz="1400" b="0" i="0" dirty="0">
              <a:solidFill>
                <a:srgbClr val="C8D6E5"/>
              </a:solidFill>
              <a:latin typeface="Calibri"/>
            </a:endParaRPr>
          </a:p>
          <a:p>
            <a:pPr algn="l"/>
            <a:endParaRPr sz="1400" b="0" i="0" dirty="0">
              <a:solidFill>
                <a:srgbClr val="C8D6E5"/>
              </a:solidFill>
              <a:latin typeface="Calibri"/>
            </a:endParaRPr>
          </a:p>
        </p:txBody>
      </p:sp>
      <p:sp>
        <p:nvSpPr>
          <p:cNvPr id="9" name="TextBox 8"/>
          <p:cNvSpPr txBox="1"/>
          <p:nvPr/>
        </p:nvSpPr>
        <p:spPr>
          <a:xfrm>
            <a:off x="457200" y="4765526"/>
            <a:ext cx="3657600" cy="365760"/>
          </a:xfrm>
          <a:prstGeom prst="rect">
            <a:avLst/>
          </a:prstGeom>
          <a:noFill/>
        </p:spPr>
        <p:txBody>
          <a:bodyPr wrap="square">
            <a:spAutoFit/>
          </a:bodyPr>
          <a:lstStyle/>
          <a:p>
            <a:pPr algn="l"/>
            <a:r>
              <a:rPr sz="1300" b="0" i="0" dirty="0">
                <a:solidFill>
                  <a:srgbClr val="C8D6E5"/>
                </a:solidFill>
                <a:latin typeface="Calibri"/>
              </a:rPr>
              <a:t>May 2026</a:t>
            </a:r>
          </a:p>
        </p:txBody>
      </p:sp>
      <p:sp>
        <p:nvSpPr>
          <p:cNvPr id="10" name="Rectangle 9"/>
          <p:cNvSpPr/>
          <p:nvPr/>
        </p:nvSpPr>
        <p:spPr>
          <a:xfrm>
            <a:off x="9601200" y="36576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0241280" y="36576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0881360" y="36576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11521440" y="36576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9601200" y="91440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0241280" y="91440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0881360" y="91440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11521440" y="91440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9601200" y="146304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10241280" y="146304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10881360" y="146304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11521440" y="146304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9601200" y="2011679"/>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10241280" y="2011679"/>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10881360" y="2011679"/>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11521440" y="2011679"/>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9601200" y="256032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10241280" y="256032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10881360" y="256032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11521440" y="256032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9601200" y="310896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10241280" y="310896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10881360" y="310896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11521440" y="310896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9601200" y="3657599"/>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10241280" y="3657599"/>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10881360" y="3657599"/>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11521440" y="3657599"/>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9601200" y="420624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10241280" y="420624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10881360" y="420624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11521440" y="420624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9601200" y="475488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10241280" y="475488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10881360" y="475488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11521440" y="475488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9601200" y="530352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10241280" y="530352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10881360" y="530352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11521440" y="530352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9601200" y="585216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10241280" y="585216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10881360" y="585216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11521440" y="585216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9601200" y="640080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10241280" y="640080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10881360" y="640080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11521440" y="640080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0" name="Picture 59">
            <a:extLst>
              <a:ext uri="{FF2B5EF4-FFF2-40B4-BE49-F238E27FC236}">
                <a16:creationId xmlns:a16="http://schemas.microsoft.com/office/drawing/2014/main" id="{31657075-DAD2-0300-2D3A-8C267E2B853F}"/>
              </a:ext>
            </a:extLst>
          </p:cNvPr>
          <p:cNvPicPr>
            <a:picLocks noChangeAspect="1"/>
          </p:cNvPicPr>
          <p:nvPr/>
        </p:nvPicPr>
        <p:blipFill>
          <a:blip r:embed="rId2"/>
          <a:stretch/>
        </p:blipFill>
        <p:spPr>
          <a:xfrm rot="230521">
            <a:off x="4540147" y="562250"/>
            <a:ext cx="6674818" cy="507198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28600"/>
            <a:ext cx="3657600" cy="320040"/>
          </a:xfrm>
          <a:prstGeom prst="rect">
            <a:avLst/>
          </a:prstGeom>
          <a:noFill/>
        </p:spPr>
        <p:txBody>
          <a:bodyPr wrap="square">
            <a:spAutoFit/>
          </a:bodyPr>
          <a:lstStyle/>
          <a:p>
            <a:pPr algn="l"/>
            <a:r>
              <a:rPr sz="1000" b="1" i="0">
                <a:solidFill>
                  <a:srgbClr val="00C8FF"/>
                </a:solidFill>
                <a:latin typeface="Calibri"/>
              </a:rPr>
              <a:t>01  —  PROBLEM &amp; SOLUTION</a:t>
            </a:r>
          </a:p>
        </p:txBody>
      </p:sp>
      <p:sp>
        <p:nvSpPr>
          <p:cNvPr id="4" name="Rectangle 3"/>
          <p:cNvSpPr/>
          <p:nvPr/>
        </p:nvSpPr>
        <p:spPr>
          <a:xfrm>
            <a:off x="365760" y="658368"/>
            <a:ext cx="3657600" cy="4572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31520"/>
            <a:ext cx="9144000" cy="594360"/>
          </a:xfrm>
          <a:prstGeom prst="rect">
            <a:avLst/>
          </a:prstGeom>
          <a:noFill/>
        </p:spPr>
        <p:txBody>
          <a:bodyPr wrap="square">
            <a:spAutoFit/>
          </a:bodyPr>
          <a:lstStyle/>
          <a:p>
            <a:pPr algn="l"/>
            <a:r>
              <a:rPr sz="3000" b="1" i="0">
                <a:solidFill>
                  <a:srgbClr val="FFFFFF"/>
                </a:solidFill>
                <a:latin typeface="Calibri"/>
              </a:rPr>
              <a:t>What Problem Does It Solve?</a:t>
            </a:r>
          </a:p>
        </p:txBody>
      </p:sp>
      <p:sp>
        <p:nvSpPr>
          <p:cNvPr id="6" name="Rectangle 5"/>
          <p:cNvSpPr/>
          <p:nvPr/>
        </p:nvSpPr>
        <p:spPr>
          <a:xfrm>
            <a:off x="365760" y="1508760"/>
            <a:ext cx="5303520" cy="2651760"/>
          </a:xfrm>
          <a:prstGeom prst="rect">
            <a:avLst/>
          </a:prstGeom>
          <a:solidFill>
            <a:srgbClr val="1E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600200"/>
            <a:ext cx="4937760" cy="365760"/>
          </a:xfrm>
          <a:prstGeom prst="rect">
            <a:avLst/>
          </a:prstGeom>
          <a:noFill/>
        </p:spPr>
        <p:txBody>
          <a:bodyPr wrap="square">
            <a:spAutoFit/>
          </a:bodyPr>
          <a:lstStyle/>
          <a:p>
            <a:pPr algn="l"/>
            <a:r>
              <a:rPr sz="1300" b="1" i="0">
                <a:solidFill>
                  <a:srgbClr val="FF6B35"/>
                </a:solidFill>
                <a:latin typeface="Calibri"/>
              </a:rPr>
              <a:t>THE PROBLEM</a:t>
            </a:r>
          </a:p>
        </p:txBody>
      </p:sp>
      <p:sp>
        <p:nvSpPr>
          <p:cNvPr id="8" name="TextBox 7"/>
          <p:cNvSpPr txBox="1"/>
          <p:nvPr/>
        </p:nvSpPr>
        <p:spPr>
          <a:xfrm>
            <a:off x="548640" y="2057400"/>
            <a:ext cx="274320" cy="347472"/>
          </a:xfrm>
          <a:prstGeom prst="rect">
            <a:avLst/>
          </a:prstGeom>
          <a:noFill/>
        </p:spPr>
        <p:txBody>
          <a:bodyPr wrap="square">
            <a:spAutoFit/>
          </a:bodyPr>
          <a:lstStyle/>
          <a:p>
            <a:pPr algn="l"/>
            <a:r>
              <a:rPr sz="1400" b="1" i="0">
                <a:solidFill>
                  <a:srgbClr val="FF6B35"/>
                </a:solidFill>
                <a:latin typeface="Calibri"/>
              </a:rPr>
              <a:t>▸</a:t>
            </a:r>
          </a:p>
        </p:txBody>
      </p:sp>
      <p:sp>
        <p:nvSpPr>
          <p:cNvPr id="9" name="TextBox 8"/>
          <p:cNvSpPr txBox="1"/>
          <p:nvPr/>
        </p:nvSpPr>
        <p:spPr>
          <a:xfrm>
            <a:off x="841247" y="2057400"/>
            <a:ext cx="4645152" cy="347472"/>
          </a:xfrm>
          <a:prstGeom prst="rect">
            <a:avLst/>
          </a:prstGeom>
          <a:noFill/>
        </p:spPr>
        <p:txBody>
          <a:bodyPr wrap="square">
            <a:spAutoFit/>
          </a:bodyPr>
          <a:lstStyle/>
          <a:p>
            <a:pPr algn="l"/>
            <a:r>
              <a:rPr sz="1400" b="0" i="0">
                <a:solidFill>
                  <a:srgbClr val="FFFFFF"/>
                </a:solidFill>
                <a:latin typeface="Calibri"/>
              </a:rPr>
              <a:t>Generic AI content looks and sounds the same</a:t>
            </a:r>
          </a:p>
        </p:txBody>
      </p:sp>
      <p:sp>
        <p:nvSpPr>
          <p:cNvPr id="10" name="TextBox 9"/>
          <p:cNvSpPr txBox="1"/>
          <p:nvPr/>
        </p:nvSpPr>
        <p:spPr>
          <a:xfrm>
            <a:off x="548640" y="2404872"/>
            <a:ext cx="274320" cy="347472"/>
          </a:xfrm>
          <a:prstGeom prst="rect">
            <a:avLst/>
          </a:prstGeom>
          <a:noFill/>
        </p:spPr>
        <p:txBody>
          <a:bodyPr wrap="square">
            <a:spAutoFit/>
          </a:bodyPr>
          <a:lstStyle/>
          <a:p>
            <a:pPr algn="l"/>
            <a:r>
              <a:rPr sz="1400" b="1" i="0">
                <a:solidFill>
                  <a:srgbClr val="FF6B35"/>
                </a:solidFill>
                <a:latin typeface="Calibri"/>
              </a:rPr>
              <a:t>▸</a:t>
            </a:r>
          </a:p>
        </p:txBody>
      </p:sp>
      <p:sp>
        <p:nvSpPr>
          <p:cNvPr id="11" name="TextBox 10"/>
          <p:cNvSpPr txBox="1"/>
          <p:nvPr/>
        </p:nvSpPr>
        <p:spPr>
          <a:xfrm>
            <a:off x="841247" y="2404872"/>
            <a:ext cx="4645152" cy="347472"/>
          </a:xfrm>
          <a:prstGeom prst="rect">
            <a:avLst/>
          </a:prstGeom>
          <a:noFill/>
        </p:spPr>
        <p:txBody>
          <a:bodyPr wrap="square">
            <a:spAutoFit/>
          </a:bodyPr>
          <a:lstStyle/>
          <a:p>
            <a:pPr algn="l"/>
            <a:r>
              <a:rPr sz="1400" b="0" i="0">
                <a:solidFill>
                  <a:srgbClr val="FFFFFF"/>
                </a:solidFill>
                <a:latin typeface="Calibri"/>
              </a:rPr>
              <a:t>ChatGPT has no brand voice, no product knowledge</a:t>
            </a:r>
          </a:p>
        </p:txBody>
      </p:sp>
      <p:sp>
        <p:nvSpPr>
          <p:cNvPr id="12" name="TextBox 11"/>
          <p:cNvSpPr txBox="1"/>
          <p:nvPr/>
        </p:nvSpPr>
        <p:spPr>
          <a:xfrm>
            <a:off x="548640" y="2752344"/>
            <a:ext cx="274320" cy="347472"/>
          </a:xfrm>
          <a:prstGeom prst="rect">
            <a:avLst/>
          </a:prstGeom>
          <a:noFill/>
        </p:spPr>
        <p:txBody>
          <a:bodyPr wrap="square">
            <a:spAutoFit/>
          </a:bodyPr>
          <a:lstStyle/>
          <a:p>
            <a:pPr algn="l"/>
            <a:r>
              <a:rPr sz="1400" b="1" i="0">
                <a:solidFill>
                  <a:srgbClr val="FF6B35"/>
                </a:solidFill>
                <a:latin typeface="Calibri"/>
              </a:rPr>
              <a:t>▸</a:t>
            </a:r>
          </a:p>
        </p:txBody>
      </p:sp>
      <p:sp>
        <p:nvSpPr>
          <p:cNvPr id="13" name="TextBox 12"/>
          <p:cNvSpPr txBox="1"/>
          <p:nvPr/>
        </p:nvSpPr>
        <p:spPr>
          <a:xfrm>
            <a:off x="841247" y="2752344"/>
            <a:ext cx="4645152" cy="347472"/>
          </a:xfrm>
          <a:prstGeom prst="rect">
            <a:avLst/>
          </a:prstGeom>
          <a:noFill/>
        </p:spPr>
        <p:txBody>
          <a:bodyPr wrap="square">
            <a:spAutoFit/>
          </a:bodyPr>
          <a:lstStyle/>
          <a:p>
            <a:pPr algn="l"/>
            <a:r>
              <a:rPr sz="1400" b="0" i="0">
                <a:solidFill>
                  <a:srgbClr val="FFFFFF"/>
                </a:solidFill>
                <a:latin typeface="Calibri"/>
              </a:rPr>
              <a:t>Content teams lack a scalable, consistent system</a:t>
            </a:r>
          </a:p>
        </p:txBody>
      </p:sp>
      <p:sp>
        <p:nvSpPr>
          <p:cNvPr id="14" name="TextBox 13"/>
          <p:cNvSpPr txBox="1"/>
          <p:nvPr/>
        </p:nvSpPr>
        <p:spPr>
          <a:xfrm>
            <a:off x="548640" y="3099816"/>
            <a:ext cx="274320" cy="347472"/>
          </a:xfrm>
          <a:prstGeom prst="rect">
            <a:avLst/>
          </a:prstGeom>
          <a:noFill/>
        </p:spPr>
        <p:txBody>
          <a:bodyPr wrap="square">
            <a:spAutoFit/>
          </a:bodyPr>
          <a:lstStyle/>
          <a:p>
            <a:pPr algn="l"/>
            <a:r>
              <a:rPr sz="1400" b="1" i="0">
                <a:solidFill>
                  <a:srgbClr val="FF6B35"/>
                </a:solidFill>
                <a:latin typeface="Calibri"/>
              </a:rPr>
              <a:t>▸</a:t>
            </a:r>
          </a:p>
        </p:txBody>
      </p:sp>
      <p:sp>
        <p:nvSpPr>
          <p:cNvPr id="15" name="TextBox 14"/>
          <p:cNvSpPr txBox="1"/>
          <p:nvPr/>
        </p:nvSpPr>
        <p:spPr>
          <a:xfrm>
            <a:off x="841247" y="3099816"/>
            <a:ext cx="4645152" cy="307777"/>
          </a:xfrm>
          <a:prstGeom prst="rect">
            <a:avLst/>
          </a:prstGeom>
          <a:noFill/>
        </p:spPr>
        <p:txBody>
          <a:bodyPr wrap="square">
            <a:spAutoFit/>
          </a:bodyPr>
          <a:lstStyle/>
          <a:p>
            <a:pPr algn="l"/>
            <a:r>
              <a:rPr sz="1400" b="0" i="0" dirty="0">
                <a:solidFill>
                  <a:srgbClr val="FFFFFF"/>
                </a:solidFill>
                <a:latin typeface="Calibri"/>
              </a:rPr>
              <a:t>AI outputs ignore market positioning &amp; competitor gaps</a:t>
            </a:r>
            <a:endParaRPr lang="de-DE" sz="1400" b="0" i="0" dirty="0">
              <a:solidFill>
                <a:srgbClr val="FFFFFF"/>
              </a:solidFill>
              <a:latin typeface="Calibri"/>
            </a:endParaRPr>
          </a:p>
        </p:txBody>
      </p:sp>
      <p:sp>
        <p:nvSpPr>
          <p:cNvPr id="16" name="Rectangle 15"/>
          <p:cNvSpPr/>
          <p:nvPr/>
        </p:nvSpPr>
        <p:spPr>
          <a:xfrm>
            <a:off x="6035040" y="1508760"/>
            <a:ext cx="5760720" cy="2651760"/>
          </a:xfrm>
          <a:prstGeom prst="rect">
            <a:avLst/>
          </a:prstGeom>
          <a:solidFill>
            <a:srgbClr val="1E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217920" y="1600200"/>
            <a:ext cx="5394960" cy="365760"/>
          </a:xfrm>
          <a:prstGeom prst="rect">
            <a:avLst/>
          </a:prstGeom>
          <a:noFill/>
        </p:spPr>
        <p:txBody>
          <a:bodyPr wrap="square">
            <a:spAutoFit/>
          </a:bodyPr>
          <a:lstStyle/>
          <a:p>
            <a:pPr algn="l"/>
            <a:r>
              <a:rPr sz="1300" b="1" i="0">
                <a:solidFill>
                  <a:srgbClr val="00E596"/>
                </a:solidFill>
                <a:latin typeface="Calibri"/>
              </a:rPr>
              <a:t>THE SOLUTION</a:t>
            </a:r>
          </a:p>
        </p:txBody>
      </p:sp>
      <p:sp>
        <p:nvSpPr>
          <p:cNvPr id="18" name="TextBox 17"/>
          <p:cNvSpPr txBox="1"/>
          <p:nvPr/>
        </p:nvSpPr>
        <p:spPr>
          <a:xfrm>
            <a:off x="6217920" y="2057400"/>
            <a:ext cx="274320" cy="347472"/>
          </a:xfrm>
          <a:prstGeom prst="rect">
            <a:avLst/>
          </a:prstGeom>
          <a:noFill/>
        </p:spPr>
        <p:txBody>
          <a:bodyPr wrap="square">
            <a:spAutoFit/>
          </a:bodyPr>
          <a:lstStyle/>
          <a:p>
            <a:pPr algn="l"/>
            <a:r>
              <a:rPr sz="1400" b="1" i="0">
                <a:solidFill>
                  <a:srgbClr val="00E596"/>
                </a:solidFill>
                <a:latin typeface="Calibri"/>
              </a:rPr>
              <a:t>▸</a:t>
            </a:r>
          </a:p>
        </p:txBody>
      </p:sp>
      <p:sp>
        <p:nvSpPr>
          <p:cNvPr id="19" name="TextBox 18"/>
          <p:cNvSpPr txBox="1"/>
          <p:nvPr/>
        </p:nvSpPr>
        <p:spPr>
          <a:xfrm>
            <a:off x="6510528" y="2057400"/>
            <a:ext cx="5102352" cy="347472"/>
          </a:xfrm>
          <a:prstGeom prst="rect">
            <a:avLst/>
          </a:prstGeom>
          <a:noFill/>
        </p:spPr>
        <p:txBody>
          <a:bodyPr wrap="square">
            <a:spAutoFit/>
          </a:bodyPr>
          <a:lstStyle/>
          <a:p>
            <a:pPr algn="l"/>
            <a:r>
              <a:rPr sz="1400" b="0" i="0">
                <a:solidFill>
                  <a:srgbClr val="FFFFFF"/>
                </a:solidFill>
                <a:latin typeface="Calibri"/>
              </a:rPr>
              <a:t>Dual knowledge base: brand guidelines + market research</a:t>
            </a:r>
          </a:p>
        </p:txBody>
      </p:sp>
      <p:sp>
        <p:nvSpPr>
          <p:cNvPr id="20" name="TextBox 19"/>
          <p:cNvSpPr txBox="1"/>
          <p:nvPr/>
        </p:nvSpPr>
        <p:spPr>
          <a:xfrm>
            <a:off x="6217920" y="2404872"/>
            <a:ext cx="274320" cy="347472"/>
          </a:xfrm>
          <a:prstGeom prst="rect">
            <a:avLst/>
          </a:prstGeom>
          <a:noFill/>
        </p:spPr>
        <p:txBody>
          <a:bodyPr wrap="square">
            <a:spAutoFit/>
          </a:bodyPr>
          <a:lstStyle/>
          <a:p>
            <a:pPr algn="l"/>
            <a:r>
              <a:rPr sz="1400" b="1" i="0">
                <a:solidFill>
                  <a:srgbClr val="00E596"/>
                </a:solidFill>
                <a:latin typeface="Calibri"/>
              </a:rPr>
              <a:t>▸</a:t>
            </a:r>
          </a:p>
        </p:txBody>
      </p:sp>
      <p:sp>
        <p:nvSpPr>
          <p:cNvPr id="21" name="TextBox 20"/>
          <p:cNvSpPr txBox="1"/>
          <p:nvPr/>
        </p:nvSpPr>
        <p:spPr>
          <a:xfrm>
            <a:off x="6510528" y="2404872"/>
            <a:ext cx="5102352" cy="347472"/>
          </a:xfrm>
          <a:prstGeom prst="rect">
            <a:avLst/>
          </a:prstGeom>
          <a:noFill/>
        </p:spPr>
        <p:txBody>
          <a:bodyPr wrap="square">
            <a:spAutoFit/>
          </a:bodyPr>
          <a:lstStyle/>
          <a:p>
            <a:pPr algn="l"/>
            <a:r>
              <a:rPr sz="1400" b="0" i="0">
                <a:solidFill>
                  <a:srgbClr val="FFFFFF"/>
                </a:solidFill>
                <a:latin typeface="Calibri"/>
              </a:rPr>
              <a:t>5-stage pipeline: Document → Monitor → Brief → Publish → Iterate</a:t>
            </a:r>
          </a:p>
        </p:txBody>
      </p:sp>
      <p:sp>
        <p:nvSpPr>
          <p:cNvPr id="22" name="TextBox 21"/>
          <p:cNvSpPr txBox="1"/>
          <p:nvPr/>
        </p:nvSpPr>
        <p:spPr>
          <a:xfrm>
            <a:off x="6217920" y="2752344"/>
            <a:ext cx="274320" cy="347472"/>
          </a:xfrm>
          <a:prstGeom prst="rect">
            <a:avLst/>
          </a:prstGeom>
          <a:noFill/>
        </p:spPr>
        <p:txBody>
          <a:bodyPr wrap="square">
            <a:spAutoFit/>
          </a:bodyPr>
          <a:lstStyle/>
          <a:p>
            <a:pPr algn="l"/>
            <a:r>
              <a:rPr sz="1400" b="1" i="0">
                <a:solidFill>
                  <a:srgbClr val="00E596"/>
                </a:solidFill>
                <a:latin typeface="Calibri"/>
              </a:rPr>
              <a:t>▸</a:t>
            </a:r>
          </a:p>
        </p:txBody>
      </p:sp>
      <p:sp>
        <p:nvSpPr>
          <p:cNvPr id="23" name="TextBox 22"/>
          <p:cNvSpPr txBox="1"/>
          <p:nvPr/>
        </p:nvSpPr>
        <p:spPr>
          <a:xfrm>
            <a:off x="6510528" y="2752344"/>
            <a:ext cx="5102352" cy="347472"/>
          </a:xfrm>
          <a:prstGeom prst="rect">
            <a:avLst/>
          </a:prstGeom>
          <a:noFill/>
        </p:spPr>
        <p:txBody>
          <a:bodyPr wrap="square">
            <a:spAutoFit/>
          </a:bodyPr>
          <a:lstStyle/>
          <a:p>
            <a:pPr algn="l"/>
            <a:r>
              <a:rPr sz="1400" b="0" i="0">
                <a:solidFill>
                  <a:srgbClr val="FFFFFF"/>
                </a:solidFill>
                <a:latin typeface="Calibri"/>
              </a:rPr>
              <a:t>Dynamic prompt templates injected with proprietary context</a:t>
            </a:r>
          </a:p>
        </p:txBody>
      </p:sp>
      <p:sp>
        <p:nvSpPr>
          <p:cNvPr id="24" name="TextBox 23"/>
          <p:cNvSpPr txBox="1"/>
          <p:nvPr/>
        </p:nvSpPr>
        <p:spPr>
          <a:xfrm>
            <a:off x="6217920" y="3099816"/>
            <a:ext cx="274320" cy="347472"/>
          </a:xfrm>
          <a:prstGeom prst="rect">
            <a:avLst/>
          </a:prstGeom>
          <a:noFill/>
        </p:spPr>
        <p:txBody>
          <a:bodyPr wrap="square">
            <a:spAutoFit/>
          </a:bodyPr>
          <a:lstStyle/>
          <a:p>
            <a:pPr algn="l"/>
            <a:r>
              <a:rPr sz="1400" b="1" i="0">
                <a:solidFill>
                  <a:srgbClr val="00E596"/>
                </a:solidFill>
                <a:latin typeface="Calibri"/>
              </a:rPr>
              <a:t>▸</a:t>
            </a:r>
          </a:p>
        </p:txBody>
      </p:sp>
      <p:sp>
        <p:nvSpPr>
          <p:cNvPr id="25" name="TextBox 24"/>
          <p:cNvSpPr txBox="1"/>
          <p:nvPr/>
        </p:nvSpPr>
        <p:spPr>
          <a:xfrm>
            <a:off x="6510528" y="3099816"/>
            <a:ext cx="5102352" cy="347472"/>
          </a:xfrm>
          <a:prstGeom prst="rect">
            <a:avLst/>
          </a:prstGeom>
          <a:noFill/>
        </p:spPr>
        <p:txBody>
          <a:bodyPr wrap="square">
            <a:spAutoFit/>
          </a:bodyPr>
          <a:lstStyle/>
          <a:p>
            <a:pPr algn="l"/>
            <a:r>
              <a:rPr sz="1400" b="0" i="0">
                <a:solidFill>
                  <a:srgbClr val="FFFFFF"/>
                </a:solidFill>
                <a:latin typeface="Calibri"/>
              </a:rPr>
              <a:t>Human-in-the-loop for quality control &amp; iteration</a:t>
            </a:r>
          </a:p>
        </p:txBody>
      </p:sp>
      <p:sp>
        <p:nvSpPr>
          <p:cNvPr id="28" name="TextBox 27"/>
          <p:cNvSpPr txBox="1"/>
          <p:nvPr/>
        </p:nvSpPr>
        <p:spPr>
          <a:xfrm>
            <a:off x="365760" y="4335691"/>
            <a:ext cx="2743200" cy="320040"/>
          </a:xfrm>
          <a:prstGeom prst="rect">
            <a:avLst/>
          </a:prstGeom>
          <a:noFill/>
        </p:spPr>
        <p:txBody>
          <a:bodyPr wrap="square">
            <a:spAutoFit/>
          </a:bodyPr>
          <a:lstStyle/>
          <a:p>
            <a:pPr algn="l"/>
            <a:r>
              <a:rPr sz="1300" b="1" i="0">
                <a:solidFill>
                  <a:srgbClr val="C8D6E5"/>
                </a:solidFill>
                <a:latin typeface="Calibri"/>
              </a:rPr>
              <a:t>Target Audiences:</a:t>
            </a:r>
          </a:p>
        </p:txBody>
      </p:sp>
      <p:sp>
        <p:nvSpPr>
          <p:cNvPr id="29" name="Rectangle 28"/>
          <p:cNvSpPr/>
          <p:nvPr/>
        </p:nvSpPr>
        <p:spPr>
          <a:xfrm>
            <a:off x="365760" y="4701451"/>
            <a:ext cx="2651760" cy="411480"/>
          </a:xfrm>
          <a:prstGeom prst="rect">
            <a:avLst/>
          </a:prstGeom>
          <a:solidFill>
            <a:srgbClr val="1A35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02920" y="4747171"/>
            <a:ext cx="2423160" cy="347472"/>
          </a:xfrm>
          <a:prstGeom prst="rect">
            <a:avLst/>
          </a:prstGeom>
          <a:noFill/>
        </p:spPr>
        <p:txBody>
          <a:bodyPr wrap="square">
            <a:spAutoFit/>
          </a:bodyPr>
          <a:lstStyle/>
          <a:p>
            <a:pPr algn="ctr"/>
            <a:r>
              <a:rPr sz="1200" b="0" i="0">
                <a:solidFill>
                  <a:srgbClr val="00C8FF"/>
                </a:solidFill>
                <a:latin typeface="Calibri"/>
              </a:rPr>
              <a:t>Performance Athletes</a:t>
            </a:r>
          </a:p>
        </p:txBody>
      </p:sp>
      <p:sp>
        <p:nvSpPr>
          <p:cNvPr id="31" name="Rectangle 30"/>
          <p:cNvSpPr/>
          <p:nvPr/>
        </p:nvSpPr>
        <p:spPr>
          <a:xfrm>
            <a:off x="3246120" y="4701451"/>
            <a:ext cx="2651760" cy="411480"/>
          </a:xfrm>
          <a:prstGeom prst="rect">
            <a:avLst/>
          </a:prstGeom>
          <a:solidFill>
            <a:srgbClr val="1A35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383280" y="4747171"/>
            <a:ext cx="2423160" cy="347472"/>
          </a:xfrm>
          <a:prstGeom prst="rect">
            <a:avLst/>
          </a:prstGeom>
          <a:noFill/>
        </p:spPr>
        <p:txBody>
          <a:bodyPr wrap="square">
            <a:spAutoFit/>
          </a:bodyPr>
          <a:lstStyle/>
          <a:p>
            <a:pPr algn="ctr"/>
            <a:r>
              <a:rPr sz="1200" b="0" i="0">
                <a:solidFill>
                  <a:srgbClr val="00C8FF"/>
                </a:solidFill>
                <a:latin typeface="Calibri"/>
              </a:rPr>
              <a:t>Fitness Enthusiasts</a:t>
            </a:r>
          </a:p>
        </p:txBody>
      </p:sp>
      <p:sp>
        <p:nvSpPr>
          <p:cNvPr id="33" name="Rectangle 32"/>
          <p:cNvSpPr/>
          <p:nvPr/>
        </p:nvSpPr>
        <p:spPr>
          <a:xfrm>
            <a:off x="6126480" y="4701451"/>
            <a:ext cx="2651760" cy="411480"/>
          </a:xfrm>
          <a:prstGeom prst="rect">
            <a:avLst/>
          </a:prstGeom>
          <a:solidFill>
            <a:srgbClr val="1A35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263640" y="4747171"/>
            <a:ext cx="2423160" cy="347472"/>
          </a:xfrm>
          <a:prstGeom prst="rect">
            <a:avLst/>
          </a:prstGeom>
          <a:noFill/>
        </p:spPr>
        <p:txBody>
          <a:bodyPr wrap="square">
            <a:spAutoFit/>
          </a:bodyPr>
          <a:lstStyle/>
          <a:p>
            <a:pPr algn="ctr"/>
            <a:r>
              <a:rPr sz="1200" b="0" i="0">
                <a:solidFill>
                  <a:srgbClr val="00C8FF"/>
                </a:solidFill>
                <a:latin typeface="Calibri"/>
              </a:rPr>
              <a:t>Health Professionals</a:t>
            </a:r>
          </a:p>
        </p:txBody>
      </p:sp>
      <p:sp>
        <p:nvSpPr>
          <p:cNvPr id="35" name="Rectangle 34"/>
          <p:cNvSpPr/>
          <p:nvPr/>
        </p:nvSpPr>
        <p:spPr>
          <a:xfrm>
            <a:off x="9006840" y="4701451"/>
            <a:ext cx="2651760" cy="411480"/>
          </a:xfrm>
          <a:prstGeom prst="rect">
            <a:avLst/>
          </a:prstGeom>
          <a:solidFill>
            <a:srgbClr val="1A35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144000" y="4747171"/>
            <a:ext cx="2423160" cy="347472"/>
          </a:xfrm>
          <a:prstGeom prst="rect">
            <a:avLst/>
          </a:prstGeom>
          <a:noFill/>
        </p:spPr>
        <p:txBody>
          <a:bodyPr wrap="square">
            <a:spAutoFit/>
          </a:bodyPr>
          <a:lstStyle/>
          <a:p>
            <a:pPr algn="ctr"/>
            <a:r>
              <a:rPr sz="1200" b="0" i="0">
                <a:solidFill>
                  <a:srgbClr val="00C8FF"/>
                </a:solidFill>
                <a:latin typeface="Calibri"/>
              </a:rPr>
              <a:t>Upgraders</a:t>
            </a:r>
          </a:p>
        </p:txBody>
      </p:sp>
      <p:sp>
        <p:nvSpPr>
          <p:cNvPr id="37" name="TextBox 36"/>
          <p:cNvSpPr txBox="1"/>
          <p:nvPr/>
        </p:nvSpPr>
        <p:spPr>
          <a:xfrm>
            <a:off x="11612880" y="6492240"/>
            <a:ext cx="457200" cy="274320"/>
          </a:xfrm>
          <a:prstGeom prst="rect">
            <a:avLst/>
          </a:prstGeom>
          <a:noFill/>
        </p:spPr>
        <p:txBody>
          <a:bodyPr wrap="square">
            <a:spAutoFit/>
          </a:bodyPr>
          <a:lstStyle/>
          <a:p>
            <a:pPr algn="r"/>
            <a:r>
              <a:rPr sz="1000" b="0" i="0">
                <a:solidFill>
                  <a:srgbClr val="C8D6E5"/>
                </a:solidFill>
                <a:latin typeface="Calibri"/>
              </a:rPr>
              <a:t>2</a:t>
            </a:r>
          </a:p>
        </p:txBody>
      </p:sp>
      <p:sp>
        <p:nvSpPr>
          <p:cNvPr id="38" name="TextBox 37">
            <a:extLst>
              <a:ext uri="{FF2B5EF4-FFF2-40B4-BE49-F238E27FC236}">
                <a16:creationId xmlns:a16="http://schemas.microsoft.com/office/drawing/2014/main" id="{3D501E28-A7AF-88CC-3FE9-826785952B87}"/>
              </a:ext>
            </a:extLst>
          </p:cNvPr>
          <p:cNvSpPr txBox="1"/>
          <p:nvPr/>
        </p:nvSpPr>
        <p:spPr>
          <a:xfrm>
            <a:off x="365760" y="5349240"/>
            <a:ext cx="2743200" cy="292388"/>
          </a:xfrm>
          <a:prstGeom prst="rect">
            <a:avLst/>
          </a:prstGeom>
          <a:noFill/>
        </p:spPr>
        <p:txBody>
          <a:bodyPr wrap="square">
            <a:spAutoFit/>
          </a:bodyPr>
          <a:lstStyle/>
          <a:p>
            <a:pPr algn="l"/>
            <a:r>
              <a:rPr sz="1300" b="1" i="0" dirty="0">
                <a:solidFill>
                  <a:srgbClr val="C8D6E5"/>
                </a:solidFill>
                <a:latin typeface="Calibri"/>
              </a:rPr>
              <a:t>Target </a:t>
            </a:r>
            <a:r>
              <a:rPr lang="de-DE" sz="1300" b="1" i="0" dirty="0">
                <a:solidFill>
                  <a:srgbClr val="C8D6E5"/>
                </a:solidFill>
                <a:latin typeface="Calibri"/>
              </a:rPr>
              <a:t>Channels</a:t>
            </a:r>
            <a:r>
              <a:rPr sz="1300" b="1" i="0" dirty="0">
                <a:solidFill>
                  <a:srgbClr val="C8D6E5"/>
                </a:solidFill>
                <a:latin typeface="Calibri"/>
              </a:rPr>
              <a:t>:</a:t>
            </a:r>
          </a:p>
        </p:txBody>
      </p:sp>
      <p:sp>
        <p:nvSpPr>
          <p:cNvPr id="39" name="Rectangle 38">
            <a:extLst>
              <a:ext uri="{FF2B5EF4-FFF2-40B4-BE49-F238E27FC236}">
                <a16:creationId xmlns:a16="http://schemas.microsoft.com/office/drawing/2014/main" id="{79DC2756-F347-BD90-B54E-AB08366FD0A4}"/>
              </a:ext>
            </a:extLst>
          </p:cNvPr>
          <p:cNvSpPr/>
          <p:nvPr/>
        </p:nvSpPr>
        <p:spPr>
          <a:xfrm>
            <a:off x="365760" y="5715000"/>
            <a:ext cx="2651760" cy="411480"/>
          </a:xfrm>
          <a:prstGeom prst="rect">
            <a:avLst/>
          </a:prstGeom>
          <a:solidFill>
            <a:srgbClr val="1A35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a:extLst>
              <a:ext uri="{FF2B5EF4-FFF2-40B4-BE49-F238E27FC236}">
                <a16:creationId xmlns:a16="http://schemas.microsoft.com/office/drawing/2014/main" id="{71432CE6-699B-A9A8-B64A-A40D41058F60}"/>
              </a:ext>
            </a:extLst>
          </p:cNvPr>
          <p:cNvSpPr txBox="1"/>
          <p:nvPr/>
        </p:nvSpPr>
        <p:spPr>
          <a:xfrm>
            <a:off x="502920" y="5760720"/>
            <a:ext cx="2423160" cy="276999"/>
          </a:xfrm>
          <a:prstGeom prst="rect">
            <a:avLst/>
          </a:prstGeom>
          <a:noFill/>
        </p:spPr>
        <p:txBody>
          <a:bodyPr wrap="square">
            <a:spAutoFit/>
          </a:bodyPr>
          <a:lstStyle/>
          <a:p>
            <a:pPr algn="ctr"/>
            <a:r>
              <a:rPr lang="de-DE" sz="1200" b="0" i="0" dirty="0">
                <a:solidFill>
                  <a:srgbClr val="00C8FF"/>
                </a:solidFill>
                <a:latin typeface="Calibri"/>
              </a:rPr>
              <a:t>Blog Post</a:t>
            </a:r>
            <a:endParaRPr sz="1200" b="0" i="0" dirty="0">
              <a:solidFill>
                <a:srgbClr val="00C8FF"/>
              </a:solidFill>
              <a:latin typeface="Calibri"/>
            </a:endParaRPr>
          </a:p>
        </p:txBody>
      </p:sp>
      <p:sp>
        <p:nvSpPr>
          <p:cNvPr id="41" name="Rectangle 40">
            <a:extLst>
              <a:ext uri="{FF2B5EF4-FFF2-40B4-BE49-F238E27FC236}">
                <a16:creationId xmlns:a16="http://schemas.microsoft.com/office/drawing/2014/main" id="{85996EC1-5F73-5E21-FBD3-D89BC6F7579B}"/>
              </a:ext>
            </a:extLst>
          </p:cNvPr>
          <p:cNvSpPr/>
          <p:nvPr/>
        </p:nvSpPr>
        <p:spPr>
          <a:xfrm>
            <a:off x="3246120" y="5715000"/>
            <a:ext cx="2651760" cy="411480"/>
          </a:xfrm>
          <a:prstGeom prst="rect">
            <a:avLst/>
          </a:prstGeom>
          <a:solidFill>
            <a:srgbClr val="1A35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a:extLst>
              <a:ext uri="{FF2B5EF4-FFF2-40B4-BE49-F238E27FC236}">
                <a16:creationId xmlns:a16="http://schemas.microsoft.com/office/drawing/2014/main" id="{2741496D-2B41-F0E1-F255-8DBAC53BB3E2}"/>
              </a:ext>
            </a:extLst>
          </p:cNvPr>
          <p:cNvSpPr txBox="1"/>
          <p:nvPr/>
        </p:nvSpPr>
        <p:spPr>
          <a:xfrm>
            <a:off x="3383280" y="5760720"/>
            <a:ext cx="2423160" cy="276999"/>
          </a:xfrm>
          <a:prstGeom prst="rect">
            <a:avLst/>
          </a:prstGeom>
          <a:noFill/>
        </p:spPr>
        <p:txBody>
          <a:bodyPr wrap="square">
            <a:spAutoFit/>
          </a:bodyPr>
          <a:lstStyle/>
          <a:p>
            <a:pPr algn="ctr"/>
            <a:r>
              <a:rPr lang="de-DE" sz="1200" b="0" i="0" dirty="0" err="1">
                <a:solidFill>
                  <a:srgbClr val="00C8FF"/>
                </a:solidFill>
                <a:latin typeface="Calibri"/>
              </a:rPr>
              <a:t>LInkedIn</a:t>
            </a:r>
            <a:endParaRPr sz="1200" b="0" i="0" dirty="0">
              <a:solidFill>
                <a:srgbClr val="00C8FF"/>
              </a:solidFill>
              <a:latin typeface="Calibri"/>
            </a:endParaRPr>
          </a:p>
        </p:txBody>
      </p:sp>
      <p:sp>
        <p:nvSpPr>
          <p:cNvPr id="43" name="Rectangle 42">
            <a:extLst>
              <a:ext uri="{FF2B5EF4-FFF2-40B4-BE49-F238E27FC236}">
                <a16:creationId xmlns:a16="http://schemas.microsoft.com/office/drawing/2014/main" id="{9062111D-27B3-63EA-1BE5-B9904DC34E5F}"/>
              </a:ext>
            </a:extLst>
          </p:cNvPr>
          <p:cNvSpPr/>
          <p:nvPr/>
        </p:nvSpPr>
        <p:spPr>
          <a:xfrm>
            <a:off x="6126480" y="5715000"/>
            <a:ext cx="2651760" cy="411480"/>
          </a:xfrm>
          <a:prstGeom prst="rect">
            <a:avLst/>
          </a:prstGeom>
          <a:solidFill>
            <a:srgbClr val="1A35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a:extLst>
              <a:ext uri="{FF2B5EF4-FFF2-40B4-BE49-F238E27FC236}">
                <a16:creationId xmlns:a16="http://schemas.microsoft.com/office/drawing/2014/main" id="{B3143EB0-C5B0-F307-884A-C961DC97EDC3}"/>
              </a:ext>
            </a:extLst>
          </p:cNvPr>
          <p:cNvSpPr txBox="1"/>
          <p:nvPr/>
        </p:nvSpPr>
        <p:spPr>
          <a:xfrm>
            <a:off x="6263640" y="5760720"/>
            <a:ext cx="2423160" cy="276999"/>
          </a:xfrm>
          <a:prstGeom prst="rect">
            <a:avLst/>
          </a:prstGeom>
          <a:noFill/>
        </p:spPr>
        <p:txBody>
          <a:bodyPr wrap="square">
            <a:spAutoFit/>
          </a:bodyPr>
          <a:lstStyle/>
          <a:p>
            <a:pPr algn="ctr"/>
            <a:r>
              <a:rPr lang="de-DE" sz="1200" b="0" i="0" dirty="0">
                <a:solidFill>
                  <a:srgbClr val="00C8FF"/>
                </a:solidFill>
                <a:latin typeface="Calibri"/>
              </a:rPr>
              <a:t>Instagram Caption</a:t>
            </a:r>
            <a:endParaRPr sz="1200" b="0" i="0" dirty="0">
              <a:solidFill>
                <a:srgbClr val="00C8FF"/>
              </a:solidFill>
              <a:latin typeface="Calibri"/>
            </a:endParaRPr>
          </a:p>
        </p:txBody>
      </p:sp>
      <p:sp>
        <p:nvSpPr>
          <p:cNvPr id="45" name="Rectangle 44">
            <a:extLst>
              <a:ext uri="{FF2B5EF4-FFF2-40B4-BE49-F238E27FC236}">
                <a16:creationId xmlns:a16="http://schemas.microsoft.com/office/drawing/2014/main" id="{7DE00067-61DB-D9B2-13ED-D50B961AFFDA}"/>
              </a:ext>
            </a:extLst>
          </p:cNvPr>
          <p:cNvSpPr/>
          <p:nvPr/>
        </p:nvSpPr>
        <p:spPr>
          <a:xfrm>
            <a:off x="9006840" y="5715000"/>
            <a:ext cx="2651760" cy="411480"/>
          </a:xfrm>
          <a:prstGeom prst="rect">
            <a:avLst/>
          </a:prstGeom>
          <a:solidFill>
            <a:srgbClr val="1A35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a:extLst>
              <a:ext uri="{FF2B5EF4-FFF2-40B4-BE49-F238E27FC236}">
                <a16:creationId xmlns:a16="http://schemas.microsoft.com/office/drawing/2014/main" id="{99CA549D-9964-5943-1B51-DCE754C76E33}"/>
              </a:ext>
            </a:extLst>
          </p:cNvPr>
          <p:cNvSpPr txBox="1"/>
          <p:nvPr/>
        </p:nvSpPr>
        <p:spPr>
          <a:xfrm>
            <a:off x="9144000" y="5760720"/>
            <a:ext cx="2423160" cy="276999"/>
          </a:xfrm>
          <a:prstGeom prst="rect">
            <a:avLst/>
          </a:prstGeom>
          <a:noFill/>
        </p:spPr>
        <p:txBody>
          <a:bodyPr wrap="square">
            <a:spAutoFit/>
          </a:bodyPr>
          <a:lstStyle/>
          <a:p>
            <a:pPr algn="ctr"/>
            <a:r>
              <a:rPr lang="de-DE" sz="1200" b="0" i="0" dirty="0">
                <a:solidFill>
                  <a:srgbClr val="00C8FF"/>
                </a:solidFill>
                <a:latin typeface="Calibri"/>
              </a:rPr>
              <a:t>Email </a:t>
            </a:r>
            <a:r>
              <a:rPr lang="de-DE" sz="1200" b="0" i="0" dirty="0" err="1">
                <a:solidFill>
                  <a:srgbClr val="00C8FF"/>
                </a:solidFill>
                <a:latin typeface="Calibri"/>
              </a:rPr>
              <a:t>Subjects</a:t>
            </a:r>
            <a:endParaRPr sz="1200" b="0" i="0" dirty="0">
              <a:solidFill>
                <a:srgbClr val="00C8FF"/>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D9835-2729-90F4-5B98-2ABC2F19FA7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098826F-BEC3-D1AF-179B-DE66D7385A82}"/>
              </a:ext>
            </a:extLst>
          </p:cNvPr>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E89430AD-6EA3-D8BC-D9AE-55718B5FF15D}"/>
              </a:ext>
            </a:extLst>
          </p:cNvPr>
          <p:cNvSpPr txBox="1"/>
          <p:nvPr/>
        </p:nvSpPr>
        <p:spPr>
          <a:xfrm>
            <a:off x="365760" y="228600"/>
            <a:ext cx="3657600" cy="246221"/>
          </a:xfrm>
          <a:prstGeom prst="rect">
            <a:avLst/>
          </a:prstGeom>
          <a:noFill/>
        </p:spPr>
        <p:txBody>
          <a:bodyPr wrap="square">
            <a:spAutoFit/>
          </a:bodyPr>
          <a:lstStyle/>
          <a:p>
            <a:pPr algn="l"/>
            <a:r>
              <a:rPr sz="1000" b="1" i="0" dirty="0">
                <a:solidFill>
                  <a:srgbClr val="00C8FF"/>
                </a:solidFill>
                <a:latin typeface="Calibri"/>
              </a:rPr>
              <a:t>0</a:t>
            </a:r>
            <a:r>
              <a:rPr lang="de-DE" sz="1000" b="1" i="0" dirty="0">
                <a:solidFill>
                  <a:srgbClr val="00C8FF"/>
                </a:solidFill>
                <a:latin typeface="Calibri"/>
              </a:rPr>
              <a:t>2/0</a:t>
            </a:r>
            <a:r>
              <a:rPr sz="1000" b="1" i="0" dirty="0">
                <a:solidFill>
                  <a:srgbClr val="00C8FF"/>
                </a:solidFill>
                <a:latin typeface="Calibri"/>
              </a:rPr>
              <a:t>3  —  </a:t>
            </a:r>
            <a:r>
              <a:rPr lang="de-DE" sz="1000" b="1" dirty="0">
                <a:solidFill>
                  <a:srgbClr val="00C8FF"/>
                </a:solidFill>
                <a:latin typeface="Calibri"/>
              </a:rPr>
              <a:t>KNOWLEDGE BASE &amp; C</a:t>
            </a:r>
            <a:r>
              <a:rPr sz="1000" b="1" i="0" dirty="0">
                <a:solidFill>
                  <a:srgbClr val="00C8FF"/>
                </a:solidFill>
                <a:latin typeface="Calibri"/>
              </a:rPr>
              <a:t>ONTENT PIPELINE</a:t>
            </a:r>
          </a:p>
        </p:txBody>
      </p:sp>
      <p:sp>
        <p:nvSpPr>
          <p:cNvPr id="4" name="Rectangle 3">
            <a:extLst>
              <a:ext uri="{FF2B5EF4-FFF2-40B4-BE49-F238E27FC236}">
                <a16:creationId xmlns:a16="http://schemas.microsoft.com/office/drawing/2014/main" id="{82648B5D-0155-6F4B-A299-F8DEA7380853}"/>
              </a:ext>
            </a:extLst>
          </p:cNvPr>
          <p:cNvSpPr/>
          <p:nvPr/>
        </p:nvSpPr>
        <p:spPr>
          <a:xfrm>
            <a:off x="365760" y="658368"/>
            <a:ext cx="3657600" cy="4572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D383353C-7608-E9CD-0C59-9017CBF1A2EE}"/>
              </a:ext>
            </a:extLst>
          </p:cNvPr>
          <p:cNvSpPr txBox="1"/>
          <p:nvPr/>
        </p:nvSpPr>
        <p:spPr>
          <a:xfrm>
            <a:off x="365760" y="731520"/>
            <a:ext cx="10058400" cy="594360"/>
          </a:xfrm>
          <a:prstGeom prst="rect">
            <a:avLst/>
          </a:prstGeom>
          <a:noFill/>
        </p:spPr>
        <p:txBody>
          <a:bodyPr wrap="square">
            <a:spAutoFit/>
          </a:bodyPr>
          <a:lstStyle/>
          <a:p>
            <a:pPr algn="l"/>
            <a:r>
              <a:rPr sz="3000" b="1" i="0">
                <a:solidFill>
                  <a:srgbClr val="FFFFFF"/>
                </a:solidFill>
                <a:latin typeface="Calibri"/>
              </a:rPr>
              <a:t>5-Stage Content Creation Pipeline</a:t>
            </a:r>
          </a:p>
        </p:txBody>
      </p:sp>
      <p:sp>
        <p:nvSpPr>
          <p:cNvPr id="37" name="TextBox 36">
            <a:extLst>
              <a:ext uri="{FF2B5EF4-FFF2-40B4-BE49-F238E27FC236}">
                <a16:creationId xmlns:a16="http://schemas.microsoft.com/office/drawing/2014/main" id="{F7CB2D7E-324A-7CE3-859F-CDC9BBF856AA}"/>
              </a:ext>
            </a:extLst>
          </p:cNvPr>
          <p:cNvSpPr txBox="1"/>
          <p:nvPr/>
        </p:nvSpPr>
        <p:spPr>
          <a:xfrm>
            <a:off x="11612880" y="6492240"/>
            <a:ext cx="457200" cy="274320"/>
          </a:xfrm>
          <a:prstGeom prst="rect">
            <a:avLst/>
          </a:prstGeom>
          <a:noFill/>
        </p:spPr>
        <p:txBody>
          <a:bodyPr wrap="square">
            <a:spAutoFit/>
          </a:bodyPr>
          <a:lstStyle/>
          <a:p>
            <a:pPr algn="r"/>
            <a:r>
              <a:rPr sz="1000" b="0" i="0">
                <a:solidFill>
                  <a:srgbClr val="C8D6E5"/>
                </a:solidFill>
                <a:latin typeface="Calibri"/>
              </a:rPr>
              <a:t>4</a:t>
            </a:r>
          </a:p>
        </p:txBody>
      </p:sp>
      <p:pic>
        <p:nvPicPr>
          <p:cNvPr id="38" name="Picture 37">
            <a:extLst>
              <a:ext uri="{FF2B5EF4-FFF2-40B4-BE49-F238E27FC236}">
                <a16:creationId xmlns:a16="http://schemas.microsoft.com/office/drawing/2014/main" id="{DD6E117A-D272-001C-20C9-538A6BEF508E}"/>
              </a:ext>
            </a:extLst>
          </p:cNvPr>
          <p:cNvPicPr>
            <a:picLocks noChangeAspect="1"/>
          </p:cNvPicPr>
          <p:nvPr/>
        </p:nvPicPr>
        <p:blipFill>
          <a:blip r:embed="rId2"/>
          <a:stretch>
            <a:fillRect/>
          </a:stretch>
        </p:blipFill>
        <p:spPr>
          <a:xfrm>
            <a:off x="2651760" y="1376252"/>
            <a:ext cx="7772400" cy="5613400"/>
          </a:xfrm>
          <a:prstGeom prst="rect">
            <a:avLst/>
          </a:prstGeom>
        </p:spPr>
      </p:pic>
    </p:spTree>
    <p:extLst>
      <p:ext uri="{BB962C8B-B14F-4D97-AF65-F5344CB8AC3E}">
        <p14:creationId xmlns:p14="http://schemas.microsoft.com/office/powerpoint/2010/main" val="35306007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28600"/>
            <a:ext cx="3657600" cy="246221"/>
          </a:xfrm>
          <a:prstGeom prst="rect">
            <a:avLst/>
          </a:prstGeom>
          <a:noFill/>
        </p:spPr>
        <p:txBody>
          <a:bodyPr wrap="square">
            <a:spAutoFit/>
          </a:bodyPr>
          <a:lstStyle/>
          <a:p>
            <a:pPr algn="l"/>
            <a:r>
              <a:rPr sz="1000" b="1" i="0" dirty="0">
                <a:solidFill>
                  <a:srgbClr val="00C8FF"/>
                </a:solidFill>
                <a:latin typeface="Calibri"/>
              </a:rPr>
              <a:t>0</a:t>
            </a:r>
            <a:r>
              <a:rPr lang="de-DE" sz="1000" b="1" i="0" dirty="0">
                <a:solidFill>
                  <a:srgbClr val="00C8FF"/>
                </a:solidFill>
                <a:latin typeface="Calibri"/>
              </a:rPr>
              <a:t>4</a:t>
            </a:r>
            <a:r>
              <a:rPr sz="1000" b="1" i="0" dirty="0">
                <a:solidFill>
                  <a:srgbClr val="00C8FF"/>
                </a:solidFill>
                <a:latin typeface="Calibri"/>
              </a:rPr>
              <a:t>  —  UNIQUENESS DEMONSTRATION  ⭐ CRITICAL</a:t>
            </a:r>
          </a:p>
        </p:txBody>
      </p:sp>
      <p:sp>
        <p:nvSpPr>
          <p:cNvPr id="4" name="Rectangle 3"/>
          <p:cNvSpPr/>
          <p:nvPr/>
        </p:nvSpPr>
        <p:spPr>
          <a:xfrm>
            <a:off x="365760" y="658368"/>
            <a:ext cx="3657600" cy="4572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31520"/>
            <a:ext cx="10058400" cy="594360"/>
          </a:xfrm>
          <a:prstGeom prst="rect">
            <a:avLst/>
          </a:prstGeom>
          <a:noFill/>
        </p:spPr>
        <p:txBody>
          <a:bodyPr wrap="square">
            <a:spAutoFit/>
          </a:bodyPr>
          <a:lstStyle/>
          <a:p>
            <a:pPr algn="l"/>
            <a:r>
              <a:rPr sz="3000" b="1" i="0">
                <a:solidFill>
                  <a:srgbClr val="FFFFFF"/>
                </a:solidFill>
                <a:latin typeface="Calibri"/>
              </a:rPr>
              <a:t>FitByte vs Generic ChatGPT</a:t>
            </a:r>
          </a:p>
        </p:txBody>
      </p:sp>
      <p:sp>
        <p:nvSpPr>
          <p:cNvPr id="6" name="Rectangle 5"/>
          <p:cNvSpPr/>
          <p:nvPr/>
        </p:nvSpPr>
        <p:spPr>
          <a:xfrm>
            <a:off x="365760" y="1463040"/>
            <a:ext cx="11430000" cy="365760"/>
          </a:xfrm>
          <a:prstGeom prst="rect">
            <a:avLst/>
          </a:prstGeom>
          <a:solidFill>
            <a:srgbClr val="0A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490472"/>
            <a:ext cx="10972800" cy="261610"/>
          </a:xfrm>
          <a:prstGeom prst="rect">
            <a:avLst/>
          </a:prstGeom>
          <a:noFill/>
        </p:spPr>
        <p:txBody>
          <a:bodyPr wrap="square">
            <a:spAutoFit/>
          </a:bodyPr>
          <a:lstStyle/>
          <a:p>
            <a:pPr algn="l"/>
            <a:r>
              <a:rPr sz="1100" b="0" i="0" dirty="0">
                <a:solidFill>
                  <a:srgbClr val="00C8FF"/>
                </a:solidFill>
                <a:latin typeface="Calibri"/>
              </a:rPr>
              <a:t>Topic: "Sleep quality and recovery" </a:t>
            </a:r>
            <a:r>
              <a:rPr lang="de-DE" sz="1100" b="0" i="0" dirty="0">
                <a:solidFill>
                  <a:srgbClr val="00C8FF"/>
                </a:solidFill>
                <a:latin typeface="Calibri"/>
              </a:rPr>
              <a:t> |  </a:t>
            </a:r>
            <a:r>
              <a:rPr lang="de-DE" sz="1100" b="0" i="0" dirty="0" err="1">
                <a:solidFill>
                  <a:srgbClr val="00C8FF"/>
                </a:solidFill>
                <a:latin typeface="Calibri"/>
              </a:rPr>
              <a:t>Audience</a:t>
            </a:r>
            <a:r>
              <a:rPr lang="de-DE" sz="1100" b="0" i="0" dirty="0">
                <a:solidFill>
                  <a:srgbClr val="00C8FF"/>
                </a:solidFill>
                <a:latin typeface="Calibri"/>
              </a:rPr>
              <a:t>: Performance </a:t>
            </a:r>
            <a:r>
              <a:rPr lang="de-DE" sz="1100" b="0" i="0" dirty="0" err="1">
                <a:solidFill>
                  <a:srgbClr val="00C8FF"/>
                </a:solidFill>
                <a:latin typeface="Calibri"/>
              </a:rPr>
              <a:t>Athlete</a:t>
            </a:r>
            <a:r>
              <a:rPr sz="1100" b="0" i="0" dirty="0">
                <a:solidFill>
                  <a:srgbClr val="00C8FF"/>
                </a:solidFill>
                <a:latin typeface="Calibri"/>
              </a:rPr>
              <a:t>  |   Channel: Blog</a:t>
            </a:r>
          </a:p>
        </p:txBody>
      </p:sp>
      <p:sp>
        <p:nvSpPr>
          <p:cNvPr id="8" name="Rectangle 7"/>
          <p:cNvSpPr/>
          <p:nvPr/>
        </p:nvSpPr>
        <p:spPr>
          <a:xfrm>
            <a:off x="365760" y="1920240"/>
            <a:ext cx="5394960" cy="4114800"/>
          </a:xfrm>
          <a:prstGeom prst="rect">
            <a:avLst/>
          </a:prstGeom>
          <a:solidFill>
            <a:srgbClr val="1E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65760" y="1920240"/>
            <a:ext cx="5394960" cy="384048"/>
          </a:xfrm>
          <a:prstGeom prst="rect">
            <a:avLst/>
          </a:prstGeom>
          <a:solidFill>
            <a:srgbClr val="005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2920" y="1956816"/>
            <a:ext cx="5120640" cy="320040"/>
          </a:xfrm>
          <a:prstGeom prst="rect">
            <a:avLst/>
          </a:prstGeom>
          <a:noFill/>
        </p:spPr>
        <p:txBody>
          <a:bodyPr wrap="square">
            <a:spAutoFit/>
          </a:bodyPr>
          <a:lstStyle/>
          <a:p>
            <a:pPr algn="l"/>
            <a:r>
              <a:rPr sz="1100" b="1" i="0">
                <a:solidFill>
                  <a:srgbClr val="FFFFFF"/>
                </a:solidFill>
                <a:latin typeface="Calibri"/>
              </a:rPr>
              <a:t>FITBYTE BRANDED OUTPUT</a:t>
            </a:r>
          </a:p>
        </p:txBody>
      </p:sp>
      <p:sp>
        <p:nvSpPr>
          <p:cNvPr id="11" name="TextBox 10"/>
          <p:cNvSpPr txBox="1"/>
          <p:nvPr/>
        </p:nvSpPr>
        <p:spPr>
          <a:xfrm>
            <a:off x="502920" y="2395728"/>
            <a:ext cx="5120640" cy="3323987"/>
          </a:xfrm>
          <a:prstGeom prst="rect">
            <a:avLst/>
          </a:prstGeom>
          <a:noFill/>
        </p:spPr>
        <p:txBody>
          <a:bodyPr wrap="square">
            <a:spAutoFit/>
          </a:bodyPr>
          <a:lstStyle/>
          <a:p>
            <a:r>
              <a:rPr lang="en-GB" sz="1050" dirty="0">
                <a:solidFill>
                  <a:srgbClr val="FFFFFF"/>
                </a:solidFill>
              </a:rPr>
              <a:t>**Sleep Quality and Recovery: The Unsung Heroes of Performance**</a:t>
            </a:r>
          </a:p>
          <a:p>
            <a:endParaRPr lang="en-GB" sz="1050" dirty="0">
              <a:solidFill>
                <a:srgbClr val="FFFFFF"/>
              </a:solidFill>
            </a:endParaRPr>
          </a:p>
          <a:p>
            <a:r>
              <a:rPr lang="en-GB" sz="1050" dirty="0">
                <a:solidFill>
                  <a:srgbClr val="FFFFFF"/>
                </a:solidFill>
              </a:rPr>
              <a:t>It is not just about clocking hours in the gym. For athletes and everyday movers alike, sleep quality plays a crucial role in recovery and overall performance. A single night of restless sleep can hinder your progress, affecting everything from muscle repair to mental sharpness.</a:t>
            </a:r>
          </a:p>
          <a:p>
            <a:endParaRPr lang="en-GB" sz="1050" dirty="0">
              <a:solidFill>
                <a:srgbClr val="FFFFFF"/>
              </a:solidFill>
            </a:endParaRPr>
          </a:p>
          <a:p>
            <a:r>
              <a:rPr lang="en-GB" sz="1050" dirty="0">
                <a:solidFill>
                  <a:srgbClr val="FFFFFF"/>
                </a:solidFill>
              </a:rPr>
              <a:t>Recent insights show that many serious athletes are now prioritizing recovery metrics, with 68 percent tracking their recovery more closely than ever. This shift reflects a growing awareness that quality sleep often trumps quantity. Six hours of restorative sleep can be far more beneficial than eight hours of tossing and turning.</a:t>
            </a:r>
          </a:p>
          <a:p>
            <a:endParaRPr lang="en-GB" sz="1050" dirty="0">
              <a:solidFill>
                <a:srgbClr val="FFFFFF"/>
              </a:solidFill>
            </a:endParaRPr>
          </a:p>
          <a:p>
            <a:r>
              <a:rPr lang="en-GB" sz="1050" dirty="0">
                <a:solidFill>
                  <a:srgbClr val="FFFFFF"/>
                </a:solidFill>
              </a:rPr>
              <a:t>At </a:t>
            </a:r>
            <a:r>
              <a:rPr lang="en-GB" sz="1050" dirty="0" err="1">
                <a:solidFill>
                  <a:srgbClr val="FFFFFF"/>
                </a:solidFill>
              </a:rPr>
              <a:t>FitByte</a:t>
            </a:r>
            <a:r>
              <a:rPr lang="en-GB" sz="1050" dirty="0">
                <a:solidFill>
                  <a:srgbClr val="FFFFFF"/>
                </a:solidFill>
              </a:rPr>
              <a:t>, we understand the importance of this balance. Our fitness watch not only tracks your activity but also monitors your sleep stages, providing insights into how well you rest at night. With features like heart rate variability tracking, you can better understand your body’s readiness to tackle the day ahead.</a:t>
            </a:r>
          </a:p>
          <a:p>
            <a:endParaRPr lang="en-GB" sz="1050" dirty="0">
              <a:solidFill>
                <a:srgbClr val="FFFFFF"/>
              </a:solidFill>
            </a:endParaRPr>
          </a:p>
          <a:p>
            <a:r>
              <a:rPr lang="en-GB" sz="1050" dirty="0">
                <a:solidFill>
                  <a:srgbClr val="FFFFFF"/>
                </a:solidFill>
              </a:rPr>
              <a:t>So, if you want to maximize your performance, consider your sleep as a vital component of your training plan. Prioritize rest, listen to your body, and let the data guide you towards smarter recovery. Your next workout will thank you for it.</a:t>
            </a:r>
            <a:endParaRPr sz="1050" b="0" i="0" dirty="0">
              <a:solidFill>
                <a:srgbClr val="FFFFFF"/>
              </a:solidFill>
              <a:latin typeface="Calibri"/>
            </a:endParaRPr>
          </a:p>
        </p:txBody>
      </p:sp>
      <p:sp>
        <p:nvSpPr>
          <p:cNvPr id="12" name="Rectangle 11"/>
          <p:cNvSpPr/>
          <p:nvPr/>
        </p:nvSpPr>
        <p:spPr>
          <a:xfrm>
            <a:off x="6126480" y="1920240"/>
            <a:ext cx="5394960" cy="4114800"/>
          </a:xfrm>
          <a:prstGeom prst="rect">
            <a:avLst/>
          </a:prstGeom>
          <a:solidFill>
            <a:srgbClr val="28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126480" y="1920240"/>
            <a:ext cx="5394960" cy="384048"/>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263640" y="1956816"/>
            <a:ext cx="5120640" cy="320040"/>
          </a:xfrm>
          <a:prstGeom prst="rect">
            <a:avLst/>
          </a:prstGeom>
          <a:noFill/>
        </p:spPr>
        <p:txBody>
          <a:bodyPr wrap="square">
            <a:spAutoFit/>
          </a:bodyPr>
          <a:lstStyle/>
          <a:p>
            <a:pPr algn="l"/>
            <a:r>
              <a:rPr sz="1100" b="1" i="0">
                <a:solidFill>
                  <a:srgbClr val="C8D6E5"/>
                </a:solidFill>
                <a:latin typeface="Calibri"/>
              </a:rPr>
              <a:t>GENERIC CHATGPT OUTPUT</a:t>
            </a:r>
          </a:p>
        </p:txBody>
      </p:sp>
      <p:sp>
        <p:nvSpPr>
          <p:cNvPr id="15" name="TextBox 14"/>
          <p:cNvSpPr txBox="1"/>
          <p:nvPr/>
        </p:nvSpPr>
        <p:spPr>
          <a:xfrm>
            <a:off x="6263640" y="2395728"/>
            <a:ext cx="5120640" cy="3331681"/>
          </a:xfrm>
          <a:prstGeom prst="rect">
            <a:avLst/>
          </a:prstGeom>
          <a:noFill/>
        </p:spPr>
        <p:txBody>
          <a:bodyPr wrap="square">
            <a:spAutoFit/>
          </a:bodyPr>
          <a:lstStyle/>
          <a:p>
            <a:r>
              <a:rPr sz="1050" b="0" i="0" dirty="0">
                <a:solidFill>
                  <a:srgbClr val="C8D6E5"/>
                </a:solidFill>
                <a:latin typeface="Calibri"/>
              </a:rPr>
              <a:t>Improving Your Sleep Quality
</a:t>
            </a:r>
            <a:r>
              <a:rPr lang="en-GB" sz="1050" b="0" i="0" dirty="0">
                <a:solidFill>
                  <a:srgbClr val="C8D6E5"/>
                </a:solidFill>
                <a:latin typeface="Calibri"/>
              </a:rPr>
              <a:t>Sleep quality is one of the most important parts of recovery. While workouts, nutrition, stretching, and recovery tools can help, sleep is when your body does most of its repair work. During deep sleep, muscles rebuild, energy stores are restored, and hormones that support growth, appetite, and stress are regulated.</a:t>
            </a:r>
          </a:p>
          <a:p>
            <a:endParaRPr lang="en-GB" sz="1050" b="0" i="0" dirty="0">
              <a:solidFill>
                <a:srgbClr val="C8D6E5"/>
              </a:solidFill>
              <a:latin typeface="Calibri"/>
            </a:endParaRPr>
          </a:p>
          <a:p>
            <a:r>
              <a:rPr lang="en-GB" sz="1050" b="0" i="0" dirty="0">
                <a:solidFill>
                  <a:srgbClr val="C8D6E5"/>
                </a:solidFill>
                <a:latin typeface="Calibri"/>
              </a:rPr>
              <a:t>Good sleep also supports mental recovery. REM sleep helps with memory, mood, focus, and emotional balance. When sleep is poor, you may feel more irritable, less motivated, slower to recover, and more likely to experience cravings, low energy, or weaker performance.</a:t>
            </a:r>
          </a:p>
          <a:p>
            <a:endParaRPr lang="en-GB" sz="1050" b="0" i="0" dirty="0">
              <a:solidFill>
                <a:srgbClr val="C8D6E5"/>
              </a:solidFill>
              <a:latin typeface="Calibri"/>
            </a:endParaRPr>
          </a:p>
          <a:p>
            <a:r>
              <a:rPr lang="en-GB" sz="1050" b="0" i="0" dirty="0">
                <a:solidFill>
                  <a:srgbClr val="C8D6E5"/>
                </a:solidFill>
                <a:latin typeface="Calibri"/>
              </a:rPr>
              <a:t>Improving sleep quality does not need to be complicated. Try keeping a consistent bedtime and wake-up time, getting natural light early in the day, limiting caffeine later in the afternoon, and creating a cool, dark, quiet bedroom. A short wind-down routine before bed can also help signal to your body that it is time to rest.</a:t>
            </a:r>
          </a:p>
          <a:p>
            <a:endParaRPr lang="en-GB" sz="1050" b="0" i="0" dirty="0">
              <a:solidFill>
                <a:srgbClr val="C8D6E5"/>
              </a:solidFill>
              <a:latin typeface="Calibri"/>
            </a:endParaRPr>
          </a:p>
          <a:p>
            <a:r>
              <a:rPr lang="en-GB" sz="1050" b="0" i="0" dirty="0">
                <a:solidFill>
                  <a:srgbClr val="C8D6E5"/>
                </a:solidFill>
                <a:latin typeface="Calibri"/>
              </a:rPr>
              <a:t>Better recovery starts with better sleep. When you sleep well, your body repairs faster, your mind feels clearer, and your energy becomes more stable throughout the day.</a:t>
            </a:r>
          </a:p>
          <a:p>
            <a:endParaRPr sz="1100" b="0" i="0" dirty="0">
              <a:solidFill>
                <a:srgbClr val="C8D6E5"/>
              </a:solidFill>
              <a:latin typeface="Calibri"/>
            </a:endParaRPr>
          </a:p>
        </p:txBody>
      </p:sp>
      <p:sp>
        <p:nvSpPr>
          <p:cNvPr id="16" name="Rectangle 15"/>
          <p:cNvSpPr/>
          <p:nvPr/>
        </p:nvSpPr>
        <p:spPr>
          <a:xfrm>
            <a:off x="5760720" y="1920240"/>
            <a:ext cx="365760" cy="41148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760720" y="3749039"/>
            <a:ext cx="365760" cy="457200"/>
          </a:xfrm>
          <a:prstGeom prst="rect">
            <a:avLst/>
          </a:prstGeom>
          <a:noFill/>
        </p:spPr>
        <p:txBody>
          <a:bodyPr wrap="square">
            <a:spAutoFit/>
          </a:bodyPr>
          <a:lstStyle/>
          <a:p>
            <a:pPr algn="ctr"/>
            <a:r>
              <a:rPr sz="1400" b="1" i="0">
                <a:solidFill>
                  <a:srgbClr val="FF6B35"/>
                </a:solidFill>
                <a:latin typeface="Calibri"/>
              </a:rPr>
              <a:t>VS</a:t>
            </a:r>
          </a:p>
        </p:txBody>
      </p:sp>
      <p:sp>
        <p:nvSpPr>
          <p:cNvPr id="18" name="Rectangle 17"/>
          <p:cNvSpPr/>
          <p:nvPr/>
        </p:nvSpPr>
        <p:spPr>
          <a:xfrm>
            <a:off x="365760" y="6126480"/>
            <a:ext cx="11430000" cy="594360"/>
          </a:xfrm>
          <a:prstGeom prst="rect">
            <a:avLst/>
          </a:prstGeom>
          <a:solidFill>
            <a:srgbClr val="0A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48640" y="6163056"/>
            <a:ext cx="2011680" cy="457200"/>
          </a:xfrm>
          <a:prstGeom prst="rect">
            <a:avLst/>
          </a:prstGeom>
          <a:noFill/>
        </p:spPr>
        <p:txBody>
          <a:bodyPr wrap="square">
            <a:spAutoFit/>
          </a:bodyPr>
          <a:lstStyle/>
          <a:p>
            <a:pPr algn="l"/>
            <a:r>
              <a:rPr sz="1100" b="1" i="0">
                <a:solidFill>
                  <a:srgbClr val="00C8FF"/>
                </a:solidFill>
                <a:latin typeface="Calibri"/>
              </a:rPr>
              <a:t>FitByte advantages:  </a:t>
            </a:r>
          </a:p>
        </p:txBody>
      </p:sp>
      <p:sp>
        <p:nvSpPr>
          <p:cNvPr id="20" name="Rectangle 19"/>
          <p:cNvSpPr/>
          <p:nvPr/>
        </p:nvSpPr>
        <p:spPr>
          <a:xfrm>
            <a:off x="2468880" y="6199632"/>
            <a:ext cx="2194560" cy="347472"/>
          </a:xfrm>
          <a:prstGeom prst="rect">
            <a:avLst/>
          </a:prstGeom>
          <a:solidFill>
            <a:srgbClr val="00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560320" y="6217920"/>
            <a:ext cx="2011680" cy="310896"/>
          </a:xfrm>
          <a:prstGeom prst="rect">
            <a:avLst/>
          </a:prstGeom>
          <a:noFill/>
        </p:spPr>
        <p:txBody>
          <a:bodyPr wrap="square">
            <a:spAutoFit/>
          </a:bodyPr>
          <a:lstStyle/>
          <a:p>
            <a:pPr algn="ctr"/>
            <a:r>
              <a:rPr sz="1000" b="0" i="0">
                <a:solidFill>
                  <a:srgbClr val="FFFFFF"/>
                </a:solidFill>
                <a:latin typeface="Calibri"/>
              </a:rPr>
              <a:t>Brand voice</a:t>
            </a:r>
          </a:p>
        </p:txBody>
      </p:sp>
      <p:sp>
        <p:nvSpPr>
          <p:cNvPr id="22" name="Rectangle 21"/>
          <p:cNvSpPr/>
          <p:nvPr/>
        </p:nvSpPr>
        <p:spPr>
          <a:xfrm>
            <a:off x="4800600" y="6199632"/>
            <a:ext cx="2194560" cy="347472"/>
          </a:xfrm>
          <a:prstGeom prst="rect">
            <a:avLst/>
          </a:prstGeom>
          <a:solidFill>
            <a:srgbClr val="00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892040" y="6217920"/>
            <a:ext cx="2011680" cy="246221"/>
          </a:xfrm>
          <a:prstGeom prst="rect">
            <a:avLst/>
          </a:prstGeom>
          <a:noFill/>
        </p:spPr>
        <p:txBody>
          <a:bodyPr wrap="square">
            <a:spAutoFit/>
          </a:bodyPr>
          <a:lstStyle/>
          <a:p>
            <a:pPr algn="ctr"/>
            <a:r>
              <a:rPr sz="1000" b="0" i="0" dirty="0">
                <a:solidFill>
                  <a:srgbClr val="FFFFFF"/>
                </a:solidFill>
                <a:latin typeface="Calibri"/>
              </a:rPr>
              <a:t>Specific product refs </a:t>
            </a:r>
          </a:p>
        </p:txBody>
      </p:sp>
      <p:sp>
        <p:nvSpPr>
          <p:cNvPr id="24" name="Rectangle 23"/>
          <p:cNvSpPr/>
          <p:nvPr/>
        </p:nvSpPr>
        <p:spPr>
          <a:xfrm>
            <a:off x="7132320" y="6199632"/>
            <a:ext cx="2194560" cy="347472"/>
          </a:xfrm>
          <a:prstGeom prst="rect">
            <a:avLst/>
          </a:prstGeom>
          <a:solidFill>
            <a:srgbClr val="00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223759" y="6217920"/>
            <a:ext cx="2011680" cy="310896"/>
          </a:xfrm>
          <a:prstGeom prst="rect">
            <a:avLst/>
          </a:prstGeom>
          <a:noFill/>
        </p:spPr>
        <p:txBody>
          <a:bodyPr wrap="square">
            <a:spAutoFit/>
          </a:bodyPr>
          <a:lstStyle/>
          <a:p>
            <a:pPr algn="ctr"/>
            <a:r>
              <a:rPr sz="1000" b="0" i="0">
                <a:solidFill>
                  <a:srgbClr val="FFFFFF"/>
                </a:solidFill>
                <a:latin typeface="Calibri"/>
              </a:rPr>
              <a:t>Real data (68% stat)</a:t>
            </a:r>
          </a:p>
        </p:txBody>
      </p:sp>
      <p:sp>
        <p:nvSpPr>
          <p:cNvPr id="26" name="Rectangle 25"/>
          <p:cNvSpPr/>
          <p:nvPr/>
        </p:nvSpPr>
        <p:spPr>
          <a:xfrm>
            <a:off x="9464040" y="6199632"/>
            <a:ext cx="2194560" cy="347472"/>
          </a:xfrm>
          <a:prstGeom prst="rect">
            <a:avLst/>
          </a:prstGeom>
          <a:solidFill>
            <a:srgbClr val="00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555480" y="6217920"/>
            <a:ext cx="2011680" cy="310896"/>
          </a:xfrm>
          <a:prstGeom prst="rect">
            <a:avLst/>
          </a:prstGeom>
          <a:noFill/>
        </p:spPr>
        <p:txBody>
          <a:bodyPr wrap="square">
            <a:spAutoFit/>
          </a:bodyPr>
          <a:lstStyle/>
          <a:p>
            <a:pPr algn="ctr"/>
            <a:r>
              <a:rPr sz="1000" b="0" i="0">
                <a:solidFill>
                  <a:srgbClr val="FFFFFF"/>
                </a:solidFill>
                <a:latin typeface="Calibri"/>
              </a:rPr>
              <a:t>Audience insight</a:t>
            </a:r>
          </a:p>
        </p:txBody>
      </p:sp>
      <p:sp>
        <p:nvSpPr>
          <p:cNvPr id="28" name="TextBox 27"/>
          <p:cNvSpPr txBox="1"/>
          <p:nvPr/>
        </p:nvSpPr>
        <p:spPr>
          <a:xfrm>
            <a:off x="11612880" y="6492240"/>
            <a:ext cx="457200" cy="274320"/>
          </a:xfrm>
          <a:prstGeom prst="rect">
            <a:avLst/>
          </a:prstGeom>
          <a:noFill/>
        </p:spPr>
        <p:txBody>
          <a:bodyPr wrap="square">
            <a:spAutoFit/>
          </a:bodyPr>
          <a:lstStyle/>
          <a:p>
            <a:pPr algn="r"/>
            <a:r>
              <a:rPr sz="1000" b="0" i="0">
                <a:solidFill>
                  <a:srgbClr val="C8D6E5"/>
                </a:solidFill>
                <a:latin typeface="Calibri"/>
              </a:rPr>
              <a:t>6</a:t>
            </a:r>
          </a:p>
        </p:txBody>
      </p:sp>
      <p:sp>
        <p:nvSpPr>
          <p:cNvPr id="29" name="Rectangle 28">
            <a:extLst>
              <a:ext uri="{FF2B5EF4-FFF2-40B4-BE49-F238E27FC236}">
                <a16:creationId xmlns:a16="http://schemas.microsoft.com/office/drawing/2014/main" id="{F55407FC-23F8-417E-4D94-94F1AA169149}"/>
              </a:ext>
            </a:extLst>
          </p:cNvPr>
          <p:cNvSpPr/>
          <p:nvPr/>
        </p:nvSpPr>
        <p:spPr>
          <a:xfrm rot="2012361">
            <a:off x="5527968" y="603547"/>
            <a:ext cx="1574310" cy="717884"/>
          </a:xfrm>
          <a:prstGeom prst="rect">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DE" dirty="0"/>
              <a:t>Examples updated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548497" y="220292"/>
            <a:ext cx="11213719" cy="268154"/>
          </a:xfrm>
          <a:prstGeom prst="rect">
            <a:avLst/>
          </a:prstGeom>
          <a:noFill/>
          <a:ln/>
        </p:spPr>
        <p:txBody>
          <a:bodyPr wrap="square" rtlCol="0" anchor="ctr"/>
          <a:lstStyle/>
          <a:p>
            <a:pPr defTabSz="1218895"/>
            <a:r>
              <a:rPr lang="en-US" sz="1066" b="1" kern="0" spc="400" dirty="0">
                <a:solidFill>
                  <a:srgbClr val="00D4AA"/>
                </a:solidFill>
                <a:latin typeface="Calibri" panose="020F0502020204030204"/>
              </a:rPr>
              <a:t>06 — TECHNICAL IMPLEMENTATION &amp; PROMPT ENGINEERING</a:t>
            </a:r>
            <a:endParaRPr lang="en-US" sz="1066" dirty="0">
              <a:solidFill>
                <a:prstClr val="black"/>
              </a:solidFill>
              <a:latin typeface="Calibri" panose="020F0502020204030204"/>
            </a:endParaRPr>
          </a:p>
        </p:txBody>
      </p:sp>
      <p:sp>
        <p:nvSpPr>
          <p:cNvPr id="3" name="Text 1"/>
          <p:cNvSpPr/>
          <p:nvPr/>
        </p:nvSpPr>
        <p:spPr>
          <a:xfrm>
            <a:off x="548497" y="464068"/>
            <a:ext cx="11213719" cy="633819"/>
          </a:xfrm>
          <a:prstGeom prst="rect">
            <a:avLst/>
          </a:prstGeom>
          <a:noFill/>
          <a:ln/>
        </p:spPr>
        <p:txBody>
          <a:bodyPr wrap="square" rtlCol="0" anchor="ctr"/>
          <a:lstStyle/>
          <a:p>
            <a:pPr defTabSz="1218895"/>
            <a:r>
              <a:rPr lang="en-US" sz="3466" b="1" dirty="0">
                <a:solidFill>
                  <a:srgbClr val="FFFFFF"/>
                </a:solidFill>
                <a:latin typeface="Calibri" pitchFamily="34" charset="0"/>
                <a:ea typeface="Calibri" pitchFamily="34" charset="-122"/>
                <a:cs typeface="Calibri" pitchFamily="34" charset="-120"/>
              </a:rPr>
              <a:t>Architecture &amp; Dynamic Prompts</a:t>
            </a:r>
            <a:endParaRPr lang="en-US" sz="3466" dirty="0">
              <a:solidFill>
                <a:prstClr val="black"/>
              </a:solidFill>
              <a:latin typeface="Calibri" panose="020F0502020204030204"/>
            </a:endParaRPr>
          </a:p>
        </p:txBody>
      </p:sp>
      <p:sp>
        <p:nvSpPr>
          <p:cNvPr id="4" name="Shape 2"/>
          <p:cNvSpPr/>
          <p:nvPr/>
        </p:nvSpPr>
        <p:spPr>
          <a:xfrm>
            <a:off x="548497" y="1699361"/>
            <a:ext cx="3473815" cy="1560170"/>
          </a:xfrm>
          <a:prstGeom prst="rect">
            <a:avLst/>
          </a:prstGeom>
          <a:solidFill>
            <a:srgbClr val="161B27"/>
          </a:solidFill>
          <a:ln w="12700">
            <a:solidFill>
              <a:srgbClr val="161B27"/>
            </a:solidFill>
            <a:prstDash val="solid"/>
          </a:ln>
        </p:spPr>
        <p:txBody>
          <a:bodyPr/>
          <a:lstStyle/>
          <a:p>
            <a:pPr defTabSz="1218895"/>
            <a:endParaRPr lang="en-DE" sz="2399">
              <a:solidFill>
                <a:prstClr val="black"/>
              </a:solidFill>
              <a:latin typeface="Calibri" panose="020F0502020204030204"/>
            </a:endParaRPr>
          </a:p>
        </p:txBody>
      </p:sp>
      <p:sp>
        <p:nvSpPr>
          <p:cNvPr id="5" name="Shape 3"/>
          <p:cNvSpPr/>
          <p:nvPr/>
        </p:nvSpPr>
        <p:spPr>
          <a:xfrm>
            <a:off x="548497" y="1699361"/>
            <a:ext cx="73133" cy="1560170"/>
          </a:xfrm>
          <a:prstGeom prst="rect">
            <a:avLst/>
          </a:prstGeom>
          <a:solidFill>
            <a:srgbClr val="00D4AA"/>
          </a:solidFill>
          <a:ln w="12700">
            <a:solidFill>
              <a:srgbClr val="00D4AA"/>
            </a:solidFill>
            <a:prstDash val="solid"/>
          </a:ln>
        </p:spPr>
        <p:txBody>
          <a:bodyPr/>
          <a:lstStyle/>
          <a:p>
            <a:pPr defTabSz="1218895"/>
            <a:endParaRPr lang="en-DE" sz="2399">
              <a:solidFill>
                <a:prstClr val="black"/>
              </a:solidFill>
              <a:latin typeface="Calibri" panose="020F0502020204030204"/>
            </a:endParaRPr>
          </a:p>
        </p:txBody>
      </p:sp>
      <p:sp>
        <p:nvSpPr>
          <p:cNvPr id="6" name="Text 4"/>
          <p:cNvSpPr/>
          <p:nvPr/>
        </p:nvSpPr>
        <p:spPr>
          <a:xfrm>
            <a:off x="706951" y="1784683"/>
            <a:ext cx="3230039" cy="292532"/>
          </a:xfrm>
          <a:prstGeom prst="rect">
            <a:avLst/>
          </a:prstGeom>
          <a:noFill/>
          <a:ln/>
        </p:spPr>
        <p:txBody>
          <a:bodyPr wrap="square" rtlCol="0" anchor="ctr"/>
          <a:lstStyle/>
          <a:p>
            <a:pPr defTabSz="1218895"/>
            <a:r>
              <a:rPr lang="en-US" sz="1266" b="1" dirty="0">
                <a:solidFill>
                  <a:srgbClr val="00D4AA"/>
                </a:solidFill>
                <a:latin typeface="Calibri" pitchFamily="34" charset="0"/>
                <a:ea typeface="Calibri" pitchFamily="34" charset="-122"/>
                <a:cs typeface="Calibri" pitchFamily="34" charset="-120"/>
              </a:rPr>
              <a:t>llm_integration.py</a:t>
            </a:r>
            <a:endParaRPr lang="en-US" sz="1266" dirty="0">
              <a:solidFill>
                <a:prstClr val="black"/>
              </a:solidFill>
              <a:latin typeface="Calibri" panose="020F0502020204030204"/>
            </a:endParaRPr>
          </a:p>
        </p:txBody>
      </p:sp>
      <p:sp>
        <p:nvSpPr>
          <p:cNvPr id="7" name="Text 5"/>
          <p:cNvSpPr/>
          <p:nvPr/>
        </p:nvSpPr>
        <p:spPr>
          <a:xfrm>
            <a:off x="706951" y="2125970"/>
            <a:ext cx="3230039" cy="1048239"/>
          </a:xfrm>
          <a:prstGeom prst="rect">
            <a:avLst/>
          </a:prstGeom>
          <a:noFill/>
          <a:ln/>
        </p:spPr>
        <p:txBody>
          <a:bodyPr wrap="square" rtlCol="0" anchor="t"/>
          <a:lstStyle/>
          <a:p>
            <a:pPr marL="457086" indent="-457086" defTabSz="1218895">
              <a:buSzPct val="100000"/>
              <a:buFontTx/>
              <a:buChar char="•"/>
            </a:pPr>
            <a:r>
              <a:rPr lang="en-US" sz="1093" dirty="0">
                <a:solidFill>
                  <a:srgbClr val="C8CAD4"/>
                </a:solidFill>
                <a:latin typeface="Calibri" pitchFamily="34" charset="0"/>
                <a:ea typeface="Calibri" pitchFamily="34" charset="-122"/>
                <a:cs typeface="Calibri" pitchFamily="34" charset="-120"/>
              </a:rPr>
              <a:t>GPT-4o-mini + Claude Haiku</a:t>
            </a:r>
            <a:endParaRPr lang="en-US" sz="1093" dirty="0">
              <a:solidFill>
                <a:prstClr val="black"/>
              </a:solidFill>
              <a:latin typeface="Calibri" panose="020F0502020204030204"/>
            </a:endParaRPr>
          </a:p>
          <a:p>
            <a:pPr marL="457086" indent="-457086" defTabSz="1218895">
              <a:buSzPct val="100000"/>
              <a:buFontTx/>
              <a:buChar char="•"/>
            </a:pPr>
            <a:r>
              <a:rPr lang="en-US" sz="1093" dirty="0">
                <a:solidFill>
                  <a:srgbClr val="C8CAD4"/>
                </a:solidFill>
                <a:latin typeface="Calibri" pitchFamily="34" charset="0"/>
                <a:ea typeface="Calibri" pitchFamily="34" charset="-122"/>
                <a:cs typeface="Calibri" pitchFamily="34" charset="-120"/>
              </a:rPr>
              <a:t>Auto-provider detection</a:t>
            </a:r>
            <a:endParaRPr lang="en-US" sz="1093" dirty="0">
              <a:solidFill>
                <a:prstClr val="black"/>
              </a:solidFill>
              <a:latin typeface="Calibri" panose="020F0502020204030204"/>
            </a:endParaRPr>
          </a:p>
          <a:p>
            <a:pPr marL="457086" indent="-457086" defTabSz="1218895">
              <a:buSzPct val="100000"/>
              <a:buFontTx/>
              <a:buChar char="•"/>
            </a:pPr>
            <a:r>
              <a:rPr lang="en-US" sz="1093" dirty="0">
                <a:solidFill>
                  <a:srgbClr val="C8CAD4"/>
                </a:solidFill>
                <a:latin typeface="Calibri" pitchFamily="34" charset="0"/>
                <a:ea typeface="Calibri" pitchFamily="34" charset="-122"/>
                <a:cs typeface="Calibri" pitchFamily="34" charset="-120"/>
              </a:rPr>
              <a:t>Exponential backoff &amp; token tracking</a:t>
            </a:r>
            <a:endParaRPr lang="en-US" sz="1093" dirty="0">
              <a:solidFill>
                <a:prstClr val="black"/>
              </a:solidFill>
              <a:latin typeface="Calibri" panose="020F0502020204030204"/>
            </a:endParaRPr>
          </a:p>
        </p:txBody>
      </p:sp>
      <p:sp>
        <p:nvSpPr>
          <p:cNvPr id="8" name="Shape 6"/>
          <p:cNvSpPr/>
          <p:nvPr/>
        </p:nvSpPr>
        <p:spPr>
          <a:xfrm>
            <a:off x="4241711" y="1699361"/>
            <a:ext cx="3473815" cy="1560170"/>
          </a:xfrm>
          <a:prstGeom prst="rect">
            <a:avLst/>
          </a:prstGeom>
          <a:solidFill>
            <a:srgbClr val="161B27"/>
          </a:solidFill>
          <a:ln w="12700">
            <a:solidFill>
              <a:srgbClr val="161B27"/>
            </a:solidFill>
            <a:prstDash val="solid"/>
          </a:ln>
        </p:spPr>
        <p:txBody>
          <a:bodyPr/>
          <a:lstStyle/>
          <a:p>
            <a:pPr defTabSz="1218895"/>
            <a:endParaRPr lang="en-DE" sz="2399">
              <a:solidFill>
                <a:prstClr val="black"/>
              </a:solidFill>
              <a:latin typeface="Calibri" panose="020F0502020204030204"/>
            </a:endParaRPr>
          </a:p>
        </p:txBody>
      </p:sp>
      <p:sp>
        <p:nvSpPr>
          <p:cNvPr id="9" name="Shape 7"/>
          <p:cNvSpPr/>
          <p:nvPr/>
        </p:nvSpPr>
        <p:spPr>
          <a:xfrm>
            <a:off x="4241711" y="1699361"/>
            <a:ext cx="73133" cy="1560170"/>
          </a:xfrm>
          <a:prstGeom prst="rect">
            <a:avLst/>
          </a:prstGeom>
          <a:solidFill>
            <a:srgbClr val="A855F7"/>
          </a:solidFill>
          <a:ln w="12700">
            <a:solidFill>
              <a:srgbClr val="A855F7"/>
            </a:solidFill>
            <a:prstDash val="solid"/>
          </a:ln>
        </p:spPr>
        <p:txBody>
          <a:bodyPr/>
          <a:lstStyle/>
          <a:p>
            <a:pPr defTabSz="1218895"/>
            <a:endParaRPr lang="en-DE" sz="2399">
              <a:solidFill>
                <a:prstClr val="black"/>
              </a:solidFill>
              <a:latin typeface="Calibri" panose="020F0502020204030204"/>
            </a:endParaRPr>
          </a:p>
        </p:txBody>
      </p:sp>
      <p:sp>
        <p:nvSpPr>
          <p:cNvPr id="10" name="Text 8"/>
          <p:cNvSpPr/>
          <p:nvPr/>
        </p:nvSpPr>
        <p:spPr>
          <a:xfrm>
            <a:off x="4400165" y="1784683"/>
            <a:ext cx="3230039" cy="292532"/>
          </a:xfrm>
          <a:prstGeom prst="rect">
            <a:avLst/>
          </a:prstGeom>
          <a:noFill/>
          <a:ln/>
        </p:spPr>
        <p:txBody>
          <a:bodyPr wrap="square" rtlCol="0" anchor="ctr"/>
          <a:lstStyle/>
          <a:p>
            <a:pPr defTabSz="1218895"/>
            <a:r>
              <a:rPr lang="en-US" sz="1266" b="1" dirty="0">
                <a:solidFill>
                  <a:srgbClr val="A855F7"/>
                </a:solidFill>
                <a:latin typeface="Calibri" pitchFamily="34" charset="0"/>
                <a:ea typeface="Calibri" pitchFamily="34" charset="-122"/>
                <a:cs typeface="Calibri" pitchFamily="34" charset="-120"/>
              </a:rPr>
              <a:t>document_processor.py</a:t>
            </a:r>
            <a:endParaRPr lang="en-US" sz="1266" dirty="0">
              <a:solidFill>
                <a:prstClr val="black"/>
              </a:solidFill>
              <a:latin typeface="Calibri" panose="020F0502020204030204"/>
            </a:endParaRPr>
          </a:p>
        </p:txBody>
      </p:sp>
      <p:sp>
        <p:nvSpPr>
          <p:cNvPr id="11" name="Text 9"/>
          <p:cNvSpPr/>
          <p:nvPr/>
        </p:nvSpPr>
        <p:spPr>
          <a:xfrm>
            <a:off x="4400165" y="2125970"/>
            <a:ext cx="3230039" cy="1048239"/>
          </a:xfrm>
          <a:prstGeom prst="rect">
            <a:avLst/>
          </a:prstGeom>
          <a:noFill/>
          <a:ln/>
        </p:spPr>
        <p:txBody>
          <a:bodyPr wrap="square" rtlCol="0" anchor="t"/>
          <a:lstStyle/>
          <a:p>
            <a:pPr marL="457086" indent="-457086" defTabSz="1218895">
              <a:buSzPct val="100000"/>
              <a:buFontTx/>
              <a:buChar char="•"/>
            </a:pPr>
            <a:r>
              <a:rPr lang="en-US" sz="1093" dirty="0">
                <a:solidFill>
                  <a:srgbClr val="C8CAD4"/>
                </a:solidFill>
                <a:latin typeface="Calibri" pitchFamily="34" charset="0"/>
                <a:ea typeface="Calibri" pitchFamily="34" charset="-122"/>
                <a:cs typeface="Calibri" pitchFamily="34" charset="-120"/>
              </a:rPr>
              <a:t>Markdown parsing</a:t>
            </a:r>
            <a:endParaRPr lang="en-US" sz="1093" dirty="0">
              <a:solidFill>
                <a:prstClr val="black"/>
              </a:solidFill>
              <a:latin typeface="Calibri" panose="020F0502020204030204"/>
            </a:endParaRPr>
          </a:p>
          <a:p>
            <a:pPr marL="457086" indent="-457086" defTabSz="1218895">
              <a:buSzPct val="100000"/>
              <a:buFontTx/>
              <a:buChar char="•"/>
            </a:pPr>
            <a:r>
              <a:rPr lang="en-US" sz="1093" dirty="0">
                <a:solidFill>
                  <a:srgbClr val="C8CAD4"/>
                </a:solidFill>
                <a:latin typeface="Calibri" pitchFamily="34" charset="0"/>
                <a:ea typeface="Calibri" pitchFamily="34" charset="-122"/>
                <a:cs typeface="Calibri" pitchFamily="34" charset="-120"/>
              </a:rPr>
              <a:t>Text extraction &amp; cleaning</a:t>
            </a:r>
            <a:endParaRPr lang="en-US" sz="1093" dirty="0">
              <a:solidFill>
                <a:prstClr val="black"/>
              </a:solidFill>
              <a:latin typeface="Calibri" panose="020F0502020204030204"/>
            </a:endParaRPr>
          </a:p>
          <a:p>
            <a:pPr marL="457086" indent="-457086" defTabSz="1218895">
              <a:buSzPct val="100000"/>
              <a:buFontTx/>
              <a:buChar char="•"/>
            </a:pPr>
            <a:r>
              <a:rPr lang="en-US" sz="1093" dirty="0">
                <a:solidFill>
                  <a:srgbClr val="C8CAD4"/>
                </a:solidFill>
                <a:latin typeface="Calibri" pitchFamily="34" charset="0"/>
                <a:ea typeface="Calibri" pitchFamily="34" charset="-122"/>
                <a:cs typeface="Calibri" pitchFamily="34" charset="-120"/>
              </a:rPr>
              <a:t>Structured context dict</a:t>
            </a:r>
            <a:endParaRPr lang="en-US" sz="1093" dirty="0">
              <a:solidFill>
                <a:prstClr val="black"/>
              </a:solidFill>
              <a:latin typeface="Calibri" panose="020F0502020204030204"/>
            </a:endParaRPr>
          </a:p>
        </p:txBody>
      </p:sp>
      <p:sp>
        <p:nvSpPr>
          <p:cNvPr id="12" name="Shape 10"/>
          <p:cNvSpPr/>
          <p:nvPr/>
        </p:nvSpPr>
        <p:spPr>
          <a:xfrm>
            <a:off x="7934925" y="1699361"/>
            <a:ext cx="3473815" cy="1560170"/>
          </a:xfrm>
          <a:prstGeom prst="rect">
            <a:avLst/>
          </a:prstGeom>
          <a:solidFill>
            <a:srgbClr val="161B27"/>
          </a:solidFill>
          <a:ln w="12700">
            <a:solidFill>
              <a:srgbClr val="161B27"/>
            </a:solidFill>
            <a:prstDash val="solid"/>
          </a:ln>
        </p:spPr>
        <p:txBody>
          <a:bodyPr/>
          <a:lstStyle/>
          <a:p>
            <a:pPr defTabSz="1218895"/>
            <a:endParaRPr lang="en-DE" sz="2399">
              <a:solidFill>
                <a:prstClr val="black"/>
              </a:solidFill>
              <a:latin typeface="Calibri" panose="020F0502020204030204"/>
            </a:endParaRPr>
          </a:p>
        </p:txBody>
      </p:sp>
      <p:sp>
        <p:nvSpPr>
          <p:cNvPr id="13" name="Shape 11"/>
          <p:cNvSpPr/>
          <p:nvPr/>
        </p:nvSpPr>
        <p:spPr>
          <a:xfrm>
            <a:off x="7934925" y="1699361"/>
            <a:ext cx="73133" cy="1560170"/>
          </a:xfrm>
          <a:prstGeom prst="rect">
            <a:avLst/>
          </a:prstGeom>
          <a:solidFill>
            <a:srgbClr val="F97316"/>
          </a:solidFill>
          <a:ln w="12700">
            <a:solidFill>
              <a:srgbClr val="F97316"/>
            </a:solidFill>
            <a:prstDash val="solid"/>
          </a:ln>
        </p:spPr>
        <p:txBody>
          <a:bodyPr/>
          <a:lstStyle/>
          <a:p>
            <a:pPr defTabSz="1218895"/>
            <a:endParaRPr lang="en-DE" sz="2399">
              <a:solidFill>
                <a:prstClr val="black"/>
              </a:solidFill>
              <a:latin typeface="Calibri" panose="020F0502020204030204"/>
            </a:endParaRPr>
          </a:p>
        </p:txBody>
      </p:sp>
      <p:sp>
        <p:nvSpPr>
          <p:cNvPr id="14" name="Text 12"/>
          <p:cNvSpPr/>
          <p:nvPr/>
        </p:nvSpPr>
        <p:spPr>
          <a:xfrm>
            <a:off x="8093379" y="1784683"/>
            <a:ext cx="3230039" cy="292532"/>
          </a:xfrm>
          <a:prstGeom prst="rect">
            <a:avLst/>
          </a:prstGeom>
          <a:noFill/>
          <a:ln/>
        </p:spPr>
        <p:txBody>
          <a:bodyPr wrap="square" rtlCol="0" anchor="ctr"/>
          <a:lstStyle/>
          <a:p>
            <a:pPr defTabSz="1218895"/>
            <a:r>
              <a:rPr lang="en-US" sz="1266" b="1" dirty="0">
                <a:solidFill>
                  <a:srgbClr val="F97316"/>
                </a:solidFill>
                <a:latin typeface="Calibri" pitchFamily="34" charset="0"/>
                <a:ea typeface="Calibri" pitchFamily="34" charset="-122"/>
                <a:cs typeface="Calibri" pitchFamily="34" charset="-120"/>
              </a:rPr>
              <a:t>knowledge_base.py</a:t>
            </a:r>
            <a:endParaRPr lang="en-US" sz="1266" dirty="0">
              <a:solidFill>
                <a:prstClr val="black"/>
              </a:solidFill>
              <a:latin typeface="Calibri" panose="020F0502020204030204"/>
            </a:endParaRPr>
          </a:p>
        </p:txBody>
      </p:sp>
      <p:sp>
        <p:nvSpPr>
          <p:cNvPr id="15" name="Text 13"/>
          <p:cNvSpPr/>
          <p:nvPr/>
        </p:nvSpPr>
        <p:spPr>
          <a:xfrm>
            <a:off x="8093379" y="2125970"/>
            <a:ext cx="3230039" cy="1048239"/>
          </a:xfrm>
          <a:prstGeom prst="rect">
            <a:avLst/>
          </a:prstGeom>
          <a:noFill/>
          <a:ln/>
        </p:spPr>
        <p:txBody>
          <a:bodyPr wrap="square" rtlCol="0" anchor="t"/>
          <a:lstStyle/>
          <a:p>
            <a:pPr marL="457086" indent="-457086" defTabSz="1218895">
              <a:buSzPct val="100000"/>
              <a:buFontTx/>
              <a:buChar char="•"/>
            </a:pPr>
            <a:r>
              <a:rPr lang="en-US" sz="1093" dirty="0">
                <a:solidFill>
                  <a:srgbClr val="C8CAD4"/>
                </a:solidFill>
                <a:latin typeface="Calibri" pitchFamily="34" charset="0"/>
                <a:ea typeface="Calibri" pitchFamily="34" charset="-122"/>
                <a:cs typeface="Calibri" pitchFamily="34" charset="-120"/>
              </a:rPr>
              <a:t>Primary &amp; secondary KB</a:t>
            </a:r>
            <a:endParaRPr lang="en-US" sz="1093" dirty="0">
              <a:solidFill>
                <a:prstClr val="black"/>
              </a:solidFill>
              <a:latin typeface="Calibri" panose="020F0502020204030204"/>
            </a:endParaRPr>
          </a:p>
          <a:p>
            <a:pPr marL="457086" indent="-457086" defTabSz="1218895">
              <a:buSzPct val="100000"/>
              <a:buFontTx/>
              <a:buChar char="•"/>
            </a:pPr>
            <a:r>
              <a:rPr lang="en-US" sz="1093" dirty="0">
                <a:solidFill>
                  <a:srgbClr val="C8CAD4"/>
                </a:solidFill>
                <a:latin typeface="Calibri" pitchFamily="34" charset="0"/>
                <a:ea typeface="Calibri" pitchFamily="34" charset="-122"/>
                <a:cs typeface="Calibri" pitchFamily="34" charset="-120"/>
              </a:rPr>
              <a:t>Unified context builder</a:t>
            </a:r>
            <a:endParaRPr lang="en-US" sz="1093" dirty="0">
              <a:solidFill>
                <a:prstClr val="black"/>
              </a:solidFill>
              <a:latin typeface="Calibri" panose="020F0502020204030204"/>
            </a:endParaRPr>
          </a:p>
          <a:p>
            <a:pPr marL="457086" indent="-457086" defTabSz="1218895">
              <a:buSzPct val="100000"/>
              <a:buFontTx/>
              <a:buChar char="•"/>
            </a:pPr>
            <a:r>
              <a:rPr lang="en-US" sz="1093" dirty="0">
                <a:solidFill>
                  <a:srgbClr val="C8CAD4"/>
                </a:solidFill>
                <a:latin typeface="Calibri" pitchFamily="34" charset="0"/>
                <a:ea typeface="Calibri" pitchFamily="34" charset="-122"/>
                <a:cs typeface="Calibri" pitchFamily="34" charset="-120"/>
              </a:rPr>
              <a:t>Audience-aware filtering</a:t>
            </a:r>
            <a:endParaRPr lang="en-US" sz="1093" dirty="0">
              <a:solidFill>
                <a:prstClr val="black"/>
              </a:solidFill>
              <a:latin typeface="Calibri" panose="020F0502020204030204"/>
            </a:endParaRPr>
          </a:p>
        </p:txBody>
      </p:sp>
      <p:sp>
        <p:nvSpPr>
          <p:cNvPr id="16" name="Shape 14"/>
          <p:cNvSpPr/>
          <p:nvPr/>
        </p:nvSpPr>
        <p:spPr>
          <a:xfrm>
            <a:off x="548497" y="4429658"/>
            <a:ext cx="3473815" cy="1560170"/>
          </a:xfrm>
          <a:prstGeom prst="rect">
            <a:avLst/>
          </a:prstGeom>
          <a:solidFill>
            <a:srgbClr val="161B27"/>
          </a:solidFill>
          <a:ln w="12700">
            <a:solidFill>
              <a:srgbClr val="161B27"/>
            </a:solidFill>
            <a:prstDash val="solid"/>
          </a:ln>
        </p:spPr>
        <p:txBody>
          <a:bodyPr/>
          <a:lstStyle/>
          <a:p>
            <a:pPr defTabSz="1218895"/>
            <a:endParaRPr lang="en-DE" sz="2399">
              <a:solidFill>
                <a:prstClr val="black"/>
              </a:solidFill>
              <a:latin typeface="Calibri" panose="020F0502020204030204"/>
            </a:endParaRPr>
          </a:p>
        </p:txBody>
      </p:sp>
      <p:sp>
        <p:nvSpPr>
          <p:cNvPr id="17" name="Shape 15"/>
          <p:cNvSpPr/>
          <p:nvPr/>
        </p:nvSpPr>
        <p:spPr>
          <a:xfrm>
            <a:off x="548497" y="4429658"/>
            <a:ext cx="73133" cy="1560170"/>
          </a:xfrm>
          <a:prstGeom prst="rect">
            <a:avLst/>
          </a:prstGeom>
          <a:solidFill>
            <a:srgbClr val="EAB308"/>
          </a:solidFill>
          <a:ln w="12700">
            <a:solidFill>
              <a:srgbClr val="EAB308"/>
            </a:solidFill>
            <a:prstDash val="solid"/>
          </a:ln>
        </p:spPr>
        <p:txBody>
          <a:bodyPr/>
          <a:lstStyle/>
          <a:p>
            <a:pPr defTabSz="1218895"/>
            <a:endParaRPr lang="en-DE" sz="2399">
              <a:solidFill>
                <a:prstClr val="black"/>
              </a:solidFill>
              <a:latin typeface="Calibri" panose="020F0502020204030204"/>
            </a:endParaRPr>
          </a:p>
        </p:txBody>
      </p:sp>
      <p:sp>
        <p:nvSpPr>
          <p:cNvPr id="18" name="Text 16"/>
          <p:cNvSpPr/>
          <p:nvPr/>
        </p:nvSpPr>
        <p:spPr>
          <a:xfrm>
            <a:off x="706951" y="4514979"/>
            <a:ext cx="3230039" cy="292532"/>
          </a:xfrm>
          <a:prstGeom prst="rect">
            <a:avLst/>
          </a:prstGeom>
          <a:noFill/>
          <a:ln/>
        </p:spPr>
        <p:txBody>
          <a:bodyPr wrap="square" rtlCol="0" anchor="ctr"/>
          <a:lstStyle/>
          <a:p>
            <a:pPr defTabSz="1218895"/>
            <a:r>
              <a:rPr lang="en-US" sz="1266" b="1" dirty="0">
                <a:solidFill>
                  <a:srgbClr val="EAB308"/>
                </a:solidFill>
                <a:latin typeface="Calibri" pitchFamily="34" charset="0"/>
                <a:ea typeface="Calibri" pitchFamily="34" charset="-122"/>
                <a:cs typeface="Calibri" pitchFamily="34" charset="-120"/>
              </a:rPr>
              <a:t>prompt_templates.py</a:t>
            </a:r>
            <a:endParaRPr lang="en-US" sz="1266" dirty="0">
              <a:solidFill>
                <a:prstClr val="black"/>
              </a:solidFill>
              <a:latin typeface="Calibri" panose="020F0502020204030204"/>
            </a:endParaRPr>
          </a:p>
        </p:txBody>
      </p:sp>
      <p:sp>
        <p:nvSpPr>
          <p:cNvPr id="19" name="Text 17"/>
          <p:cNvSpPr/>
          <p:nvPr/>
        </p:nvSpPr>
        <p:spPr>
          <a:xfrm>
            <a:off x="706951" y="4856267"/>
            <a:ext cx="3230039" cy="1048239"/>
          </a:xfrm>
          <a:prstGeom prst="rect">
            <a:avLst/>
          </a:prstGeom>
          <a:noFill/>
          <a:ln/>
        </p:spPr>
        <p:txBody>
          <a:bodyPr wrap="square" rtlCol="0" anchor="t"/>
          <a:lstStyle/>
          <a:p>
            <a:pPr marL="457086" indent="-457086" defTabSz="1218895">
              <a:buSzPct val="100000"/>
              <a:buFontTx/>
              <a:buChar char="•"/>
            </a:pPr>
            <a:r>
              <a:rPr lang="en-US" sz="1093" dirty="0">
                <a:solidFill>
                  <a:srgbClr val="C8CAD4"/>
                </a:solidFill>
                <a:latin typeface="Calibri" pitchFamily="34" charset="0"/>
                <a:ea typeface="Calibri" pitchFamily="34" charset="-122"/>
                <a:cs typeface="Calibri" pitchFamily="34" charset="-120"/>
              </a:rPr>
              <a:t>PromptContext dataclass</a:t>
            </a:r>
            <a:endParaRPr lang="en-US" sz="1093" dirty="0">
              <a:solidFill>
                <a:prstClr val="black"/>
              </a:solidFill>
              <a:latin typeface="Calibri" panose="020F0502020204030204"/>
            </a:endParaRPr>
          </a:p>
          <a:p>
            <a:pPr marL="457086" indent="-457086" defTabSz="1218895">
              <a:buSzPct val="100000"/>
              <a:buFontTx/>
              <a:buChar char="•"/>
            </a:pPr>
            <a:r>
              <a:rPr lang="en-US" sz="1093" dirty="0">
                <a:solidFill>
                  <a:srgbClr val="C8CAD4"/>
                </a:solidFill>
                <a:latin typeface="Calibri" pitchFamily="34" charset="0"/>
                <a:ea typeface="Calibri" pitchFamily="34" charset="-122"/>
                <a:cs typeface="Calibri" pitchFamily="34" charset="-120"/>
              </a:rPr>
              <a:t>Channel-specific builders</a:t>
            </a:r>
            <a:endParaRPr lang="en-US" sz="1093" dirty="0">
              <a:solidFill>
                <a:prstClr val="black"/>
              </a:solidFill>
              <a:latin typeface="Calibri" panose="020F0502020204030204"/>
            </a:endParaRPr>
          </a:p>
          <a:p>
            <a:pPr marL="457086" indent="-457086" defTabSz="1218895">
              <a:buSzPct val="100000"/>
              <a:buFontTx/>
              <a:buChar char="•"/>
            </a:pPr>
            <a:r>
              <a:rPr lang="en-US" sz="1093" dirty="0">
                <a:solidFill>
                  <a:srgbClr val="C8CAD4"/>
                </a:solidFill>
                <a:latin typeface="Calibri" pitchFamily="34" charset="0"/>
                <a:ea typeface="Calibri" pitchFamily="34" charset="-122"/>
                <a:cs typeface="Calibri" pitchFamily="34" charset="-120"/>
              </a:rPr>
              <a:t>NO_EM_DASH anti-AI rules</a:t>
            </a:r>
            <a:endParaRPr lang="en-US" sz="1093" dirty="0">
              <a:solidFill>
                <a:prstClr val="black"/>
              </a:solidFill>
              <a:latin typeface="Calibri" panose="020F0502020204030204"/>
            </a:endParaRPr>
          </a:p>
        </p:txBody>
      </p:sp>
      <p:sp>
        <p:nvSpPr>
          <p:cNvPr id="20" name="Shape 18"/>
          <p:cNvSpPr/>
          <p:nvPr/>
        </p:nvSpPr>
        <p:spPr>
          <a:xfrm>
            <a:off x="4241711" y="4429658"/>
            <a:ext cx="3473815" cy="1560170"/>
          </a:xfrm>
          <a:prstGeom prst="rect">
            <a:avLst/>
          </a:prstGeom>
          <a:solidFill>
            <a:srgbClr val="161B27"/>
          </a:solidFill>
          <a:ln w="12700">
            <a:solidFill>
              <a:srgbClr val="161B27"/>
            </a:solidFill>
            <a:prstDash val="solid"/>
          </a:ln>
        </p:spPr>
        <p:txBody>
          <a:bodyPr/>
          <a:lstStyle/>
          <a:p>
            <a:pPr defTabSz="1218895"/>
            <a:endParaRPr lang="en-DE" sz="2399">
              <a:solidFill>
                <a:prstClr val="black"/>
              </a:solidFill>
              <a:latin typeface="Calibri" panose="020F0502020204030204"/>
            </a:endParaRPr>
          </a:p>
        </p:txBody>
      </p:sp>
      <p:sp>
        <p:nvSpPr>
          <p:cNvPr id="21" name="Shape 19"/>
          <p:cNvSpPr/>
          <p:nvPr/>
        </p:nvSpPr>
        <p:spPr>
          <a:xfrm>
            <a:off x="4241711" y="4429658"/>
            <a:ext cx="73133" cy="1560170"/>
          </a:xfrm>
          <a:prstGeom prst="rect">
            <a:avLst/>
          </a:prstGeom>
          <a:solidFill>
            <a:srgbClr val="EC4899"/>
          </a:solidFill>
          <a:ln w="12700">
            <a:solidFill>
              <a:srgbClr val="EC4899"/>
            </a:solidFill>
            <a:prstDash val="solid"/>
          </a:ln>
        </p:spPr>
        <p:txBody>
          <a:bodyPr/>
          <a:lstStyle/>
          <a:p>
            <a:pPr defTabSz="1218895"/>
            <a:endParaRPr lang="en-DE" sz="2399">
              <a:solidFill>
                <a:prstClr val="black"/>
              </a:solidFill>
              <a:latin typeface="Calibri" panose="020F0502020204030204"/>
            </a:endParaRPr>
          </a:p>
        </p:txBody>
      </p:sp>
      <p:sp>
        <p:nvSpPr>
          <p:cNvPr id="22" name="Text 20"/>
          <p:cNvSpPr/>
          <p:nvPr/>
        </p:nvSpPr>
        <p:spPr>
          <a:xfrm>
            <a:off x="4400165" y="4514979"/>
            <a:ext cx="3230039" cy="292532"/>
          </a:xfrm>
          <a:prstGeom prst="rect">
            <a:avLst/>
          </a:prstGeom>
          <a:noFill/>
          <a:ln/>
        </p:spPr>
        <p:txBody>
          <a:bodyPr wrap="square" rtlCol="0" anchor="ctr"/>
          <a:lstStyle/>
          <a:p>
            <a:pPr defTabSz="1218895"/>
            <a:r>
              <a:rPr lang="en-US" sz="1266" b="1" dirty="0">
                <a:solidFill>
                  <a:srgbClr val="EC4899"/>
                </a:solidFill>
                <a:latin typeface="Calibri" pitchFamily="34" charset="0"/>
                <a:ea typeface="Calibri" pitchFamily="34" charset="-122"/>
                <a:cs typeface="Calibri" pitchFamily="34" charset="-120"/>
              </a:rPr>
              <a:t>content_pipeline.py</a:t>
            </a:r>
            <a:endParaRPr lang="en-US" sz="1266" dirty="0">
              <a:solidFill>
                <a:prstClr val="black"/>
              </a:solidFill>
              <a:latin typeface="Calibri" panose="020F0502020204030204"/>
            </a:endParaRPr>
          </a:p>
        </p:txBody>
      </p:sp>
      <p:sp>
        <p:nvSpPr>
          <p:cNvPr id="23" name="Text 21"/>
          <p:cNvSpPr/>
          <p:nvPr/>
        </p:nvSpPr>
        <p:spPr>
          <a:xfrm>
            <a:off x="4400165" y="4856267"/>
            <a:ext cx="3230039" cy="1048239"/>
          </a:xfrm>
          <a:prstGeom prst="rect">
            <a:avLst/>
          </a:prstGeom>
          <a:noFill/>
          <a:ln/>
        </p:spPr>
        <p:txBody>
          <a:bodyPr wrap="square" rtlCol="0" anchor="t"/>
          <a:lstStyle/>
          <a:p>
            <a:pPr marL="457086" indent="-457086" defTabSz="1218895">
              <a:buSzPct val="100000"/>
              <a:buFontTx/>
              <a:buChar char="•"/>
            </a:pPr>
            <a:r>
              <a:rPr lang="en-US" sz="1093" dirty="0">
                <a:solidFill>
                  <a:srgbClr val="C8CAD4"/>
                </a:solidFill>
                <a:latin typeface="Calibri" pitchFamily="34" charset="0"/>
                <a:ea typeface="Calibri" pitchFamily="34" charset="-122"/>
                <a:cs typeface="Calibri" pitchFamily="34" charset="-120"/>
              </a:rPr>
              <a:t>Orchestrates all 5 stages</a:t>
            </a:r>
            <a:endParaRPr lang="en-US" sz="1093" dirty="0">
              <a:solidFill>
                <a:prstClr val="black"/>
              </a:solidFill>
              <a:latin typeface="Calibri" panose="020F0502020204030204"/>
            </a:endParaRPr>
          </a:p>
          <a:p>
            <a:pPr marL="457086" indent="-457086" defTabSz="1218895">
              <a:buSzPct val="100000"/>
              <a:buFontTx/>
              <a:buChar char="•"/>
            </a:pPr>
            <a:r>
              <a:rPr lang="en-US" sz="1093" dirty="0">
                <a:solidFill>
                  <a:srgbClr val="C8CAD4"/>
                </a:solidFill>
                <a:latin typeface="Calibri" pitchFamily="34" charset="0"/>
                <a:ea typeface="Calibri" pitchFamily="34" charset="-122"/>
                <a:cs typeface="Calibri" pitchFamily="34" charset="-120"/>
              </a:rPr>
              <a:t>Batch mode + uniqueness runner</a:t>
            </a:r>
            <a:endParaRPr lang="en-US" sz="1093" dirty="0">
              <a:solidFill>
                <a:prstClr val="black"/>
              </a:solidFill>
              <a:latin typeface="Calibri" panose="020F0502020204030204"/>
            </a:endParaRPr>
          </a:p>
          <a:p>
            <a:pPr marL="457086" indent="-457086" defTabSz="1218895">
              <a:buSzPct val="100000"/>
              <a:buFontTx/>
              <a:buChar char="•"/>
            </a:pPr>
            <a:r>
              <a:rPr lang="en-US" sz="1093" dirty="0">
                <a:solidFill>
                  <a:srgbClr val="C8CAD4"/>
                </a:solidFill>
                <a:latin typeface="Calibri" pitchFamily="34" charset="0"/>
                <a:ea typeface="Calibri" pitchFamily="34" charset="-122"/>
                <a:cs typeface="Calibri" pitchFamily="34" charset="-120"/>
              </a:rPr>
              <a:t>OutputManager saves files</a:t>
            </a:r>
            <a:endParaRPr lang="en-US" sz="1093" dirty="0">
              <a:solidFill>
                <a:prstClr val="black"/>
              </a:solidFill>
              <a:latin typeface="Calibri" panose="020F0502020204030204"/>
            </a:endParaRPr>
          </a:p>
        </p:txBody>
      </p:sp>
      <p:sp>
        <p:nvSpPr>
          <p:cNvPr id="24" name="Shape 22"/>
          <p:cNvSpPr/>
          <p:nvPr/>
        </p:nvSpPr>
        <p:spPr>
          <a:xfrm>
            <a:off x="7934925" y="4429658"/>
            <a:ext cx="3473815" cy="1560170"/>
          </a:xfrm>
          <a:prstGeom prst="rect">
            <a:avLst/>
          </a:prstGeom>
          <a:solidFill>
            <a:srgbClr val="161B27"/>
          </a:solidFill>
          <a:ln w="12700">
            <a:solidFill>
              <a:srgbClr val="161B27"/>
            </a:solidFill>
            <a:prstDash val="solid"/>
          </a:ln>
        </p:spPr>
        <p:txBody>
          <a:bodyPr/>
          <a:lstStyle/>
          <a:p>
            <a:pPr defTabSz="1218895"/>
            <a:endParaRPr lang="en-DE" sz="2399">
              <a:solidFill>
                <a:prstClr val="black"/>
              </a:solidFill>
              <a:latin typeface="Calibri" panose="020F0502020204030204"/>
            </a:endParaRPr>
          </a:p>
        </p:txBody>
      </p:sp>
      <p:sp>
        <p:nvSpPr>
          <p:cNvPr id="25" name="Shape 23"/>
          <p:cNvSpPr/>
          <p:nvPr/>
        </p:nvSpPr>
        <p:spPr>
          <a:xfrm>
            <a:off x="7934925" y="4429658"/>
            <a:ext cx="73133" cy="1560170"/>
          </a:xfrm>
          <a:prstGeom prst="rect">
            <a:avLst/>
          </a:prstGeom>
          <a:solidFill>
            <a:srgbClr val="3B82F6"/>
          </a:solidFill>
          <a:ln w="12700">
            <a:solidFill>
              <a:srgbClr val="3B82F6"/>
            </a:solidFill>
            <a:prstDash val="solid"/>
          </a:ln>
        </p:spPr>
        <p:txBody>
          <a:bodyPr/>
          <a:lstStyle/>
          <a:p>
            <a:pPr defTabSz="1218895"/>
            <a:endParaRPr lang="en-DE" sz="2399">
              <a:solidFill>
                <a:prstClr val="black"/>
              </a:solidFill>
              <a:latin typeface="Calibri" panose="020F0502020204030204"/>
            </a:endParaRPr>
          </a:p>
        </p:txBody>
      </p:sp>
      <p:sp>
        <p:nvSpPr>
          <p:cNvPr id="26" name="Text 24"/>
          <p:cNvSpPr/>
          <p:nvPr/>
        </p:nvSpPr>
        <p:spPr>
          <a:xfrm>
            <a:off x="8093379" y="4514979"/>
            <a:ext cx="3230039" cy="292532"/>
          </a:xfrm>
          <a:prstGeom prst="rect">
            <a:avLst/>
          </a:prstGeom>
          <a:noFill/>
          <a:ln/>
        </p:spPr>
        <p:txBody>
          <a:bodyPr wrap="square" rtlCol="0" anchor="ctr"/>
          <a:lstStyle/>
          <a:p>
            <a:pPr defTabSz="1218895"/>
            <a:r>
              <a:rPr lang="en-US" sz="1266" b="1" dirty="0">
                <a:solidFill>
                  <a:srgbClr val="3B82F6"/>
                </a:solidFill>
                <a:latin typeface="Calibri" pitchFamily="34" charset="0"/>
                <a:ea typeface="Calibri" pitchFamily="34" charset="-122"/>
                <a:cs typeface="Calibri" pitchFamily="34" charset="-120"/>
              </a:rPr>
              <a:t>app.py (Gradio UI)</a:t>
            </a:r>
            <a:endParaRPr lang="en-US" sz="1266" dirty="0">
              <a:solidFill>
                <a:prstClr val="black"/>
              </a:solidFill>
              <a:latin typeface="Calibri" panose="020F0502020204030204"/>
            </a:endParaRPr>
          </a:p>
        </p:txBody>
      </p:sp>
      <p:sp>
        <p:nvSpPr>
          <p:cNvPr id="27" name="Text 25"/>
          <p:cNvSpPr/>
          <p:nvPr/>
        </p:nvSpPr>
        <p:spPr>
          <a:xfrm>
            <a:off x="8093379" y="4856267"/>
            <a:ext cx="3230039" cy="1048239"/>
          </a:xfrm>
          <a:prstGeom prst="rect">
            <a:avLst/>
          </a:prstGeom>
          <a:noFill/>
          <a:ln/>
        </p:spPr>
        <p:txBody>
          <a:bodyPr wrap="square" rtlCol="0" anchor="t"/>
          <a:lstStyle/>
          <a:p>
            <a:pPr marL="457086" indent="-457086" defTabSz="1218895">
              <a:buSzPct val="100000"/>
              <a:buFontTx/>
              <a:buChar char="•"/>
            </a:pPr>
            <a:r>
              <a:rPr lang="en-US" sz="1093" dirty="0">
                <a:solidFill>
                  <a:srgbClr val="C8CAD4"/>
                </a:solidFill>
                <a:latin typeface="Calibri" pitchFamily="34" charset="0"/>
                <a:ea typeface="Calibri" pitchFamily="34" charset="-122"/>
                <a:cs typeface="Calibri" pitchFamily="34" charset="-120"/>
              </a:rPr>
              <a:t>Web interface + gr.State JSON</a:t>
            </a:r>
            <a:endParaRPr lang="en-US" sz="1093" dirty="0">
              <a:solidFill>
                <a:prstClr val="black"/>
              </a:solidFill>
              <a:latin typeface="Calibri" panose="020F0502020204030204"/>
            </a:endParaRPr>
          </a:p>
          <a:p>
            <a:pPr marL="457086" indent="-457086" defTabSz="1218895">
              <a:buSzPct val="100000"/>
              <a:buFontTx/>
              <a:buChar char="•"/>
            </a:pPr>
            <a:r>
              <a:rPr lang="en-US" sz="1093" dirty="0">
                <a:solidFill>
                  <a:srgbClr val="C8CAD4"/>
                </a:solidFill>
                <a:latin typeface="Calibri" pitchFamily="34" charset="0"/>
                <a:ea typeface="Calibri" pitchFamily="34" charset="-122"/>
                <a:cs typeface="Calibri" pitchFamily="34" charset="-120"/>
              </a:rPr>
              <a:t>Live streaming output</a:t>
            </a:r>
            <a:endParaRPr lang="en-US" sz="1093" dirty="0">
              <a:solidFill>
                <a:prstClr val="black"/>
              </a:solidFill>
              <a:latin typeface="Calibri" panose="020F0502020204030204"/>
            </a:endParaRPr>
          </a:p>
          <a:p>
            <a:pPr marL="457086" indent="-457086" defTabSz="1218895">
              <a:buSzPct val="100000"/>
              <a:buFontTx/>
              <a:buChar char="•"/>
            </a:pPr>
            <a:r>
              <a:rPr lang="en-US" sz="1093" dirty="0">
                <a:solidFill>
                  <a:srgbClr val="C8CAD4"/>
                </a:solidFill>
                <a:latin typeface="Calibri" pitchFamily="34" charset="0"/>
                <a:ea typeface="Calibri" pitchFamily="34" charset="-122"/>
                <a:cs typeface="Calibri" pitchFamily="34" charset="-120"/>
              </a:rPr>
              <a:t>Channel / audience selector</a:t>
            </a:r>
            <a:endParaRPr lang="en-US" sz="1093" dirty="0">
              <a:solidFill>
                <a:prstClr val="black"/>
              </a:solidFill>
              <a:latin typeface="Calibri" panose="020F0502020204030204"/>
            </a:endParaRPr>
          </a:p>
        </p:txBody>
      </p:sp>
      <p:sp>
        <p:nvSpPr>
          <p:cNvPr id="45" name="Shape 43"/>
          <p:cNvSpPr/>
          <p:nvPr/>
        </p:nvSpPr>
        <p:spPr>
          <a:xfrm>
            <a:off x="548497" y="5973417"/>
            <a:ext cx="11579384" cy="682574"/>
          </a:xfrm>
          <a:prstGeom prst="rect">
            <a:avLst/>
          </a:prstGeom>
          <a:solidFill>
            <a:srgbClr val="0F1520"/>
          </a:solidFill>
          <a:ln w="12700">
            <a:solidFill>
              <a:srgbClr val="1E2A3A"/>
            </a:solidFill>
            <a:prstDash val="solid"/>
          </a:ln>
        </p:spPr>
        <p:txBody>
          <a:bodyPr/>
          <a:lstStyle/>
          <a:p>
            <a:pPr defTabSz="1218895"/>
            <a:endParaRPr lang="en-DE" sz="2399">
              <a:solidFill>
                <a:prstClr val="black"/>
              </a:solidFill>
              <a:latin typeface="Calibri" panose="020F050202020403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a:extLst>
            <a:ext uri="{FF2B5EF4-FFF2-40B4-BE49-F238E27FC236}">
              <a16:creationId xmlns:a16="http://schemas.microsoft.com/office/drawing/2014/main" id="{A5BA1584-4037-5BCF-EE2F-7C2ACECBF7D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339020F-C054-844E-800F-A28F5867DC80}"/>
              </a:ext>
            </a:extLst>
          </p:cNvPr>
          <p:cNvSpPr/>
          <p:nvPr/>
        </p:nvSpPr>
        <p:spPr>
          <a:xfrm>
            <a:off x="548497" y="220292"/>
            <a:ext cx="11213719" cy="268154"/>
          </a:xfrm>
          <a:prstGeom prst="rect">
            <a:avLst/>
          </a:prstGeom>
          <a:noFill/>
          <a:ln/>
        </p:spPr>
        <p:txBody>
          <a:bodyPr wrap="square" rtlCol="0" anchor="ctr"/>
          <a:lstStyle/>
          <a:p>
            <a:pPr defTabSz="1218895"/>
            <a:r>
              <a:rPr lang="en-US" sz="1066" b="1" kern="0" spc="400" dirty="0">
                <a:solidFill>
                  <a:srgbClr val="00D4AA"/>
                </a:solidFill>
                <a:latin typeface="Calibri" panose="020F0502020204030204"/>
              </a:rPr>
              <a:t>05 — Kanban Board</a:t>
            </a:r>
            <a:endParaRPr lang="en-US" sz="1066" dirty="0">
              <a:solidFill>
                <a:prstClr val="black"/>
              </a:solidFill>
              <a:latin typeface="Calibri" panose="020F0502020204030204"/>
            </a:endParaRPr>
          </a:p>
        </p:txBody>
      </p:sp>
      <p:sp>
        <p:nvSpPr>
          <p:cNvPr id="3" name="Text 1">
            <a:extLst>
              <a:ext uri="{FF2B5EF4-FFF2-40B4-BE49-F238E27FC236}">
                <a16:creationId xmlns:a16="http://schemas.microsoft.com/office/drawing/2014/main" id="{410D08E7-D8D2-D46F-971A-78024B3B485B}"/>
              </a:ext>
            </a:extLst>
          </p:cNvPr>
          <p:cNvSpPr/>
          <p:nvPr/>
        </p:nvSpPr>
        <p:spPr>
          <a:xfrm>
            <a:off x="548497" y="464068"/>
            <a:ext cx="11213719" cy="633819"/>
          </a:xfrm>
          <a:prstGeom prst="rect">
            <a:avLst/>
          </a:prstGeom>
          <a:noFill/>
          <a:ln/>
        </p:spPr>
        <p:txBody>
          <a:bodyPr wrap="square" rtlCol="0" anchor="ctr"/>
          <a:lstStyle/>
          <a:p>
            <a:pPr defTabSz="1218895"/>
            <a:r>
              <a:rPr lang="en-US" sz="3466" b="1" dirty="0">
                <a:solidFill>
                  <a:srgbClr val="FFFFFF"/>
                </a:solidFill>
                <a:latin typeface="Calibri" pitchFamily="34" charset="0"/>
                <a:ea typeface="Calibri" pitchFamily="34" charset="-122"/>
                <a:cs typeface="Calibri" pitchFamily="34" charset="-120"/>
              </a:rPr>
              <a:t>How we worked together </a:t>
            </a:r>
            <a:endParaRPr lang="en-US" sz="3466" dirty="0">
              <a:solidFill>
                <a:prstClr val="black"/>
              </a:solidFill>
              <a:latin typeface="Calibri" panose="020F0502020204030204"/>
            </a:endParaRPr>
          </a:p>
        </p:txBody>
      </p:sp>
      <p:sp>
        <p:nvSpPr>
          <p:cNvPr id="45" name="Shape 43">
            <a:extLst>
              <a:ext uri="{FF2B5EF4-FFF2-40B4-BE49-F238E27FC236}">
                <a16:creationId xmlns:a16="http://schemas.microsoft.com/office/drawing/2014/main" id="{8B7BACAB-16CF-1579-39F4-2590F11CB765}"/>
              </a:ext>
            </a:extLst>
          </p:cNvPr>
          <p:cNvSpPr/>
          <p:nvPr/>
        </p:nvSpPr>
        <p:spPr>
          <a:xfrm>
            <a:off x="548497" y="5973417"/>
            <a:ext cx="11579384" cy="682574"/>
          </a:xfrm>
          <a:prstGeom prst="rect">
            <a:avLst/>
          </a:prstGeom>
          <a:solidFill>
            <a:srgbClr val="0F1520"/>
          </a:solidFill>
          <a:ln w="12700">
            <a:solidFill>
              <a:srgbClr val="1E2A3A"/>
            </a:solidFill>
            <a:prstDash val="solid"/>
          </a:ln>
        </p:spPr>
        <p:txBody>
          <a:bodyPr/>
          <a:lstStyle/>
          <a:p>
            <a:pPr defTabSz="1218895"/>
            <a:endParaRPr lang="en-DE" sz="2399">
              <a:solidFill>
                <a:prstClr val="black"/>
              </a:solidFill>
              <a:latin typeface="Calibri" panose="020F0502020204030204"/>
            </a:endParaRPr>
          </a:p>
        </p:txBody>
      </p:sp>
      <p:pic>
        <p:nvPicPr>
          <p:cNvPr id="28" name="Picture 27">
            <a:extLst>
              <a:ext uri="{FF2B5EF4-FFF2-40B4-BE49-F238E27FC236}">
                <a16:creationId xmlns:a16="http://schemas.microsoft.com/office/drawing/2014/main" id="{111A0BE4-CEAA-0CBD-61A1-CEC07DB4C4B7}"/>
              </a:ext>
            </a:extLst>
          </p:cNvPr>
          <p:cNvPicPr>
            <a:picLocks noChangeAspect="1"/>
          </p:cNvPicPr>
          <p:nvPr/>
        </p:nvPicPr>
        <p:blipFill>
          <a:blip r:embed="rId3"/>
          <a:stretch>
            <a:fillRect/>
          </a:stretch>
        </p:blipFill>
        <p:spPr>
          <a:xfrm>
            <a:off x="6338189" y="1803253"/>
            <a:ext cx="5133057" cy="3560723"/>
          </a:xfrm>
          <a:prstGeom prst="rect">
            <a:avLst/>
          </a:prstGeom>
        </p:spPr>
      </p:pic>
      <p:pic>
        <p:nvPicPr>
          <p:cNvPr id="29" name="Picture 28">
            <a:extLst>
              <a:ext uri="{FF2B5EF4-FFF2-40B4-BE49-F238E27FC236}">
                <a16:creationId xmlns:a16="http://schemas.microsoft.com/office/drawing/2014/main" id="{4826FEB2-3F23-5728-D38C-2F731D4E8289}"/>
              </a:ext>
            </a:extLst>
          </p:cNvPr>
          <p:cNvPicPr>
            <a:picLocks noChangeAspect="1"/>
          </p:cNvPicPr>
          <p:nvPr/>
        </p:nvPicPr>
        <p:blipFill>
          <a:blip r:embed="rId3"/>
          <a:stretch>
            <a:fillRect/>
          </a:stretch>
        </p:blipFill>
        <p:spPr>
          <a:xfrm>
            <a:off x="717579" y="1803253"/>
            <a:ext cx="5133057" cy="3560723"/>
          </a:xfrm>
          <a:prstGeom prst="rect">
            <a:avLst/>
          </a:prstGeom>
        </p:spPr>
      </p:pic>
      <p:sp>
        <p:nvSpPr>
          <p:cNvPr id="30" name="Rectangle 29">
            <a:extLst>
              <a:ext uri="{FF2B5EF4-FFF2-40B4-BE49-F238E27FC236}">
                <a16:creationId xmlns:a16="http://schemas.microsoft.com/office/drawing/2014/main" id="{6DE1ECA0-3837-5A6A-6FCB-43AE6F4F72F8}"/>
              </a:ext>
            </a:extLst>
          </p:cNvPr>
          <p:cNvSpPr/>
          <p:nvPr/>
        </p:nvSpPr>
        <p:spPr>
          <a:xfrm rot="2012361">
            <a:off x="6997199" y="422035"/>
            <a:ext cx="1574310" cy="717884"/>
          </a:xfrm>
          <a:prstGeom prst="rect">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DE" dirty="0"/>
              <a:t>Placeholder for Trello</a:t>
            </a:r>
          </a:p>
        </p:txBody>
      </p:sp>
    </p:spTree>
    <p:extLst>
      <p:ext uri="{BB962C8B-B14F-4D97-AF65-F5344CB8AC3E}">
        <p14:creationId xmlns:p14="http://schemas.microsoft.com/office/powerpoint/2010/main" val="19145673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548497" y="220292"/>
            <a:ext cx="11213719" cy="268154"/>
          </a:xfrm>
          <a:prstGeom prst="rect">
            <a:avLst/>
          </a:prstGeom>
          <a:noFill/>
          <a:ln/>
        </p:spPr>
        <p:txBody>
          <a:bodyPr wrap="square" rtlCol="0" anchor="ctr"/>
          <a:lstStyle/>
          <a:p>
            <a:pPr defTabSz="1218895"/>
            <a:r>
              <a:rPr lang="en-US" sz="1066" b="1" kern="0" spc="400" dirty="0">
                <a:solidFill>
                  <a:srgbClr val="00D4AA"/>
                </a:solidFill>
                <a:latin typeface="Calibri" pitchFamily="34" charset="0"/>
                <a:ea typeface="Calibri" pitchFamily="34" charset="-122"/>
                <a:cs typeface="Calibri" pitchFamily="34" charset="-120"/>
              </a:rPr>
              <a:t>0/087 — CHALLENGES &amp; LEARNINGS &amp; NEXT STEPS</a:t>
            </a:r>
            <a:endParaRPr lang="en-US" sz="1066" dirty="0">
              <a:solidFill>
                <a:prstClr val="black"/>
              </a:solidFill>
              <a:latin typeface="Calibri" panose="020F0502020204030204"/>
            </a:endParaRPr>
          </a:p>
        </p:txBody>
      </p:sp>
      <p:sp>
        <p:nvSpPr>
          <p:cNvPr id="3" name="Text 1"/>
          <p:cNvSpPr/>
          <p:nvPr/>
        </p:nvSpPr>
        <p:spPr>
          <a:xfrm>
            <a:off x="548497" y="464068"/>
            <a:ext cx="11213719" cy="609441"/>
          </a:xfrm>
          <a:prstGeom prst="rect">
            <a:avLst/>
          </a:prstGeom>
          <a:noFill/>
          <a:ln/>
        </p:spPr>
        <p:txBody>
          <a:bodyPr wrap="square" rtlCol="0" anchor="ctr"/>
          <a:lstStyle/>
          <a:p>
            <a:pPr defTabSz="1218895"/>
            <a:r>
              <a:rPr lang="en-US" sz="3466" b="1" dirty="0">
                <a:solidFill>
                  <a:srgbClr val="FFFFFF"/>
                </a:solidFill>
                <a:latin typeface="Calibri" pitchFamily="34" charset="0"/>
                <a:ea typeface="Calibri" pitchFamily="34" charset="-122"/>
                <a:cs typeface="Calibri" pitchFamily="34" charset="-120"/>
              </a:rPr>
              <a:t>What We Learned — Where We're Headed</a:t>
            </a:r>
            <a:endParaRPr lang="en-US" sz="3466" dirty="0">
              <a:solidFill>
                <a:prstClr val="black"/>
              </a:solidFill>
              <a:latin typeface="Calibri" panose="020F0502020204030204"/>
            </a:endParaRPr>
          </a:p>
        </p:txBody>
      </p:sp>
      <p:sp>
        <p:nvSpPr>
          <p:cNvPr id="4" name="Text 2"/>
          <p:cNvSpPr/>
          <p:nvPr/>
        </p:nvSpPr>
        <p:spPr>
          <a:xfrm>
            <a:off x="548497" y="1171020"/>
            <a:ext cx="5424027" cy="195021"/>
          </a:xfrm>
          <a:prstGeom prst="rect">
            <a:avLst/>
          </a:prstGeom>
          <a:noFill/>
          <a:ln/>
        </p:spPr>
        <p:txBody>
          <a:bodyPr wrap="square" rtlCol="0" anchor="ctr"/>
          <a:lstStyle/>
          <a:p>
            <a:pPr defTabSz="1218895"/>
            <a:r>
              <a:rPr lang="en-US" sz="900" b="1" kern="0" spc="267" dirty="0">
                <a:solidFill>
                  <a:srgbClr val="8B8FA8"/>
                </a:solidFill>
                <a:latin typeface="Calibri" pitchFamily="34" charset="0"/>
                <a:ea typeface="Calibri" pitchFamily="34" charset="-122"/>
                <a:cs typeface="Calibri" pitchFamily="34" charset="-120"/>
              </a:rPr>
              <a:t>CHALLENGES &amp; LEARNINGS</a:t>
            </a:r>
            <a:endParaRPr lang="en-US" sz="900" dirty="0">
              <a:solidFill>
                <a:prstClr val="black"/>
              </a:solidFill>
              <a:latin typeface="Calibri" panose="020F0502020204030204"/>
            </a:endParaRPr>
          </a:p>
        </p:txBody>
      </p:sp>
      <p:sp>
        <p:nvSpPr>
          <p:cNvPr id="5" name="Text 3"/>
          <p:cNvSpPr/>
          <p:nvPr/>
        </p:nvSpPr>
        <p:spPr>
          <a:xfrm>
            <a:off x="6277245" y="1171020"/>
            <a:ext cx="5484971" cy="195021"/>
          </a:xfrm>
          <a:prstGeom prst="rect">
            <a:avLst/>
          </a:prstGeom>
          <a:noFill/>
          <a:ln/>
        </p:spPr>
        <p:txBody>
          <a:bodyPr wrap="square" rtlCol="0" anchor="ctr"/>
          <a:lstStyle/>
          <a:p>
            <a:pPr defTabSz="1218895"/>
            <a:r>
              <a:rPr lang="en-US" sz="900" b="1" kern="0" spc="267" dirty="0">
                <a:solidFill>
                  <a:srgbClr val="8B8FA8"/>
                </a:solidFill>
                <a:latin typeface="Calibri" pitchFamily="34" charset="0"/>
                <a:ea typeface="Calibri" pitchFamily="34" charset="-122"/>
                <a:cs typeface="Calibri" pitchFamily="34" charset="-120"/>
              </a:rPr>
              <a:t>NEXT STEPS</a:t>
            </a:r>
            <a:endParaRPr lang="en-US" sz="900" dirty="0">
              <a:solidFill>
                <a:prstClr val="black"/>
              </a:solidFill>
              <a:latin typeface="Calibri" panose="020F0502020204030204"/>
            </a:endParaRPr>
          </a:p>
        </p:txBody>
      </p:sp>
      <p:sp>
        <p:nvSpPr>
          <p:cNvPr id="6" name="Shape 4"/>
          <p:cNvSpPr/>
          <p:nvPr/>
        </p:nvSpPr>
        <p:spPr>
          <a:xfrm>
            <a:off x="6118790" y="1171020"/>
            <a:ext cx="0" cy="5424027"/>
          </a:xfrm>
          <a:prstGeom prst="line">
            <a:avLst/>
          </a:prstGeom>
          <a:noFill/>
          <a:ln w="12700">
            <a:solidFill>
              <a:srgbClr val="1E2A3A"/>
            </a:solidFill>
            <a:prstDash val="solid"/>
          </a:ln>
        </p:spPr>
        <p:txBody>
          <a:bodyPr/>
          <a:lstStyle/>
          <a:p>
            <a:pPr defTabSz="1218895"/>
            <a:endParaRPr lang="en-DE" sz="2399">
              <a:solidFill>
                <a:prstClr val="black"/>
              </a:solidFill>
              <a:latin typeface="Calibri" panose="020F0502020204030204"/>
            </a:endParaRPr>
          </a:p>
        </p:txBody>
      </p:sp>
      <p:sp>
        <p:nvSpPr>
          <p:cNvPr id="7" name="Shape 5"/>
          <p:cNvSpPr/>
          <p:nvPr/>
        </p:nvSpPr>
        <p:spPr>
          <a:xfrm>
            <a:off x="548497" y="1426986"/>
            <a:ext cx="5424027" cy="877595"/>
          </a:xfrm>
          <a:prstGeom prst="rect">
            <a:avLst/>
          </a:prstGeom>
          <a:solidFill>
            <a:srgbClr val="161B27"/>
          </a:solidFill>
          <a:ln w="12700">
            <a:solidFill>
              <a:srgbClr val="161B27"/>
            </a:solidFill>
            <a:prstDash val="solid"/>
          </a:ln>
        </p:spPr>
        <p:txBody>
          <a:bodyPr/>
          <a:lstStyle/>
          <a:p>
            <a:pPr defTabSz="1218895"/>
            <a:endParaRPr lang="en-DE" sz="2399">
              <a:solidFill>
                <a:prstClr val="black"/>
              </a:solidFill>
              <a:latin typeface="Calibri" panose="020F0502020204030204"/>
            </a:endParaRPr>
          </a:p>
        </p:txBody>
      </p:sp>
      <p:sp>
        <p:nvSpPr>
          <p:cNvPr id="8" name="Shape 6"/>
          <p:cNvSpPr/>
          <p:nvPr/>
        </p:nvSpPr>
        <p:spPr>
          <a:xfrm>
            <a:off x="548496" y="1426986"/>
            <a:ext cx="67039" cy="877595"/>
          </a:xfrm>
          <a:prstGeom prst="rect">
            <a:avLst/>
          </a:prstGeom>
          <a:solidFill>
            <a:srgbClr val="00D4AA"/>
          </a:solidFill>
          <a:ln w="12700">
            <a:solidFill>
              <a:srgbClr val="00D4AA"/>
            </a:solidFill>
            <a:prstDash val="solid"/>
          </a:ln>
        </p:spPr>
        <p:txBody>
          <a:bodyPr/>
          <a:lstStyle/>
          <a:p>
            <a:pPr defTabSz="1218895"/>
            <a:endParaRPr lang="en-DE" sz="2399">
              <a:solidFill>
                <a:prstClr val="black"/>
              </a:solidFill>
              <a:latin typeface="Calibri" panose="020F0502020204030204"/>
            </a:endParaRPr>
          </a:p>
        </p:txBody>
      </p:sp>
      <p:sp>
        <p:nvSpPr>
          <p:cNvPr id="9" name="Text 7"/>
          <p:cNvSpPr/>
          <p:nvPr/>
        </p:nvSpPr>
        <p:spPr>
          <a:xfrm>
            <a:off x="706951" y="1426986"/>
            <a:ext cx="5204628" cy="877595"/>
          </a:xfrm>
          <a:prstGeom prst="rect">
            <a:avLst/>
          </a:prstGeom>
          <a:noFill/>
          <a:ln/>
        </p:spPr>
        <p:txBody>
          <a:bodyPr wrap="square" rtlCol="0" anchor="ctr"/>
          <a:lstStyle/>
          <a:p>
            <a:pPr defTabSz="1218895"/>
            <a:r>
              <a:rPr lang="en-US" sz="2000" b="1" dirty="0">
                <a:solidFill>
                  <a:srgbClr val="00D4AA"/>
                </a:solidFill>
                <a:latin typeface="Calibri" pitchFamily="34" charset="0"/>
                <a:ea typeface="Calibri" pitchFamily="34" charset="-122"/>
                <a:cs typeface="Calibri" pitchFamily="34" charset="-120"/>
              </a:rPr>
              <a:t>Generic Outputs</a:t>
            </a:r>
            <a:endParaRPr lang="en-US" sz="2000" dirty="0">
              <a:solidFill>
                <a:prstClr val="black"/>
              </a:solidFill>
              <a:latin typeface="Calibri" panose="020F0502020204030204"/>
            </a:endParaRPr>
          </a:p>
        </p:txBody>
      </p:sp>
      <p:sp>
        <p:nvSpPr>
          <p:cNvPr id="10" name="Shape 8"/>
          <p:cNvSpPr/>
          <p:nvPr/>
        </p:nvSpPr>
        <p:spPr>
          <a:xfrm>
            <a:off x="548497" y="2475225"/>
            <a:ext cx="5424027" cy="877595"/>
          </a:xfrm>
          <a:prstGeom prst="rect">
            <a:avLst/>
          </a:prstGeom>
          <a:solidFill>
            <a:srgbClr val="161B27"/>
          </a:solidFill>
          <a:ln w="12700">
            <a:solidFill>
              <a:srgbClr val="161B27"/>
            </a:solidFill>
            <a:prstDash val="solid"/>
          </a:ln>
        </p:spPr>
        <p:txBody>
          <a:bodyPr/>
          <a:lstStyle/>
          <a:p>
            <a:pPr defTabSz="1218895"/>
            <a:endParaRPr lang="en-DE" sz="2399">
              <a:solidFill>
                <a:prstClr val="black"/>
              </a:solidFill>
              <a:latin typeface="Calibri" panose="020F0502020204030204"/>
            </a:endParaRPr>
          </a:p>
        </p:txBody>
      </p:sp>
      <p:sp>
        <p:nvSpPr>
          <p:cNvPr id="11" name="Shape 9"/>
          <p:cNvSpPr/>
          <p:nvPr/>
        </p:nvSpPr>
        <p:spPr>
          <a:xfrm>
            <a:off x="548496" y="2475225"/>
            <a:ext cx="67039" cy="877595"/>
          </a:xfrm>
          <a:prstGeom prst="rect">
            <a:avLst/>
          </a:prstGeom>
          <a:solidFill>
            <a:srgbClr val="A855F7"/>
          </a:solidFill>
          <a:ln w="12700">
            <a:solidFill>
              <a:srgbClr val="A855F7"/>
            </a:solidFill>
            <a:prstDash val="solid"/>
          </a:ln>
        </p:spPr>
        <p:txBody>
          <a:bodyPr/>
          <a:lstStyle/>
          <a:p>
            <a:pPr defTabSz="1218895"/>
            <a:endParaRPr lang="en-DE" sz="2399">
              <a:solidFill>
                <a:prstClr val="black"/>
              </a:solidFill>
              <a:latin typeface="Calibri" panose="020F0502020204030204"/>
            </a:endParaRPr>
          </a:p>
        </p:txBody>
      </p:sp>
      <p:sp>
        <p:nvSpPr>
          <p:cNvPr id="12" name="Text 10"/>
          <p:cNvSpPr/>
          <p:nvPr/>
        </p:nvSpPr>
        <p:spPr>
          <a:xfrm>
            <a:off x="706951" y="2475225"/>
            <a:ext cx="5204628" cy="877595"/>
          </a:xfrm>
          <a:prstGeom prst="rect">
            <a:avLst/>
          </a:prstGeom>
          <a:noFill/>
          <a:ln/>
        </p:spPr>
        <p:txBody>
          <a:bodyPr wrap="square" rtlCol="0" anchor="ctr"/>
          <a:lstStyle/>
          <a:p>
            <a:pPr defTabSz="1218895"/>
            <a:r>
              <a:rPr lang="en-US" sz="2000" b="1" dirty="0">
                <a:solidFill>
                  <a:srgbClr val="A855F7"/>
                </a:solidFill>
                <a:latin typeface="Calibri" pitchFamily="34" charset="0"/>
                <a:ea typeface="Calibri" pitchFamily="34" charset="-122"/>
                <a:cs typeface="Calibri" pitchFamily="34" charset="-120"/>
              </a:rPr>
              <a:t>EM Dash Overuse</a:t>
            </a:r>
            <a:endParaRPr lang="en-US" sz="2000" dirty="0">
              <a:solidFill>
                <a:prstClr val="black"/>
              </a:solidFill>
              <a:latin typeface="Calibri" panose="020F0502020204030204"/>
            </a:endParaRPr>
          </a:p>
        </p:txBody>
      </p:sp>
      <p:sp>
        <p:nvSpPr>
          <p:cNvPr id="13" name="Shape 11"/>
          <p:cNvSpPr/>
          <p:nvPr/>
        </p:nvSpPr>
        <p:spPr>
          <a:xfrm>
            <a:off x="548497" y="3523464"/>
            <a:ext cx="5424027" cy="877595"/>
          </a:xfrm>
          <a:prstGeom prst="rect">
            <a:avLst/>
          </a:prstGeom>
          <a:solidFill>
            <a:srgbClr val="161B27"/>
          </a:solidFill>
          <a:ln w="12700">
            <a:solidFill>
              <a:srgbClr val="161B27"/>
            </a:solidFill>
            <a:prstDash val="solid"/>
          </a:ln>
        </p:spPr>
        <p:txBody>
          <a:bodyPr/>
          <a:lstStyle/>
          <a:p>
            <a:pPr defTabSz="1218895"/>
            <a:endParaRPr lang="en-DE" sz="2399">
              <a:solidFill>
                <a:prstClr val="black"/>
              </a:solidFill>
              <a:latin typeface="Calibri" panose="020F0502020204030204"/>
            </a:endParaRPr>
          </a:p>
        </p:txBody>
      </p:sp>
      <p:sp>
        <p:nvSpPr>
          <p:cNvPr id="14" name="Shape 12"/>
          <p:cNvSpPr/>
          <p:nvPr/>
        </p:nvSpPr>
        <p:spPr>
          <a:xfrm>
            <a:off x="548496" y="3523464"/>
            <a:ext cx="67039" cy="877595"/>
          </a:xfrm>
          <a:prstGeom prst="rect">
            <a:avLst/>
          </a:prstGeom>
          <a:solidFill>
            <a:srgbClr val="F97316"/>
          </a:solidFill>
          <a:ln w="12700">
            <a:solidFill>
              <a:srgbClr val="F97316"/>
            </a:solidFill>
            <a:prstDash val="solid"/>
          </a:ln>
        </p:spPr>
        <p:txBody>
          <a:bodyPr/>
          <a:lstStyle/>
          <a:p>
            <a:pPr defTabSz="1218895"/>
            <a:endParaRPr lang="en-DE" sz="2399">
              <a:solidFill>
                <a:prstClr val="black"/>
              </a:solidFill>
              <a:latin typeface="Calibri" panose="020F0502020204030204"/>
            </a:endParaRPr>
          </a:p>
        </p:txBody>
      </p:sp>
      <p:sp>
        <p:nvSpPr>
          <p:cNvPr id="15" name="Text 13"/>
          <p:cNvSpPr/>
          <p:nvPr/>
        </p:nvSpPr>
        <p:spPr>
          <a:xfrm>
            <a:off x="706951" y="3523464"/>
            <a:ext cx="5204628" cy="877595"/>
          </a:xfrm>
          <a:prstGeom prst="rect">
            <a:avLst/>
          </a:prstGeom>
          <a:noFill/>
          <a:ln/>
        </p:spPr>
        <p:txBody>
          <a:bodyPr wrap="square" rtlCol="0" anchor="ctr"/>
          <a:lstStyle/>
          <a:p>
            <a:pPr defTabSz="1218895"/>
            <a:r>
              <a:rPr lang="en-US" sz="2000" b="1" dirty="0">
                <a:solidFill>
                  <a:srgbClr val="F97316"/>
                </a:solidFill>
                <a:latin typeface="Calibri" pitchFamily="34" charset="0"/>
                <a:ea typeface="Calibri" pitchFamily="34" charset="-122"/>
                <a:cs typeface="Calibri" pitchFamily="34" charset="-120"/>
              </a:rPr>
              <a:t>Shallow Content</a:t>
            </a:r>
            <a:endParaRPr lang="en-US" sz="2000" dirty="0">
              <a:solidFill>
                <a:prstClr val="black"/>
              </a:solidFill>
              <a:latin typeface="Calibri" panose="020F0502020204030204"/>
            </a:endParaRPr>
          </a:p>
        </p:txBody>
      </p:sp>
      <p:sp>
        <p:nvSpPr>
          <p:cNvPr id="16" name="Shape 14"/>
          <p:cNvSpPr/>
          <p:nvPr/>
        </p:nvSpPr>
        <p:spPr>
          <a:xfrm>
            <a:off x="548497" y="4571703"/>
            <a:ext cx="5424027" cy="877595"/>
          </a:xfrm>
          <a:prstGeom prst="rect">
            <a:avLst/>
          </a:prstGeom>
          <a:solidFill>
            <a:srgbClr val="161B27"/>
          </a:solidFill>
          <a:ln w="12700">
            <a:solidFill>
              <a:srgbClr val="161B27"/>
            </a:solidFill>
            <a:prstDash val="solid"/>
          </a:ln>
        </p:spPr>
        <p:txBody>
          <a:bodyPr/>
          <a:lstStyle/>
          <a:p>
            <a:pPr defTabSz="1218895"/>
            <a:endParaRPr lang="en-DE" sz="2399">
              <a:solidFill>
                <a:prstClr val="black"/>
              </a:solidFill>
              <a:latin typeface="Calibri" panose="020F0502020204030204"/>
            </a:endParaRPr>
          </a:p>
        </p:txBody>
      </p:sp>
      <p:sp>
        <p:nvSpPr>
          <p:cNvPr id="17" name="Shape 15"/>
          <p:cNvSpPr/>
          <p:nvPr/>
        </p:nvSpPr>
        <p:spPr>
          <a:xfrm>
            <a:off x="548496" y="4571703"/>
            <a:ext cx="67039" cy="877595"/>
          </a:xfrm>
          <a:prstGeom prst="rect">
            <a:avLst/>
          </a:prstGeom>
          <a:solidFill>
            <a:srgbClr val="EAB308"/>
          </a:solidFill>
          <a:ln w="12700">
            <a:solidFill>
              <a:srgbClr val="EAB308"/>
            </a:solidFill>
            <a:prstDash val="solid"/>
          </a:ln>
        </p:spPr>
        <p:txBody>
          <a:bodyPr/>
          <a:lstStyle/>
          <a:p>
            <a:pPr defTabSz="1218895"/>
            <a:endParaRPr lang="en-DE" sz="2399">
              <a:solidFill>
                <a:prstClr val="black"/>
              </a:solidFill>
              <a:latin typeface="Calibri" panose="020F0502020204030204"/>
            </a:endParaRPr>
          </a:p>
        </p:txBody>
      </p:sp>
      <p:sp>
        <p:nvSpPr>
          <p:cNvPr id="18" name="Text 16"/>
          <p:cNvSpPr/>
          <p:nvPr/>
        </p:nvSpPr>
        <p:spPr>
          <a:xfrm>
            <a:off x="706951" y="4571703"/>
            <a:ext cx="5204628" cy="877595"/>
          </a:xfrm>
          <a:prstGeom prst="rect">
            <a:avLst/>
          </a:prstGeom>
          <a:noFill/>
          <a:ln/>
        </p:spPr>
        <p:txBody>
          <a:bodyPr wrap="square" rtlCol="0" anchor="ctr"/>
          <a:lstStyle/>
          <a:p>
            <a:pPr defTabSz="1218895"/>
            <a:r>
              <a:rPr lang="en-US" sz="2000" b="1" dirty="0">
                <a:solidFill>
                  <a:srgbClr val="EAB308"/>
                </a:solidFill>
                <a:latin typeface="Calibri" pitchFamily="34" charset="0"/>
                <a:ea typeface="Calibri" pitchFamily="34" charset="-122"/>
                <a:cs typeface="Calibri" pitchFamily="34" charset="-120"/>
              </a:rPr>
              <a:t>Voice Leakage</a:t>
            </a:r>
            <a:endParaRPr lang="en-US" sz="2000" dirty="0">
              <a:solidFill>
                <a:prstClr val="black"/>
              </a:solidFill>
              <a:latin typeface="Calibri" panose="020F0502020204030204"/>
            </a:endParaRPr>
          </a:p>
        </p:txBody>
      </p:sp>
      <p:sp>
        <p:nvSpPr>
          <p:cNvPr id="19" name="Shape 17"/>
          <p:cNvSpPr/>
          <p:nvPr/>
        </p:nvSpPr>
        <p:spPr>
          <a:xfrm>
            <a:off x="548496" y="6052645"/>
            <a:ext cx="11439196" cy="463175"/>
          </a:xfrm>
          <a:prstGeom prst="rect">
            <a:avLst/>
          </a:prstGeom>
          <a:solidFill>
            <a:srgbClr val="0F2A1E"/>
          </a:solidFill>
          <a:ln w="12700">
            <a:solidFill>
              <a:srgbClr val="00D4AA"/>
            </a:solidFill>
            <a:prstDash val="solid"/>
          </a:ln>
        </p:spPr>
        <p:txBody>
          <a:bodyPr/>
          <a:lstStyle/>
          <a:p>
            <a:pPr defTabSz="1218895"/>
            <a:endParaRPr lang="en-DE" sz="2399">
              <a:solidFill>
                <a:prstClr val="black"/>
              </a:solidFill>
              <a:latin typeface="Calibri" panose="020F0502020204030204"/>
            </a:endParaRPr>
          </a:p>
        </p:txBody>
      </p:sp>
      <p:sp>
        <p:nvSpPr>
          <p:cNvPr id="20" name="Text 18"/>
          <p:cNvSpPr/>
          <p:nvPr/>
        </p:nvSpPr>
        <p:spPr>
          <a:xfrm>
            <a:off x="615535" y="6077023"/>
            <a:ext cx="11372157" cy="414420"/>
          </a:xfrm>
          <a:prstGeom prst="rect">
            <a:avLst/>
          </a:prstGeom>
          <a:noFill/>
          <a:ln/>
        </p:spPr>
        <p:txBody>
          <a:bodyPr wrap="square" rtlCol="0" anchor="ctr"/>
          <a:lstStyle/>
          <a:p>
            <a:pPr defTabSz="1218895"/>
            <a:r>
              <a:rPr lang="en-US" sz="1500" b="1" dirty="0">
                <a:solidFill>
                  <a:srgbClr val="00D4AA"/>
                </a:solidFill>
                <a:latin typeface="Calibri" pitchFamily="34" charset="0"/>
                <a:ea typeface="Calibri" pitchFamily="34" charset="-122"/>
                <a:cs typeface="Calibri" pitchFamily="34" charset="-120"/>
              </a:rPr>
              <a:t>Key Learning:  </a:t>
            </a:r>
            <a:r>
              <a:rPr lang="en-US" sz="1500" dirty="0">
                <a:solidFill>
                  <a:srgbClr val="C8CAD4"/>
                </a:solidFill>
                <a:latin typeface="Calibri" pitchFamily="34" charset="0"/>
                <a:ea typeface="Calibri" pitchFamily="34" charset="-122"/>
                <a:cs typeface="Calibri" pitchFamily="34" charset="-120"/>
              </a:rPr>
              <a:t>Uniqueness comes from specific CONTEXT, not better prompts. Depth of knowledge base = depth of content differentiation.</a:t>
            </a:r>
            <a:endParaRPr lang="en-US" sz="1500" dirty="0">
              <a:solidFill>
                <a:prstClr val="black"/>
              </a:solidFill>
              <a:latin typeface="Calibri" panose="020F0502020204030204"/>
            </a:endParaRPr>
          </a:p>
        </p:txBody>
      </p:sp>
      <p:sp>
        <p:nvSpPr>
          <p:cNvPr id="21" name="Shape 19"/>
          <p:cNvSpPr/>
          <p:nvPr/>
        </p:nvSpPr>
        <p:spPr>
          <a:xfrm>
            <a:off x="6277245" y="1426986"/>
            <a:ext cx="5484971" cy="877595"/>
          </a:xfrm>
          <a:prstGeom prst="rect">
            <a:avLst/>
          </a:prstGeom>
          <a:solidFill>
            <a:srgbClr val="161B27"/>
          </a:solidFill>
          <a:ln w="12700">
            <a:solidFill>
              <a:srgbClr val="161B27"/>
            </a:solidFill>
            <a:prstDash val="solid"/>
          </a:ln>
        </p:spPr>
        <p:txBody>
          <a:bodyPr/>
          <a:lstStyle/>
          <a:p>
            <a:pPr defTabSz="1218895"/>
            <a:endParaRPr lang="en-DE" sz="2399">
              <a:solidFill>
                <a:prstClr val="black"/>
              </a:solidFill>
              <a:latin typeface="Calibri" panose="020F0502020204030204"/>
            </a:endParaRPr>
          </a:p>
        </p:txBody>
      </p:sp>
      <p:sp>
        <p:nvSpPr>
          <p:cNvPr id="22" name="Shape 20"/>
          <p:cNvSpPr/>
          <p:nvPr/>
        </p:nvSpPr>
        <p:spPr>
          <a:xfrm>
            <a:off x="6277244" y="1426986"/>
            <a:ext cx="67039" cy="877595"/>
          </a:xfrm>
          <a:prstGeom prst="rect">
            <a:avLst/>
          </a:prstGeom>
          <a:solidFill>
            <a:srgbClr val="00D4AA"/>
          </a:solidFill>
          <a:ln w="12700">
            <a:solidFill>
              <a:srgbClr val="00D4AA"/>
            </a:solidFill>
            <a:prstDash val="solid"/>
          </a:ln>
        </p:spPr>
        <p:txBody>
          <a:bodyPr/>
          <a:lstStyle/>
          <a:p>
            <a:pPr defTabSz="1218895"/>
            <a:endParaRPr lang="en-DE" sz="2399">
              <a:solidFill>
                <a:prstClr val="black"/>
              </a:solidFill>
              <a:latin typeface="Calibri" panose="020F0502020204030204"/>
            </a:endParaRPr>
          </a:p>
        </p:txBody>
      </p:sp>
      <p:sp>
        <p:nvSpPr>
          <p:cNvPr id="23" name="Text 21"/>
          <p:cNvSpPr/>
          <p:nvPr/>
        </p:nvSpPr>
        <p:spPr>
          <a:xfrm>
            <a:off x="6435699" y="1426986"/>
            <a:ext cx="3900424" cy="877595"/>
          </a:xfrm>
          <a:prstGeom prst="rect">
            <a:avLst/>
          </a:prstGeom>
          <a:noFill/>
          <a:ln/>
        </p:spPr>
        <p:txBody>
          <a:bodyPr wrap="square" rtlCol="0" anchor="ctr"/>
          <a:lstStyle/>
          <a:p>
            <a:pPr defTabSz="1218895"/>
            <a:r>
              <a:rPr lang="en-US" sz="2000" b="1" dirty="0">
                <a:solidFill>
                  <a:srgbClr val="00D4AA"/>
                </a:solidFill>
                <a:latin typeface="Calibri" pitchFamily="34" charset="0"/>
                <a:ea typeface="Calibri" pitchFamily="34" charset="-122"/>
                <a:cs typeface="Calibri" pitchFamily="34" charset="-120"/>
              </a:rPr>
              <a:t>RAG / Vector Retrieval</a:t>
            </a:r>
            <a:endParaRPr lang="en-US" sz="2000" dirty="0">
              <a:solidFill>
                <a:prstClr val="black"/>
              </a:solidFill>
              <a:latin typeface="Calibri" panose="020F0502020204030204"/>
            </a:endParaRPr>
          </a:p>
        </p:txBody>
      </p:sp>
      <p:sp>
        <p:nvSpPr>
          <p:cNvPr id="24" name="Shape 22"/>
          <p:cNvSpPr/>
          <p:nvPr/>
        </p:nvSpPr>
        <p:spPr>
          <a:xfrm>
            <a:off x="10397067" y="1731706"/>
            <a:ext cx="1279827" cy="268154"/>
          </a:xfrm>
          <a:prstGeom prst="rect">
            <a:avLst/>
          </a:prstGeom>
          <a:solidFill>
            <a:srgbClr val="0F2A1E"/>
          </a:solidFill>
          <a:ln w="12700">
            <a:solidFill>
              <a:srgbClr val="00D4AA"/>
            </a:solidFill>
            <a:prstDash val="solid"/>
          </a:ln>
        </p:spPr>
        <p:txBody>
          <a:bodyPr/>
          <a:lstStyle/>
          <a:p>
            <a:pPr defTabSz="1218895"/>
            <a:endParaRPr lang="en-DE" sz="2399">
              <a:solidFill>
                <a:prstClr val="black"/>
              </a:solidFill>
              <a:latin typeface="Calibri" panose="020F0502020204030204"/>
            </a:endParaRPr>
          </a:p>
        </p:txBody>
      </p:sp>
      <p:sp>
        <p:nvSpPr>
          <p:cNvPr id="25" name="Text 23"/>
          <p:cNvSpPr/>
          <p:nvPr/>
        </p:nvSpPr>
        <p:spPr>
          <a:xfrm>
            <a:off x="10397067" y="1731706"/>
            <a:ext cx="1279827" cy="268154"/>
          </a:xfrm>
          <a:prstGeom prst="rect">
            <a:avLst/>
          </a:prstGeom>
          <a:noFill/>
          <a:ln/>
        </p:spPr>
        <p:txBody>
          <a:bodyPr wrap="square" rtlCol="0" anchor="ctr"/>
          <a:lstStyle/>
          <a:p>
            <a:pPr algn="ctr" defTabSz="1218895"/>
            <a:r>
              <a:rPr lang="en-US" sz="1000" b="1" dirty="0">
                <a:solidFill>
                  <a:srgbClr val="00D4AA"/>
                </a:solidFill>
                <a:latin typeface="Calibri" pitchFamily="34" charset="0"/>
                <a:ea typeface="Calibri" pitchFamily="34" charset="-122"/>
                <a:cs typeface="Calibri" pitchFamily="34" charset="-120"/>
              </a:rPr>
              <a:t>Future Module</a:t>
            </a:r>
            <a:endParaRPr lang="en-US" sz="1000" dirty="0">
              <a:solidFill>
                <a:prstClr val="black"/>
              </a:solidFill>
              <a:latin typeface="Calibri" panose="020F0502020204030204"/>
            </a:endParaRPr>
          </a:p>
        </p:txBody>
      </p:sp>
      <p:sp>
        <p:nvSpPr>
          <p:cNvPr id="26" name="Shape 24"/>
          <p:cNvSpPr/>
          <p:nvPr/>
        </p:nvSpPr>
        <p:spPr>
          <a:xfrm>
            <a:off x="6277245" y="2475225"/>
            <a:ext cx="5484971" cy="877595"/>
          </a:xfrm>
          <a:prstGeom prst="rect">
            <a:avLst/>
          </a:prstGeom>
          <a:solidFill>
            <a:srgbClr val="161B27"/>
          </a:solidFill>
          <a:ln w="12700">
            <a:solidFill>
              <a:srgbClr val="161B27"/>
            </a:solidFill>
            <a:prstDash val="solid"/>
          </a:ln>
        </p:spPr>
        <p:txBody>
          <a:bodyPr/>
          <a:lstStyle/>
          <a:p>
            <a:pPr defTabSz="1218895"/>
            <a:endParaRPr lang="en-DE" sz="2399">
              <a:solidFill>
                <a:prstClr val="black"/>
              </a:solidFill>
              <a:latin typeface="Calibri" panose="020F0502020204030204"/>
            </a:endParaRPr>
          </a:p>
        </p:txBody>
      </p:sp>
      <p:sp>
        <p:nvSpPr>
          <p:cNvPr id="27" name="Shape 25"/>
          <p:cNvSpPr/>
          <p:nvPr/>
        </p:nvSpPr>
        <p:spPr>
          <a:xfrm>
            <a:off x="6277244" y="2475225"/>
            <a:ext cx="67039" cy="877595"/>
          </a:xfrm>
          <a:prstGeom prst="rect">
            <a:avLst/>
          </a:prstGeom>
          <a:solidFill>
            <a:srgbClr val="A855F7"/>
          </a:solidFill>
          <a:ln w="12700">
            <a:solidFill>
              <a:srgbClr val="A855F7"/>
            </a:solidFill>
            <a:prstDash val="solid"/>
          </a:ln>
        </p:spPr>
        <p:txBody>
          <a:bodyPr/>
          <a:lstStyle/>
          <a:p>
            <a:pPr defTabSz="1218895"/>
            <a:endParaRPr lang="en-DE" sz="2399">
              <a:solidFill>
                <a:prstClr val="black"/>
              </a:solidFill>
              <a:latin typeface="Calibri" panose="020F0502020204030204"/>
            </a:endParaRPr>
          </a:p>
        </p:txBody>
      </p:sp>
      <p:sp>
        <p:nvSpPr>
          <p:cNvPr id="28" name="Text 26"/>
          <p:cNvSpPr/>
          <p:nvPr/>
        </p:nvSpPr>
        <p:spPr>
          <a:xfrm>
            <a:off x="6435699" y="2475225"/>
            <a:ext cx="3900424" cy="877595"/>
          </a:xfrm>
          <a:prstGeom prst="rect">
            <a:avLst/>
          </a:prstGeom>
          <a:noFill/>
          <a:ln/>
        </p:spPr>
        <p:txBody>
          <a:bodyPr wrap="square" rtlCol="0" anchor="ctr"/>
          <a:lstStyle/>
          <a:p>
            <a:pPr defTabSz="1218895"/>
            <a:r>
              <a:rPr lang="en-US" sz="2000" b="1" dirty="0">
                <a:solidFill>
                  <a:srgbClr val="A855F7"/>
                </a:solidFill>
                <a:latin typeface="Calibri" pitchFamily="34" charset="0"/>
                <a:ea typeface="Calibri" pitchFamily="34" charset="-122"/>
                <a:cs typeface="Calibri" pitchFamily="34" charset="-120"/>
              </a:rPr>
              <a:t>Advanced Monitoring</a:t>
            </a:r>
            <a:endParaRPr lang="en-US" sz="2000" dirty="0">
              <a:solidFill>
                <a:prstClr val="black"/>
              </a:solidFill>
              <a:latin typeface="Calibri" panose="020F0502020204030204"/>
            </a:endParaRPr>
          </a:p>
        </p:txBody>
      </p:sp>
      <p:sp>
        <p:nvSpPr>
          <p:cNvPr id="29" name="Shape 27"/>
          <p:cNvSpPr/>
          <p:nvPr/>
        </p:nvSpPr>
        <p:spPr>
          <a:xfrm>
            <a:off x="10397067" y="2779945"/>
            <a:ext cx="1279827" cy="268154"/>
          </a:xfrm>
          <a:prstGeom prst="rect">
            <a:avLst/>
          </a:prstGeom>
          <a:solidFill>
            <a:srgbClr val="1A1030"/>
          </a:solidFill>
          <a:ln w="12700">
            <a:solidFill>
              <a:srgbClr val="A855F7"/>
            </a:solidFill>
            <a:prstDash val="solid"/>
          </a:ln>
        </p:spPr>
        <p:txBody>
          <a:bodyPr/>
          <a:lstStyle/>
          <a:p>
            <a:pPr defTabSz="1218895"/>
            <a:endParaRPr lang="en-DE" sz="2399">
              <a:solidFill>
                <a:prstClr val="black"/>
              </a:solidFill>
              <a:latin typeface="Calibri" panose="020F0502020204030204"/>
            </a:endParaRPr>
          </a:p>
        </p:txBody>
      </p:sp>
      <p:sp>
        <p:nvSpPr>
          <p:cNvPr id="30" name="Text 28"/>
          <p:cNvSpPr/>
          <p:nvPr/>
        </p:nvSpPr>
        <p:spPr>
          <a:xfrm>
            <a:off x="10397067" y="2779945"/>
            <a:ext cx="1279827" cy="268154"/>
          </a:xfrm>
          <a:prstGeom prst="rect">
            <a:avLst/>
          </a:prstGeom>
          <a:noFill/>
          <a:ln/>
        </p:spPr>
        <p:txBody>
          <a:bodyPr wrap="square" rtlCol="0" anchor="ctr"/>
          <a:lstStyle/>
          <a:p>
            <a:pPr algn="ctr" defTabSz="1218895"/>
            <a:r>
              <a:rPr lang="en-US" sz="1000" b="1" dirty="0">
                <a:solidFill>
                  <a:srgbClr val="A855F7"/>
                </a:solidFill>
                <a:latin typeface="Calibri" pitchFamily="34" charset="0"/>
                <a:ea typeface="Calibri" pitchFamily="34" charset="-122"/>
                <a:cs typeface="Calibri" pitchFamily="34" charset="-120"/>
              </a:rPr>
              <a:t>Next Sprint</a:t>
            </a:r>
            <a:endParaRPr lang="en-US" sz="1000" dirty="0">
              <a:solidFill>
                <a:prstClr val="black"/>
              </a:solidFill>
              <a:latin typeface="Calibri" panose="020F0502020204030204"/>
            </a:endParaRPr>
          </a:p>
        </p:txBody>
      </p:sp>
      <p:sp>
        <p:nvSpPr>
          <p:cNvPr id="31" name="Shape 29"/>
          <p:cNvSpPr/>
          <p:nvPr/>
        </p:nvSpPr>
        <p:spPr>
          <a:xfrm>
            <a:off x="6277245" y="3523464"/>
            <a:ext cx="5484971" cy="877595"/>
          </a:xfrm>
          <a:prstGeom prst="rect">
            <a:avLst/>
          </a:prstGeom>
          <a:solidFill>
            <a:srgbClr val="161B27"/>
          </a:solidFill>
          <a:ln w="12700">
            <a:solidFill>
              <a:srgbClr val="161B27"/>
            </a:solidFill>
            <a:prstDash val="solid"/>
          </a:ln>
        </p:spPr>
        <p:txBody>
          <a:bodyPr/>
          <a:lstStyle/>
          <a:p>
            <a:pPr defTabSz="1218895"/>
            <a:endParaRPr lang="en-DE" sz="2399">
              <a:solidFill>
                <a:prstClr val="black"/>
              </a:solidFill>
              <a:latin typeface="Calibri" panose="020F0502020204030204"/>
            </a:endParaRPr>
          </a:p>
        </p:txBody>
      </p:sp>
      <p:sp>
        <p:nvSpPr>
          <p:cNvPr id="32" name="Shape 30"/>
          <p:cNvSpPr/>
          <p:nvPr/>
        </p:nvSpPr>
        <p:spPr>
          <a:xfrm>
            <a:off x="6277244" y="3523464"/>
            <a:ext cx="67039" cy="877595"/>
          </a:xfrm>
          <a:prstGeom prst="rect">
            <a:avLst/>
          </a:prstGeom>
          <a:solidFill>
            <a:srgbClr val="F97316"/>
          </a:solidFill>
          <a:ln w="12700">
            <a:solidFill>
              <a:srgbClr val="F97316"/>
            </a:solidFill>
            <a:prstDash val="solid"/>
          </a:ln>
        </p:spPr>
        <p:txBody>
          <a:bodyPr/>
          <a:lstStyle/>
          <a:p>
            <a:pPr defTabSz="1218895"/>
            <a:endParaRPr lang="en-DE" sz="2399">
              <a:solidFill>
                <a:prstClr val="black"/>
              </a:solidFill>
              <a:latin typeface="Calibri" panose="020F0502020204030204"/>
            </a:endParaRPr>
          </a:p>
        </p:txBody>
      </p:sp>
      <p:sp>
        <p:nvSpPr>
          <p:cNvPr id="33" name="Text 31"/>
          <p:cNvSpPr/>
          <p:nvPr/>
        </p:nvSpPr>
        <p:spPr>
          <a:xfrm>
            <a:off x="6435699" y="3523464"/>
            <a:ext cx="3900424" cy="877595"/>
          </a:xfrm>
          <a:prstGeom prst="rect">
            <a:avLst/>
          </a:prstGeom>
          <a:noFill/>
          <a:ln/>
        </p:spPr>
        <p:txBody>
          <a:bodyPr wrap="square" rtlCol="0" anchor="ctr"/>
          <a:lstStyle/>
          <a:p>
            <a:pPr defTabSz="1218895"/>
            <a:r>
              <a:rPr lang="en-US" sz="2000" b="1" dirty="0">
                <a:solidFill>
                  <a:srgbClr val="F97316"/>
                </a:solidFill>
                <a:latin typeface="Calibri" pitchFamily="34" charset="0"/>
                <a:ea typeface="Calibri" pitchFamily="34" charset="-122"/>
                <a:cs typeface="Calibri" pitchFamily="34" charset="-120"/>
              </a:rPr>
              <a:t>Automated Publishing</a:t>
            </a:r>
            <a:endParaRPr lang="en-US" sz="2000" dirty="0">
              <a:solidFill>
                <a:prstClr val="black"/>
              </a:solidFill>
              <a:latin typeface="Calibri" panose="020F0502020204030204"/>
            </a:endParaRPr>
          </a:p>
        </p:txBody>
      </p:sp>
      <p:sp>
        <p:nvSpPr>
          <p:cNvPr id="34" name="Shape 32"/>
          <p:cNvSpPr/>
          <p:nvPr/>
        </p:nvSpPr>
        <p:spPr>
          <a:xfrm>
            <a:off x="10397067" y="3828184"/>
            <a:ext cx="1279827" cy="268154"/>
          </a:xfrm>
          <a:prstGeom prst="rect">
            <a:avLst/>
          </a:prstGeom>
          <a:solidFill>
            <a:srgbClr val="1A1208"/>
          </a:solidFill>
          <a:ln w="12700">
            <a:solidFill>
              <a:srgbClr val="F97316"/>
            </a:solidFill>
            <a:prstDash val="solid"/>
          </a:ln>
        </p:spPr>
        <p:txBody>
          <a:bodyPr/>
          <a:lstStyle/>
          <a:p>
            <a:pPr defTabSz="1218895"/>
            <a:endParaRPr lang="en-DE" sz="2399">
              <a:solidFill>
                <a:prstClr val="black"/>
              </a:solidFill>
              <a:latin typeface="Calibri" panose="020F0502020204030204"/>
            </a:endParaRPr>
          </a:p>
        </p:txBody>
      </p:sp>
      <p:sp>
        <p:nvSpPr>
          <p:cNvPr id="35" name="Text 33"/>
          <p:cNvSpPr/>
          <p:nvPr/>
        </p:nvSpPr>
        <p:spPr>
          <a:xfrm>
            <a:off x="10397067" y="3828184"/>
            <a:ext cx="1279827" cy="268154"/>
          </a:xfrm>
          <a:prstGeom prst="rect">
            <a:avLst/>
          </a:prstGeom>
          <a:noFill/>
          <a:ln/>
        </p:spPr>
        <p:txBody>
          <a:bodyPr wrap="square" rtlCol="0" anchor="ctr"/>
          <a:lstStyle/>
          <a:p>
            <a:pPr algn="ctr" defTabSz="1218895"/>
            <a:r>
              <a:rPr lang="en-US" sz="1000" b="1" dirty="0">
                <a:solidFill>
                  <a:srgbClr val="F97316"/>
                </a:solidFill>
                <a:latin typeface="Calibri" pitchFamily="34" charset="0"/>
                <a:ea typeface="Calibri" pitchFamily="34" charset="-122"/>
                <a:cs typeface="Calibri" pitchFamily="34" charset="-120"/>
              </a:rPr>
              <a:t>Phase 2</a:t>
            </a:r>
            <a:endParaRPr lang="en-US" sz="1000" dirty="0">
              <a:solidFill>
                <a:prstClr val="black"/>
              </a:solidFill>
              <a:latin typeface="Calibri" panose="020F0502020204030204"/>
            </a:endParaRPr>
          </a:p>
        </p:txBody>
      </p:sp>
      <p:sp>
        <p:nvSpPr>
          <p:cNvPr id="36" name="Shape 34"/>
          <p:cNvSpPr/>
          <p:nvPr/>
        </p:nvSpPr>
        <p:spPr>
          <a:xfrm>
            <a:off x="6277245" y="4571703"/>
            <a:ext cx="5484971" cy="877595"/>
          </a:xfrm>
          <a:prstGeom prst="rect">
            <a:avLst/>
          </a:prstGeom>
          <a:solidFill>
            <a:srgbClr val="161B27"/>
          </a:solidFill>
          <a:ln w="12700">
            <a:solidFill>
              <a:srgbClr val="161B27"/>
            </a:solidFill>
            <a:prstDash val="solid"/>
          </a:ln>
        </p:spPr>
        <p:txBody>
          <a:bodyPr/>
          <a:lstStyle/>
          <a:p>
            <a:pPr defTabSz="1218895"/>
            <a:endParaRPr lang="en-DE" sz="2399">
              <a:solidFill>
                <a:prstClr val="black"/>
              </a:solidFill>
              <a:latin typeface="Calibri" panose="020F0502020204030204"/>
            </a:endParaRPr>
          </a:p>
        </p:txBody>
      </p:sp>
      <p:sp>
        <p:nvSpPr>
          <p:cNvPr id="37" name="Shape 35"/>
          <p:cNvSpPr/>
          <p:nvPr/>
        </p:nvSpPr>
        <p:spPr>
          <a:xfrm>
            <a:off x="6277244" y="4571703"/>
            <a:ext cx="67039" cy="877595"/>
          </a:xfrm>
          <a:prstGeom prst="rect">
            <a:avLst/>
          </a:prstGeom>
          <a:solidFill>
            <a:srgbClr val="EAB308"/>
          </a:solidFill>
          <a:ln w="12700">
            <a:solidFill>
              <a:srgbClr val="EAB308"/>
            </a:solidFill>
            <a:prstDash val="solid"/>
          </a:ln>
        </p:spPr>
        <p:txBody>
          <a:bodyPr/>
          <a:lstStyle/>
          <a:p>
            <a:pPr defTabSz="1218895"/>
            <a:endParaRPr lang="en-DE" sz="2399">
              <a:solidFill>
                <a:prstClr val="black"/>
              </a:solidFill>
              <a:latin typeface="Calibri" panose="020F0502020204030204"/>
            </a:endParaRPr>
          </a:p>
        </p:txBody>
      </p:sp>
      <p:sp>
        <p:nvSpPr>
          <p:cNvPr id="38" name="Text 36"/>
          <p:cNvSpPr/>
          <p:nvPr/>
        </p:nvSpPr>
        <p:spPr>
          <a:xfrm>
            <a:off x="6435699" y="4571703"/>
            <a:ext cx="3900424" cy="877595"/>
          </a:xfrm>
          <a:prstGeom prst="rect">
            <a:avLst/>
          </a:prstGeom>
          <a:noFill/>
          <a:ln/>
        </p:spPr>
        <p:txBody>
          <a:bodyPr wrap="square" rtlCol="0" anchor="ctr"/>
          <a:lstStyle/>
          <a:p>
            <a:pPr defTabSz="1218895"/>
            <a:r>
              <a:rPr lang="en-US" sz="2000" b="1" dirty="0">
                <a:solidFill>
                  <a:srgbClr val="EAB308"/>
                </a:solidFill>
                <a:latin typeface="Calibri" pitchFamily="34" charset="0"/>
                <a:ea typeface="Calibri" pitchFamily="34" charset="-122"/>
                <a:cs typeface="Calibri" pitchFamily="34" charset="-120"/>
              </a:rPr>
              <a:t>Multi-Brand Support</a:t>
            </a:r>
            <a:endParaRPr lang="en-US" sz="2000" dirty="0">
              <a:solidFill>
                <a:prstClr val="black"/>
              </a:solidFill>
              <a:latin typeface="Calibri" panose="020F0502020204030204"/>
            </a:endParaRPr>
          </a:p>
        </p:txBody>
      </p:sp>
      <p:sp>
        <p:nvSpPr>
          <p:cNvPr id="39" name="Shape 37"/>
          <p:cNvSpPr/>
          <p:nvPr/>
        </p:nvSpPr>
        <p:spPr>
          <a:xfrm>
            <a:off x="10397067" y="4876423"/>
            <a:ext cx="1279827" cy="268154"/>
          </a:xfrm>
          <a:prstGeom prst="rect">
            <a:avLst/>
          </a:prstGeom>
          <a:solidFill>
            <a:srgbClr val="1A1800"/>
          </a:solidFill>
          <a:ln w="12700">
            <a:solidFill>
              <a:srgbClr val="EAB308"/>
            </a:solidFill>
            <a:prstDash val="solid"/>
          </a:ln>
        </p:spPr>
        <p:txBody>
          <a:bodyPr/>
          <a:lstStyle/>
          <a:p>
            <a:pPr defTabSz="1218895"/>
            <a:endParaRPr lang="en-DE" sz="2399">
              <a:solidFill>
                <a:prstClr val="black"/>
              </a:solidFill>
              <a:latin typeface="Calibri" panose="020F0502020204030204"/>
            </a:endParaRPr>
          </a:p>
        </p:txBody>
      </p:sp>
      <p:sp>
        <p:nvSpPr>
          <p:cNvPr id="40" name="Text 38"/>
          <p:cNvSpPr/>
          <p:nvPr/>
        </p:nvSpPr>
        <p:spPr>
          <a:xfrm>
            <a:off x="10397067" y="4876423"/>
            <a:ext cx="1279827" cy="268154"/>
          </a:xfrm>
          <a:prstGeom prst="rect">
            <a:avLst/>
          </a:prstGeom>
          <a:noFill/>
          <a:ln/>
        </p:spPr>
        <p:txBody>
          <a:bodyPr wrap="square" rtlCol="0" anchor="ctr"/>
          <a:lstStyle/>
          <a:p>
            <a:pPr algn="ctr" defTabSz="1218895"/>
            <a:r>
              <a:rPr lang="en-US" sz="1000" b="1" dirty="0">
                <a:solidFill>
                  <a:srgbClr val="EAB308"/>
                </a:solidFill>
                <a:latin typeface="Calibri" pitchFamily="34" charset="0"/>
                <a:ea typeface="Calibri" pitchFamily="34" charset="-122"/>
                <a:cs typeface="Calibri" pitchFamily="34" charset="-120"/>
              </a:rPr>
              <a:t>Phase 3</a:t>
            </a:r>
            <a:endParaRPr lang="en-US" sz="1000" dirty="0">
              <a:solidFill>
                <a:prstClr val="black"/>
              </a:solidFill>
              <a:latin typeface="Calibri" panose="020F050202020403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54864" cy="685800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3200400"/>
            <a:ext cx="12188952" cy="54864"/>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097280"/>
            <a:ext cx="10058400" cy="1371600"/>
          </a:xfrm>
          <a:prstGeom prst="rect">
            <a:avLst/>
          </a:prstGeom>
          <a:noFill/>
        </p:spPr>
        <p:txBody>
          <a:bodyPr wrap="square">
            <a:spAutoFit/>
          </a:bodyPr>
          <a:lstStyle/>
          <a:p>
            <a:pPr algn="ctr"/>
            <a:r>
              <a:rPr sz="6400" b="1" i="0">
                <a:solidFill>
                  <a:srgbClr val="FFFFFF"/>
                </a:solidFill>
                <a:latin typeface="Calibri"/>
              </a:rPr>
              <a:t>Thank You</a:t>
            </a:r>
          </a:p>
        </p:txBody>
      </p:sp>
      <p:sp>
        <p:nvSpPr>
          <p:cNvPr id="6" name="TextBox 5"/>
          <p:cNvSpPr txBox="1"/>
          <p:nvPr/>
        </p:nvSpPr>
        <p:spPr>
          <a:xfrm>
            <a:off x="914400" y="2468880"/>
            <a:ext cx="10058400" cy="731520"/>
          </a:xfrm>
          <a:prstGeom prst="rect">
            <a:avLst/>
          </a:prstGeom>
          <a:noFill/>
        </p:spPr>
        <p:txBody>
          <a:bodyPr wrap="square">
            <a:spAutoFit/>
          </a:bodyPr>
          <a:lstStyle/>
          <a:p>
            <a:pPr algn="ctr"/>
            <a:r>
              <a:rPr sz="3600" b="0" i="0">
                <a:solidFill>
                  <a:srgbClr val="00C8FF"/>
                </a:solidFill>
                <a:latin typeface="Calibri"/>
              </a:rPr>
              <a:t>Questions?</a:t>
            </a:r>
          </a:p>
        </p:txBody>
      </p:sp>
      <p:sp>
        <p:nvSpPr>
          <p:cNvPr id="7" name="Rectangle 6"/>
          <p:cNvSpPr/>
          <p:nvPr/>
        </p:nvSpPr>
        <p:spPr>
          <a:xfrm>
            <a:off x="914400" y="3657600"/>
            <a:ext cx="3291840" cy="777240"/>
          </a:xfrm>
          <a:prstGeom prst="rect">
            <a:avLst/>
          </a:prstGeom>
          <a:solidFill>
            <a:srgbClr val="1E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3749039"/>
            <a:ext cx="3017520" cy="594360"/>
          </a:xfrm>
          <a:prstGeom prst="rect">
            <a:avLst/>
          </a:prstGeom>
          <a:noFill/>
        </p:spPr>
        <p:txBody>
          <a:bodyPr wrap="square">
            <a:spAutoFit/>
          </a:bodyPr>
          <a:lstStyle/>
          <a:p>
            <a:pPr algn="l"/>
            <a:r>
              <a:rPr sz="1100" b="0" i="0">
                <a:solidFill>
                  <a:srgbClr val="C8D6E5"/>
                </a:solidFill>
                <a:latin typeface="Calibri"/>
              </a:rPr>
              <a:t>How did you ensure content uniqueness?</a:t>
            </a:r>
          </a:p>
        </p:txBody>
      </p:sp>
      <p:sp>
        <p:nvSpPr>
          <p:cNvPr id="9" name="Rectangle 8"/>
          <p:cNvSpPr/>
          <p:nvPr/>
        </p:nvSpPr>
        <p:spPr>
          <a:xfrm>
            <a:off x="4434840" y="3657600"/>
            <a:ext cx="3291840" cy="777240"/>
          </a:xfrm>
          <a:prstGeom prst="rect">
            <a:avLst/>
          </a:prstGeom>
          <a:solidFill>
            <a:srgbClr val="1E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0" y="3749039"/>
            <a:ext cx="3017520" cy="594360"/>
          </a:xfrm>
          <a:prstGeom prst="rect">
            <a:avLst/>
          </a:prstGeom>
          <a:noFill/>
        </p:spPr>
        <p:txBody>
          <a:bodyPr wrap="square">
            <a:spAutoFit/>
          </a:bodyPr>
          <a:lstStyle/>
          <a:p>
            <a:pPr algn="l"/>
            <a:r>
              <a:rPr sz="1100" b="0" i="0">
                <a:solidFill>
                  <a:srgbClr val="C8D6E5"/>
                </a:solidFill>
                <a:latin typeface="Calibri"/>
              </a:rPr>
              <a:t>Knowledge base organization &amp; structure</a:t>
            </a:r>
          </a:p>
        </p:txBody>
      </p:sp>
      <p:sp>
        <p:nvSpPr>
          <p:cNvPr id="11" name="Rectangle 10"/>
          <p:cNvSpPr/>
          <p:nvPr/>
        </p:nvSpPr>
        <p:spPr>
          <a:xfrm>
            <a:off x="7955279" y="3657600"/>
            <a:ext cx="3291840" cy="777240"/>
          </a:xfrm>
          <a:prstGeom prst="rect">
            <a:avLst/>
          </a:prstGeom>
          <a:solidFill>
            <a:srgbClr val="1E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92440" y="3749039"/>
            <a:ext cx="3017520" cy="594360"/>
          </a:xfrm>
          <a:prstGeom prst="rect">
            <a:avLst/>
          </a:prstGeom>
          <a:noFill/>
        </p:spPr>
        <p:txBody>
          <a:bodyPr wrap="square">
            <a:spAutoFit/>
          </a:bodyPr>
          <a:lstStyle/>
          <a:p>
            <a:pPr algn="l"/>
            <a:r>
              <a:rPr sz="1100" b="0" i="0">
                <a:solidFill>
                  <a:srgbClr val="C8D6E5"/>
                </a:solidFill>
                <a:latin typeface="Calibri"/>
              </a:rPr>
              <a:t>Prompt engineering techniques used</a:t>
            </a:r>
          </a:p>
        </p:txBody>
      </p:sp>
      <p:sp>
        <p:nvSpPr>
          <p:cNvPr id="13" name="Rectangle 12"/>
          <p:cNvSpPr/>
          <p:nvPr/>
        </p:nvSpPr>
        <p:spPr>
          <a:xfrm>
            <a:off x="914400" y="4663440"/>
            <a:ext cx="3291840" cy="777240"/>
          </a:xfrm>
          <a:prstGeom prst="rect">
            <a:avLst/>
          </a:prstGeom>
          <a:solidFill>
            <a:srgbClr val="1E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51560" y="4754879"/>
            <a:ext cx="3017520" cy="594360"/>
          </a:xfrm>
          <a:prstGeom prst="rect">
            <a:avLst/>
          </a:prstGeom>
          <a:noFill/>
        </p:spPr>
        <p:txBody>
          <a:bodyPr wrap="square">
            <a:spAutoFit/>
          </a:bodyPr>
          <a:lstStyle/>
          <a:p>
            <a:pPr algn="l"/>
            <a:r>
              <a:rPr sz="1100" b="0" i="0">
                <a:solidFill>
                  <a:srgbClr val="C8D6E5"/>
                </a:solidFill>
                <a:latin typeface="Calibri"/>
              </a:rPr>
              <a:t>Why 5 pipeline stages vs 1 direct call?</a:t>
            </a:r>
          </a:p>
        </p:txBody>
      </p:sp>
      <p:sp>
        <p:nvSpPr>
          <p:cNvPr id="15" name="Rectangle 14"/>
          <p:cNvSpPr/>
          <p:nvPr/>
        </p:nvSpPr>
        <p:spPr>
          <a:xfrm>
            <a:off x="4434840" y="4663440"/>
            <a:ext cx="3291840" cy="777240"/>
          </a:xfrm>
          <a:prstGeom prst="rect">
            <a:avLst/>
          </a:prstGeom>
          <a:solidFill>
            <a:srgbClr val="1E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0" y="4754879"/>
            <a:ext cx="3017520" cy="594360"/>
          </a:xfrm>
          <a:prstGeom prst="rect">
            <a:avLst/>
          </a:prstGeom>
          <a:noFill/>
        </p:spPr>
        <p:txBody>
          <a:bodyPr wrap="square">
            <a:spAutoFit/>
          </a:bodyPr>
          <a:lstStyle/>
          <a:p>
            <a:pPr algn="l"/>
            <a:r>
              <a:rPr sz="1100" b="0" i="0">
                <a:solidFill>
                  <a:srgbClr val="C8D6E5"/>
                </a:solidFill>
                <a:latin typeface="Calibri"/>
              </a:rPr>
              <a:t>Technical choices: OpenAI vs Anthropic</a:t>
            </a:r>
          </a:p>
        </p:txBody>
      </p:sp>
      <p:sp>
        <p:nvSpPr>
          <p:cNvPr id="17" name="Rectangle 16"/>
          <p:cNvSpPr/>
          <p:nvPr/>
        </p:nvSpPr>
        <p:spPr>
          <a:xfrm>
            <a:off x="7955279" y="4663440"/>
            <a:ext cx="3291840" cy="777240"/>
          </a:xfrm>
          <a:prstGeom prst="rect">
            <a:avLst/>
          </a:prstGeom>
          <a:solidFill>
            <a:srgbClr val="1E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092440" y="4754879"/>
            <a:ext cx="3017520" cy="594360"/>
          </a:xfrm>
          <a:prstGeom prst="rect">
            <a:avLst/>
          </a:prstGeom>
          <a:noFill/>
        </p:spPr>
        <p:txBody>
          <a:bodyPr wrap="square">
            <a:spAutoFit/>
          </a:bodyPr>
          <a:lstStyle/>
          <a:p>
            <a:pPr algn="l"/>
            <a:r>
              <a:rPr sz="1100" b="0" i="0">
                <a:solidFill>
                  <a:srgbClr val="C8D6E5"/>
                </a:solidFill>
                <a:latin typeface="Calibri"/>
              </a:rPr>
              <a:t>Kanban workflow &amp; WIP limits</a:t>
            </a:r>
          </a:p>
        </p:txBody>
      </p:sp>
      <p:sp>
        <p:nvSpPr>
          <p:cNvPr id="19" name="TextBox 18"/>
          <p:cNvSpPr txBox="1"/>
          <p:nvPr/>
        </p:nvSpPr>
        <p:spPr>
          <a:xfrm>
            <a:off x="365760" y="6492240"/>
            <a:ext cx="11430000" cy="320040"/>
          </a:xfrm>
          <a:prstGeom prst="rect">
            <a:avLst/>
          </a:prstGeom>
          <a:noFill/>
        </p:spPr>
        <p:txBody>
          <a:bodyPr wrap="square">
            <a:spAutoFit/>
          </a:bodyPr>
          <a:lstStyle/>
          <a:p>
            <a:pPr algn="ctr"/>
            <a:r>
              <a:rPr sz="1100" b="0" i="0">
                <a:solidFill>
                  <a:srgbClr val="C8D6E5"/>
                </a:solidFill>
                <a:latin typeface="Calibri"/>
              </a:rPr>
              <a:t>Built for Ironhack Data Analytics Bootcamp  —  Module 2 Project  —  May 2026</a:t>
            </a:r>
          </a:p>
        </p:txBody>
      </p:sp>
      <p:sp>
        <p:nvSpPr>
          <p:cNvPr id="20" name="TextBox 19"/>
          <p:cNvSpPr txBox="1"/>
          <p:nvPr/>
        </p:nvSpPr>
        <p:spPr>
          <a:xfrm>
            <a:off x="11612880" y="6492240"/>
            <a:ext cx="457200" cy="274320"/>
          </a:xfrm>
          <a:prstGeom prst="rect">
            <a:avLst/>
          </a:prstGeom>
          <a:noFill/>
        </p:spPr>
        <p:txBody>
          <a:bodyPr wrap="square">
            <a:spAutoFit/>
          </a:bodyPr>
          <a:lstStyle/>
          <a:p>
            <a:pPr algn="r"/>
            <a:r>
              <a:rPr sz="1000" b="0" i="0">
                <a:solidFill>
                  <a:srgbClr val="C8D6E5"/>
                </a:solidFill>
                <a:latin typeface="Calibri"/>
              </a:rPr>
              <a:t>11</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4FBEAD-24C7-AB2F-B052-D7DF4AFEAD0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C36512B-D686-F5EA-56DC-377F296EC93B}"/>
              </a:ext>
            </a:extLst>
          </p:cNvPr>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A220F610-4A42-1853-62D0-E7A5169A9FE3}"/>
              </a:ext>
            </a:extLst>
          </p:cNvPr>
          <p:cNvSpPr/>
          <p:nvPr/>
        </p:nvSpPr>
        <p:spPr>
          <a:xfrm>
            <a:off x="0" y="0"/>
            <a:ext cx="54864" cy="685800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842C61D1-49C6-6037-2498-13DC2485A15D}"/>
              </a:ext>
            </a:extLst>
          </p:cNvPr>
          <p:cNvSpPr txBox="1"/>
          <p:nvPr/>
        </p:nvSpPr>
        <p:spPr>
          <a:xfrm>
            <a:off x="914400" y="1097280"/>
            <a:ext cx="10058400" cy="1077218"/>
          </a:xfrm>
          <a:prstGeom prst="rect">
            <a:avLst/>
          </a:prstGeom>
          <a:noFill/>
        </p:spPr>
        <p:txBody>
          <a:bodyPr wrap="square">
            <a:spAutoFit/>
          </a:bodyPr>
          <a:lstStyle/>
          <a:p>
            <a:pPr algn="ctr"/>
            <a:r>
              <a:rPr lang="de-DE" sz="6400" b="1" i="0" dirty="0">
                <a:solidFill>
                  <a:srgbClr val="FFFFFF"/>
                </a:solidFill>
                <a:latin typeface="Calibri"/>
              </a:rPr>
              <a:t>ARCHIVE</a:t>
            </a:r>
            <a:endParaRPr sz="6400" b="1" i="0" dirty="0">
              <a:solidFill>
                <a:srgbClr val="FFFFFF"/>
              </a:solidFill>
              <a:latin typeface="Calibri"/>
            </a:endParaRPr>
          </a:p>
        </p:txBody>
      </p:sp>
    </p:spTree>
    <p:extLst>
      <p:ext uri="{BB962C8B-B14F-4D97-AF65-F5344CB8AC3E}">
        <p14:creationId xmlns:p14="http://schemas.microsoft.com/office/powerpoint/2010/main" val="35712308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28600"/>
            <a:ext cx="3657600" cy="320040"/>
          </a:xfrm>
          <a:prstGeom prst="rect">
            <a:avLst/>
          </a:prstGeom>
          <a:noFill/>
        </p:spPr>
        <p:txBody>
          <a:bodyPr wrap="square">
            <a:spAutoFit/>
          </a:bodyPr>
          <a:lstStyle/>
          <a:p>
            <a:pPr algn="l"/>
            <a:r>
              <a:rPr sz="1000" b="1" i="0">
                <a:solidFill>
                  <a:srgbClr val="00C8FF"/>
                </a:solidFill>
                <a:latin typeface="Calibri"/>
              </a:rPr>
              <a:t>02  —  KNOWLEDGE BASE ARCHITECTURE</a:t>
            </a:r>
          </a:p>
        </p:txBody>
      </p:sp>
      <p:sp>
        <p:nvSpPr>
          <p:cNvPr id="4" name="Rectangle 3"/>
          <p:cNvSpPr/>
          <p:nvPr/>
        </p:nvSpPr>
        <p:spPr>
          <a:xfrm>
            <a:off x="365760" y="658368"/>
            <a:ext cx="3657600" cy="4572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31520"/>
            <a:ext cx="9144000" cy="594360"/>
          </a:xfrm>
          <a:prstGeom prst="rect">
            <a:avLst/>
          </a:prstGeom>
          <a:noFill/>
        </p:spPr>
        <p:txBody>
          <a:bodyPr wrap="square">
            <a:spAutoFit/>
          </a:bodyPr>
          <a:lstStyle/>
          <a:p>
            <a:pPr algn="l"/>
            <a:r>
              <a:rPr sz="3000" b="1" i="0">
                <a:solidFill>
                  <a:srgbClr val="FFFFFF"/>
                </a:solidFill>
                <a:latin typeface="Calibri"/>
              </a:rPr>
              <a:t>Two-Layer Knowledge System</a:t>
            </a:r>
          </a:p>
        </p:txBody>
      </p:sp>
      <p:sp>
        <p:nvSpPr>
          <p:cNvPr id="6" name="Rectangle 5"/>
          <p:cNvSpPr/>
          <p:nvPr/>
        </p:nvSpPr>
        <p:spPr>
          <a:xfrm>
            <a:off x="365760" y="1508760"/>
            <a:ext cx="5394960" cy="4480560"/>
          </a:xfrm>
          <a:prstGeom prst="rect">
            <a:avLst/>
          </a:prstGeom>
          <a:solidFill>
            <a:srgbClr val="1E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508760"/>
            <a:ext cx="5394960" cy="411480"/>
          </a:xfrm>
          <a:prstGeom prst="rect">
            <a:avLst/>
          </a:prstGeom>
          <a:solidFill>
            <a:srgbClr val="005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554480"/>
            <a:ext cx="5029200" cy="347472"/>
          </a:xfrm>
          <a:prstGeom prst="rect">
            <a:avLst/>
          </a:prstGeom>
          <a:noFill/>
        </p:spPr>
        <p:txBody>
          <a:bodyPr wrap="square">
            <a:spAutoFit/>
          </a:bodyPr>
          <a:lstStyle/>
          <a:p>
            <a:pPr algn="l"/>
            <a:r>
              <a:rPr sz="1300" b="1" i="0">
                <a:solidFill>
                  <a:srgbClr val="FFFFFF"/>
                </a:solidFill>
                <a:latin typeface="Calibri"/>
              </a:rPr>
              <a:t>PRIMARY KNOWLEDGE BASE</a:t>
            </a:r>
          </a:p>
        </p:txBody>
      </p:sp>
      <p:sp>
        <p:nvSpPr>
          <p:cNvPr id="9" name="TextBox 8"/>
          <p:cNvSpPr txBox="1"/>
          <p:nvPr/>
        </p:nvSpPr>
        <p:spPr>
          <a:xfrm>
            <a:off x="548640" y="2057400"/>
            <a:ext cx="5029200" cy="292608"/>
          </a:xfrm>
          <a:prstGeom prst="rect">
            <a:avLst/>
          </a:prstGeom>
          <a:noFill/>
        </p:spPr>
        <p:txBody>
          <a:bodyPr wrap="square">
            <a:spAutoFit/>
          </a:bodyPr>
          <a:lstStyle/>
          <a:p>
            <a:pPr algn="l"/>
            <a:r>
              <a:rPr sz="1100" b="1" i="0">
                <a:solidFill>
                  <a:srgbClr val="00C8FF"/>
                </a:solidFill>
                <a:latin typeface="Calibri"/>
              </a:rPr>
              <a:t>fitbyte_brand_guidelines.md</a:t>
            </a:r>
          </a:p>
        </p:txBody>
      </p:sp>
      <p:sp>
        <p:nvSpPr>
          <p:cNvPr id="10" name="TextBox 9"/>
          <p:cNvSpPr txBox="1"/>
          <p:nvPr/>
        </p:nvSpPr>
        <p:spPr>
          <a:xfrm>
            <a:off x="640080" y="2350008"/>
            <a:ext cx="4846320" cy="274320"/>
          </a:xfrm>
          <a:prstGeom prst="rect">
            <a:avLst/>
          </a:prstGeom>
          <a:noFill/>
        </p:spPr>
        <p:txBody>
          <a:bodyPr wrap="square">
            <a:spAutoFit/>
          </a:bodyPr>
          <a:lstStyle/>
          <a:p>
            <a:pPr algn="l"/>
            <a:r>
              <a:rPr sz="1100" b="0" i="0">
                <a:solidFill>
                  <a:srgbClr val="C8D6E5"/>
                </a:solidFill>
                <a:latin typeface="Calibri"/>
              </a:rPr>
              <a:t>• Brand voice rules (active voice, no serial comma)</a:t>
            </a:r>
          </a:p>
        </p:txBody>
      </p:sp>
      <p:sp>
        <p:nvSpPr>
          <p:cNvPr id="11" name="TextBox 10"/>
          <p:cNvSpPr txBox="1"/>
          <p:nvPr/>
        </p:nvSpPr>
        <p:spPr>
          <a:xfrm>
            <a:off x="640080" y="2606039"/>
            <a:ext cx="4846320" cy="274320"/>
          </a:xfrm>
          <a:prstGeom prst="rect">
            <a:avLst/>
          </a:prstGeom>
          <a:noFill/>
        </p:spPr>
        <p:txBody>
          <a:bodyPr wrap="square">
            <a:spAutoFit/>
          </a:bodyPr>
          <a:lstStyle/>
          <a:p>
            <a:pPr algn="l"/>
            <a:r>
              <a:rPr sz="1100" b="0" i="0">
                <a:solidFill>
                  <a:srgbClr val="C8D6E5"/>
                </a:solidFill>
                <a:latin typeface="Calibri"/>
              </a:rPr>
              <a:t>• 4 audience personas with tone guides</a:t>
            </a:r>
          </a:p>
        </p:txBody>
      </p:sp>
      <p:sp>
        <p:nvSpPr>
          <p:cNvPr id="12" name="TextBox 11"/>
          <p:cNvSpPr txBox="1"/>
          <p:nvPr/>
        </p:nvSpPr>
        <p:spPr>
          <a:xfrm>
            <a:off x="640080" y="2862072"/>
            <a:ext cx="4846320" cy="274320"/>
          </a:xfrm>
          <a:prstGeom prst="rect">
            <a:avLst/>
          </a:prstGeom>
          <a:noFill/>
        </p:spPr>
        <p:txBody>
          <a:bodyPr wrap="square">
            <a:spAutoFit/>
          </a:bodyPr>
          <a:lstStyle/>
          <a:p>
            <a:pPr algn="l"/>
            <a:r>
              <a:rPr sz="1100" b="0" i="0">
                <a:solidFill>
                  <a:srgbClr val="C8D6E5"/>
                </a:solidFill>
                <a:latin typeface="Calibri"/>
              </a:rPr>
              <a:t>• Channel-specific writing standards</a:t>
            </a:r>
          </a:p>
        </p:txBody>
      </p:sp>
      <p:sp>
        <p:nvSpPr>
          <p:cNvPr id="13" name="TextBox 12"/>
          <p:cNvSpPr txBox="1"/>
          <p:nvPr/>
        </p:nvSpPr>
        <p:spPr>
          <a:xfrm>
            <a:off x="548640" y="3209544"/>
            <a:ext cx="5029200" cy="292608"/>
          </a:xfrm>
          <a:prstGeom prst="rect">
            <a:avLst/>
          </a:prstGeom>
          <a:noFill/>
        </p:spPr>
        <p:txBody>
          <a:bodyPr wrap="square">
            <a:spAutoFit/>
          </a:bodyPr>
          <a:lstStyle/>
          <a:p>
            <a:pPr algn="l"/>
            <a:r>
              <a:rPr sz="1100" b="1" i="0">
                <a:solidFill>
                  <a:srgbClr val="00C8FF"/>
                </a:solidFill>
                <a:latin typeface="Calibri"/>
              </a:rPr>
              <a:t>fitbyte_product_specs.md</a:t>
            </a:r>
          </a:p>
        </p:txBody>
      </p:sp>
      <p:sp>
        <p:nvSpPr>
          <p:cNvPr id="14" name="TextBox 13"/>
          <p:cNvSpPr txBox="1"/>
          <p:nvPr/>
        </p:nvSpPr>
        <p:spPr>
          <a:xfrm>
            <a:off x="640080" y="3502152"/>
            <a:ext cx="4846320" cy="274320"/>
          </a:xfrm>
          <a:prstGeom prst="rect">
            <a:avLst/>
          </a:prstGeom>
          <a:noFill/>
        </p:spPr>
        <p:txBody>
          <a:bodyPr wrap="square">
            <a:spAutoFit/>
          </a:bodyPr>
          <a:lstStyle/>
          <a:p>
            <a:pPr algn="l"/>
            <a:r>
              <a:rPr sz="1100" b="0" i="0">
                <a:solidFill>
                  <a:srgbClr val="C8D6E5"/>
                </a:solidFill>
                <a:latin typeface="Calibri"/>
              </a:rPr>
              <a:t>• 14-day battery, dual-frequency GPS</a:t>
            </a:r>
          </a:p>
        </p:txBody>
      </p:sp>
      <p:sp>
        <p:nvSpPr>
          <p:cNvPr id="15" name="TextBox 14"/>
          <p:cNvSpPr txBox="1"/>
          <p:nvPr/>
        </p:nvSpPr>
        <p:spPr>
          <a:xfrm>
            <a:off x="640080" y="3758184"/>
            <a:ext cx="4846320" cy="274320"/>
          </a:xfrm>
          <a:prstGeom prst="rect">
            <a:avLst/>
          </a:prstGeom>
          <a:noFill/>
        </p:spPr>
        <p:txBody>
          <a:bodyPr wrap="square">
            <a:spAutoFit/>
          </a:bodyPr>
          <a:lstStyle/>
          <a:p>
            <a:pPr algn="l"/>
            <a:r>
              <a:rPr sz="1100" b="0" i="0">
                <a:solidFill>
                  <a:srgbClr val="C8D6E5"/>
                </a:solidFill>
                <a:latin typeface="Calibri"/>
              </a:rPr>
              <a:t>• 6-stage sleep tracking, Recovery Score</a:t>
            </a:r>
          </a:p>
        </p:txBody>
      </p:sp>
      <p:sp>
        <p:nvSpPr>
          <p:cNvPr id="16" name="TextBox 15"/>
          <p:cNvSpPr txBox="1"/>
          <p:nvPr/>
        </p:nvSpPr>
        <p:spPr>
          <a:xfrm>
            <a:off x="640080" y="4014216"/>
            <a:ext cx="4846320" cy="274320"/>
          </a:xfrm>
          <a:prstGeom prst="rect">
            <a:avLst/>
          </a:prstGeom>
          <a:noFill/>
        </p:spPr>
        <p:txBody>
          <a:bodyPr wrap="square">
            <a:spAutoFit/>
          </a:bodyPr>
          <a:lstStyle/>
          <a:p>
            <a:pPr algn="l"/>
            <a:r>
              <a:rPr sz="1100" b="0" i="0">
                <a:solidFill>
                  <a:srgbClr val="C8D6E5"/>
                </a:solidFill>
                <a:latin typeface="Calibri"/>
              </a:rPr>
              <a:t>• SpO2, VO2 max, 50m water-resistance</a:t>
            </a:r>
          </a:p>
        </p:txBody>
      </p:sp>
      <p:sp>
        <p:nvSpPr>
          <p:cNvPr id="17" name="TextBox 16"/>
          <p:cNvSpPr txBox="1"/>
          <p:nvPr/>
        </p:nvSpPr>
        <p:spPr>
          <a:xfrm>
            <a:off x="548640" y="4361688"/>
            <a:ext cx="5029200" cy="292608"/>
          </a:xfrm>
          <a:prstGeom prst="rect">
            <a:avLst/>
          </a:prstGeom>
          <a:noFill/>
        </p:spPr>
        <p:txBody>
          <a:bodyPr wrap="square">
            <a:spAutoFit/>
          </a:bodyPr>
          <a:lstStyle/>
          <a:p>
            <a:pPr algn="l"/>
            <a:r>
              <a:rPr sz="1100" b="1" i="0">
                <a:solidFill>
                  <a:srgbClr val="00C8FF"/>
                </a:solidFill>
                <a:latin typeface="Calibri"/>
              </a:rPr>
              <a:t>past_content/fitbyte_content_examples.md</a:t>
            </a:r>
          </a:p>
        </p:txBody>
      </p:sp>
      <p:sp>
        <p:nvSpPr>
          <p:cNvPr id="18" name="TextBox 17"/>
          <p:cNvSpPr txBox="1"/>
          <p:nvPr/>
        </p:nvSpPr>
        <p:spPr>
          <a:xfrm>
            <a:off x="640080" y="4654296"/>
            <a:ext cx="4846320" cy="274320"/>
          </a:xfrm>
          <a:prstGeom prst="rect">
            <a:avLst/>
          </a:prstGeom>
          <a:noFill/>
        </p:spPr>
        <p:txBody>
          <a:bodyPr wrap="square">
            <a:spAutoFit/>
          </a:bodyPr>
          <a:lstStyle/>
          <a:p>
            <a:pPr algn="l"/>
            <a:r>
              <a:rPr sz="1100" b="0" i="0">
                <a:solidFill>
                  <a:srgbClr val="C8D6E5"/>
                </a:solidFill>
                <a:latin typeface="Calibri"/>
              </a:rPr>
              <a:t>• 10 real FitByte blog posts</a:t>
            </a:r>
          </a:p>
        </p:txBody>
      </p:sp>
      <p:sp>
        <p:nvSpPr>
          <p:cNvPr id="19" name="TextBox 18"/>
          <p:cNvSpPr txBox="1"/>
          <p:nvPr/>
        </p:nvSpPr>
        <p:spPr>
          <a:xfrm>
            <a:off x="640080" y="4910328"/>
            <a:ext cx="4846320" cy="274320"/>
          </a:xfrm>
          <a:prstGeom prst="rect">
            <a:avLst/>
          </a:prstGeom>
          <a:noFill/>
        </p:spPr>
        <p:txBody>
          <a:bodyPr wrap="square">
            <a:spAutoFit/>
          </a:bodyPr>
          <a:lstStyle/>
          <a:p>
            <a:pPr algn="l"/>
            <a:r>
              <a:rPr sz="1100" b="0" i="0">
                <a:solidFill>
                  <a:srgbClr val="C8D6E5"/>
                </a:solidFill>
                <a:latin typeface="Calibri"/>
              </a:rPr>
              <a:t>• Few-shot style reference</a:t>
            </a:r>
          </a:p>
        </p:txBody>
      </p:sp>
      <p:sp>
        <p:nvSpPr>
          <p:cNvPr id="20" name="TextBox 19"/>
          <p:cNvSpPr txBox="1"/>
          <p:nvPr/>
        </p:nvSpPr>
        <p:spPr>
          <a:xfrm>
            <a:off x="640080" y="5166360"/>
            <a:ext cx="4846320" cy="274320"/>
          </a:xfrm>
          <a:prstGeom prst="rect">
            <a:avLst/>
          </a:prstGeom>
          <a:noFill/>
        </p:spPr>
        <p:txBody>
          <a:bodyPr wrap="square">
            <a:spAutoFit/>
          </a:bodyPr>
          <a:lstStyle/>
          <a:p>
            <a:pPr algn="l"/>
            <a:r>
              <a:rPr sz="1100" b="0" i="0">
                <a:solidFill>
                  <a:srgbClr val="C8D6E5"/>
                </a:solidFill>
                <a:latin typeface="Calibri"/>
              </a:rPr>
              <a:t>• Proven brand-aligned tone</a:t>
            </a:r>
          </a:p>
        </p:txBody>
      </p:sp>
      <p:sp>
        <p:nvSpPr>
          <p:cNvPr id="21" name="Rectangle 20"/>
          <p:cNvSpPr/>
          <p:nvPr/>
        </p:nvSpPr>
        <p:spPr>
          <a:xfrm>
            <a:off x="6217920" y="1508760"/>
            <a:ext cx="5577840" cy="4480560"/>
          </a:xfrm>
          <a:prstGeom prst="rect">
            <a:avLst/>
          </a:prstGeom>
          <a:solidFill>
            <a:srgbClr val="1E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217920" y="1508760"/>
            <a:ext cx="5577840" cy="411480"/>
          </a:xfrm>
          <a:prstGeom prst="rect">
            <a:avLst/>
          </a:prstGeom>
          <a:solidFill>
            <a:srgbClr val="006B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00800" y="1554480"/>
            <a:ext cx="5212080" cy="347472"/>
          </a:xfrm>
          <a:prstGeom prst="rect">
            <a:avLst/>
          </a:prstGeom>
          <a:noFill/>
        </p:spPr>
        <p:txBody>
          <a:bodyPr wrap="square">
            <a:spAutoFit/>
          </a:bodyPr>
          <a:lstStyle/>
          <a:p>
            <a:pPr algn="l"/>
            <a:r>
              <a:rPr sz="1300" b="1" i="0">
                <a:solidFill>
                  <a:srgbClr val="FFFFFF"/>
                </a:solidFill>
                <a:latin typeface="Calibri"/>
              </a:rPr>
              <a:t>SECONDARY RESEARCH LAYER</a:t>
            </a:r>
          </a:p>
        </p:txBody>
      </p:sp>
      <p:sp>
        <p:nvSpPr>
          <p:cNvPr id="24" name="TextBox 23"/>
          <p:cNvSpPr txBox="1"/>
          <p:nvPr/>
        </p:nvSpPr>
        <p:spPr>
          <a:xfrm>
            <a:off x="6400800" y="2057400"/>
            <a:ext cx="5212080" cy="292608"/>
          </a:xfrm>
          <a:prstGeom prst="rect">
            <a:avLst/>
          </a:prstGeom>
          <a:noFill/>
        </p:spPr>
        <p:txBody>
          <a:bodyPr wrap="square">
            <a:spAutoFit/>
          </a:bodyPr>
          <a:lstStyle/>
          <a:p>
            <a:pPr algn="l"/>
            <a:r>
              <a:rPr sz="1100" b="1" i="0">
                <a:solidFill>
                  <a:srgbClr val="00E596"/>
                </a:solidFill>
                <a:latin typeface="Calibri"/>
              </a:rPr>
              <a:t>market_trends.md</a:t>
            </a:r>
          </a:p>
        </p:txBody>
      </p:sp>
      <p:sp>
        <p:nvSpPr>
          <p:cNvPr id="25" name="TextBox 24"/>
          <p:cNvSpPr txBox="1"/>
          <p:nvPr/>
        </p:nvSpPr>
        <p:spPr>
          <a:xfrm>
            <a:off x="6492240" y="2350008"/>
            <a:ext cx="5029200" cy="274320"/>
          </a:xfrm>
          <a:prstGeom prst="rect">
            <a:avLst/>
          </a:prstGeom>
          <a:noFill/>
        </p:spPr>
        <p:txBody>
          <a:bodyPr wrap="square">
            <a:spAutoFit/>
          </a:bodyPr>
          <a:lstStyle/>
          <a:p>
            <a:pPr algn="l"/>
            <a:r>
              <a:rPr sz="1100" b="0" i="0">
                <a:solidFill>
                  <a:srgbClr val="C8D6E5"/>
                </a:solidFill>
                <a:latin typeface="Calibri"/>
              </a:rPr>
              <a:t>• 2024-2025 consumer fitness trends</a:t>
            </a:r>
          </a:p>
        </p:txBody>
      </p:sp>
      <p:sp>
        <p:nvSpPr>
          <p:cNvPr id="26" name="TextBox 25"/>
          <p:cNvSpPr txBox="1"/>
          <p:nvPr/>
        </p:nvSpPr>
        <p:spPr>
          <a:xfrm>
            <a:off x="6492240" y="2606039"/>
            <a:ext cx="5029200" cy="274320"/>
          </a:xfrm>
          <a:prstGeom prst="rect">
            <a:avLst/>
          </a:prstGeom>
          <a:noFill/>
        </p:spPr>
        <p:txBody>
          <a:bodyPr wrap="square">
            <a:spAutoFit/>
          </a:bodyPr>
          <a:lstStyle/>
          <a:p>
            <a:pPr algn="l"/>
            <a:r>
              <a:rPr sz="1100" b="0" i="0">
                <a:solidFill>
                  <a:srgbClr val="C8D6E5"/>
                </a:solidFill>
                <a:latin typeface="Calibri"/>
              </a:rPr>
              <a:t>• 68% of serious athletes track recovery metrics</a:t>
            </a:r>
          </a:p>
        </p:txBody>
      </p:sp>
      <p:sp>
        <p:nvSpPr>
          <p:cNvPr id="27" name="TextBox 26"/>
          <p:cNvSpPr txBox="1"/>
          <p:nvPr/>
        </p:nvSpPr>
        <p:spPr>
          <a:xfrm>
            <a:off x="6492240" y="2862072"/>
            <a:ext cx="5029200" cy="274320"/>
          </a:xfrm>
          <a:prstGeom prst="rect">
            <a:avLst/>
          </a:prstGeom>
          <a:noFill/>
        </p:spPr>
        <p:txBody>
          <a:bodyPr wrap="square">
            <a:spAutoFit/>
          </a:bodyPr>
          <a:lstStyle/>
          <a:p>
            <a:pPr algn="l"/>
            <a:r>
              <a:rPr sz="1100" b="0" i="0">
                <a:solidFill>
                  <a:srgbClr val="C8D6E5"/>
                </a:solidFill>
                <a:latin typeface="Calibri"/>
              </a:rPr>
              <a:t>• Wearables market growth trajectory</a:t>
            </a:r>
          </a:p>
        </p:txBody>
      </p:sp>
      <p:sp>
        <p:nvSpPr>
          <p:cNvPr id="28" name="TextBox 27"/>
          <p:cNvSpPr txBox="1"/>
          <p:nvPr/>
        </p:nvSpPr>
        <p:spPr>
          <a:xfrm>
            <a:off x="6400800" y="3209544"/>
            <a:ext cx="5212080" cy="292608"/>
          </a:xfrm>
          <a:prstGeom prst="rect">
            <a:avLst/>
          </a:prstGeom>
          <a:noFill/>
        </p:spPr>
        <p:txBody>
          <a:bodyPr wrap="square">
            <a:spAutoFit/>
          </a:bodyPr>
          <a:lstStyle/>
          <a:p>
            <a:pPr algn="l"/>
            <a:r>
              <a:rPr sz="1100" b="1" i="0">
                <a:solidFill>
                  <a:srgbClr val="00E596"/>
                </a:solidFill>
                <a:latin typeface="Calibri"/>
              </a:rPr>
              <a:t>competitor_analysis.md</a:t>
            </a:r>
          </a:p>
        </p:txBody>
      </p:sp>
      <p:sp>
        <p:nvSpPr>
          <p:cNvPr id="29" name="TextBox 28"/>
          <p:cNvSpPr txBox="1"/>
          <p:nvPr/>
        </p:nvSpPr>
        <p:spPr>
          <a:xfrm>
            <a:off x="6492240" y="3502152"/>
            <a:ext cx="5029200" cy="274320"/>
          </a:xfrm>
          <a:prstGeom prst="rect">
            <a:avLst/>
          </a:prstGeom>
          <a:noFill/>
        </p:spPr>
        <p:txBody>
          <a:bodyPr wrap="square">
            <a:spAutoFit/>
          </a:bodyPr>
          <a:lstStyle/>
          <a:p>
            <a:pPr algn="l"/>
            <a:r>
              <a:rPr sz="1100" b="0" i="0">
                <a:solidFill>
                  <a:srgbClr val="C8D6E5"/>
                </a:solidFill>
                <a:latin typeface="Calibri"/>
              </a:rPr>
              <a:t>• Garmin, Apple Watch, Fitbit, Whoop positioning</a:t>
            </a:r>
          </a:p>
        </p:txBody>
      </p:sp>
      <p:sp>
        <p:nvSpPr>
          <p:cNvPr id="30" name="TextBox 29"/>
          <p:cNvSpPr txBox="1"/>
          <p:nvPr/>
        </p:nvSpPr>
        <p:spPr>
          <a:xfrm>
            <a:off x="6492240" y="3758184"/>
            <a:ext cx="5029200" cy="274320"/>
          </a:xfrm>
          <a:prstGeom prst="rect">
            <a:avLst/>
          </a:prstGeom>
          <a:noFill/>
        </p:spPr>
        <p:txBody>
          <a:bodyPr wrap="square">
            <a:spAutoFit/>
          </a:bodyPr>
          <a:lstStyle/>
          <a:p>
            <a:pPr algn="l"/>
            <a:r>
              <a:rPr sz="1100" b="0" i="0">
                <a:solidFill>
                  <a:srgbClr val="C8D6E5"/>
                </a:solidFill>
                <a:latin typeface="Calibri"/>
              </a:rPr>
              <a:t>• FitByte differentiators identified</a:t>
            </a:r>
          </a:p>
        </p:txBody>
      </p:sp>
      <p:sp>
        <p:nvSpPr>
          <p:cNvPr id="31" name="TextBox 30"/>
          <p:cNvSpPr txBox="1"/>
          <p:nvPr/>
        </p:nvSpPr>
        <p:spPr>
          <a:xfrm>
            <a:off x="6492240" y="4014216"/>
            <a:ext cx="5029200" cy="274320"/>
          </a:xfrm>
          <a:prstGeom prst="rect">
            <a:avLst/>
          </a:prstGeom>
          <a:noFill/>
        </p:spPr>
        <p:txBody>
          <a:bodyPr wrap="square">
            <a:spAutoFit/>
          </a:bodyPr>
          <a:lstStyle/>
          <a:p>
            <a:pPr algn="l"/>
            <a:r>
              <a:rPr sz="1100" b="0" i="0">
                <a:solidFill>
                  <a:srgbClr val="C8D6E5"/>
                </a:solidFill>
                <a:latin typeface="Calibri"/>
              </a:rPr>
              <a:t>• Pricing &amp; feature gap analysis</a:t>
            </a:r>
          </a:p>
        </p:txBody>
      </p:sp>
      <p:sp>
        <p:nvSpPr>
          <p:cNvPr id="32" name="Rectangle 31"/>
          <p:cNvSpPr/>
          <p:nvPr/>
        </p:nvSpPr>
        <p:spPr>
          <a:xfrm>
            <a:off x="365760" y="6126480"/>
            <a:ext cx="11430000" cy="502920"/>
          </a:xfrm>
          <a:prstGeom prst="rect">
            <a:avLst/>
          </a:prstGeom>
          <a:solidFill>
            <a:srgbClr val="0A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48640" y="6172200"/>
            <a:ext cx="10972800" cy="384048"/>
          </a:xfrm>
          <a:prstGeom prst="rect">
            <a:avLst/>
          </a:prstGeom>
          <a:noFill/>
        </p:spPr>
        <p:txBody>
          <a:bodyPr wrap="square">
            <a:spAutoFit/>
          </a:bodyPr>
          <a:lstStyle/>
          <a:p>
            <a:pPr algn="ctr"/>
            <a:r>
              <a:rPr sz="1300" b="1" i="0">
                <a:solidFill>
                  <a:srgbClr val="00C8FF"/>
                </a:solidFill>
                <a:latin typeface="Calibri"/>
              </a:rPr>
              <a:t>Primary = What FitByte IS   |   Secondary = What the MARKET looks like</a:t>
            </a:r>
          </a:p>
        </p:txBody>
      </p:sp>
      <p:sp>
        <p:nvSpPr>
          <p:cNvPr id="34" name="TextBox 33"/>
          <p:cNvSpPr txBox="1"/>
          <p:nvPr/>
        </p:nvSpPr>
        <p:spPr>
          <a:xfrm>
            <a:off x="11612880" y="6492240"/>
            <a:ext cx="457200" cy="274320"/>
          </a:xfrm>
          <a:prstGeom prst="rect">
            <a:avLst/>
          </a:prstGeom>
          <a:noFill/>
        </p:spPr>
        <p:txBody>
          <a:bodyPr wrap="square">
            <a:spAutoFit/>
          </a:bodyPr>
          <a:lstStyle/>
          <a:p>
            <a:pPr algn="r"/>
            <a:r>
              <a:rPr sz="1000" b="0" i="0">
                <a:solidFill>
                  <a:srgbClr val="C8D6E5"/>
                </a:solidFill>
                <a:latin typeface="Calibri"/>
              </a:rPr>
              <a:t>3</a:t>
            </a:r>
          </a:p>
        </p:txBody>
      </p:sp>
    </p:spTree>
    <p:extLst>
      <p:ext uri="{BB962C8B-B14F-4D97-AF65-F5344CB8AC3E}">
        <p14:creationId xmlns:p14="http://schemas.microsoft.com/office/powerpoint/2010/main" val="32651262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757"/>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28600"/>
            <a:ext cx="3657600" cy="320040"/>
          </a:xfrm>
          <a:prstGeom prst="rect">
            <a:avLst/>
          </a:prstGeom>
          <a:noFill/>
        </p:spPr>
        <p:txBody>
          <a:bodyPr wrap="square">
            <a:spAutoFit/>
          </a:bodyPr>
          <a:lstStyle/>
          <a:p>
            <a:pPr algn="l"/>
            <a:r>
              <a:rPr sz="1000" b="1" i="0">
                <a:solidFill>
                  <a:srgbClr val="00C8FF"/>
                </a:solidFill>
                <a:latin typeface="Calibri"/>
              </a:rPr>
              <a:t>03  —  CONTENT PIPELINE</a:t>
            </a:r>
          </a:p>
        </p:txBody>
      </p:sp>
      <p:sp>
        <p:nvSpPr>
          <p:cNvPr id="4" name="Rectangle 3"/>
          <p:cNvSpPr/>
          <p:nvPr/>
        </p:nvSpPr>
        <p:spPr>
          <a:xfrm>
            <a:off x="365760" y="658368"/>
            <a:ext cx="3657600" cy="4572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31520"/>
            <a:ext cx="10058400" cy="594360"/>
          </a:xfrm>
          <a:prstGeom prst="rect">
            <a:avLst/>
          </a:prstGeom>
          <a:noFill/>
        </p:spPr>
        <p:txBody>
          <a:bodyPr wrap="square">
            <a:spAutoFit/>
          </a:bodyPr>
          <a:lstStyle/>
          <a:p>
            <a:pPr algn="l"/>
            <a:r>
              <a:rPr sz="3000" b="1" i="0">
                <a:solidFill>
                  <a:srgbClr val="FFFFFF"/>
                </a:solidFill>
                <a:latin typeface="Calibri"/>
              </a:rPr>
              <a:t>5-Stage Content Creation Pipeline</a:t>
            </a:r>
          </a:p>
        </p:txBody>
      </p:sp>
      <p:sp>
        <p:nvSpPr>
          <p:cNvPr id="6" name="Rectangle 5"/>
          <p:cNvSpPr/>
          <p:nvPr/>
        </p:nvSpPr>
        <p:spPr>
          <a:xfrm>
            <a:off x="320040" y="1508760"/>
            <a:ext cx="2103120" cy="3840480"/>
          </a:xfrm>
          <a:prstGeom prst="rect">
            <a:avLst/>
          </a:prstGeom>
          <a:solidFill>
            <a:srgbClr val="00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20040" y="1508760"/>
            <a:ext cx="2103120" cy="45720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0040" y="1536192"/>
            <a:ext cx="457200" cy="411480"/>
          </a:xfrm>
          <a:prstGeom prst="rect">
            <a:avLst/>
          </a:prstGeom>
          <a:noFill/>
        </p:spPr>
        <p:txBody>
          <a:bodyPr wrap="square">
            <a:spAutoFit/>
          </a:bodyPr>
          <a:lstStyle/>
          <a:p>
            <a:pPr algn="ctr"/>
            <a:r>
              <a:rPr sz="1800" b="1" i="0">
                <a:solidFill>
                  <a:srgbClr val="0D1B2A"/>
                </a:solidFill>
                <a:latin typeface="Calibri"/>
              </a:rPr>
              <a:t>1</a:t>
            </a:r>
          </a:p>
        </p:txBody>
      </p:sp>
      <p:sp>
        <p:nvSpPr>
          <p:cNvPr id="9" name="TextBox 8"/>
          <p:cNvSpPr txBox="1"/>
          <p:nvPr/>
        </p:nvSpPr>
        <p:spPr>
          <a:xfrm>
            <a:off x="731520" y="1572768"/>
            <a:ext cx="1645919" cy="365760"/>
          </a:xfrm>
          <a:prstGeom prst="rect">
            <a:avLst/>
          </a:prstGeom>
          <a:noFill/>
        </p:spPr>
        <p:txBody>
          <a:bodyPr wrap="square">
            <a:spAutoFit/>
          </a:bodyPr>
          <a:lstStyle/>
          <a:p>
            <a:pPr algn="l"/>
            <a:r>
              <a:rPr sz="1300" b="1" i="0">
                <a:solidFill>
                  <a:srgbClr val="0D1B2A"/>
                </a:solidFill>
                <a:latin typeface="Calibri"/>
              </a:rPr>
              <a:t>DOCUMENT</a:t>
            </a:r>
          </a:p>
        </p:txBody>
      </p:sp>
      <p:sp>
        <p:nvSpPr>
          <p:cNvPr id="10" name="TextBox 9"/>
          <p:cNvSpPr txBox="1"/>
          <p:nvPr/>
        </p:nvSpPr>
        <p:spPr>
          <a:xfrm>
            <a:off x="429768" y="2103120"/>
            <a:ext cx="1883663" cy="2926080"/>
          </a:xfrm>
          <a:prstGeom prst="rect">
            <a:avLst/>
          </a:prstGeom>
          <a:noFill/>
        </p:spPr>
        <p:txBody>
          <a:bodyPr wrap="square">
            <a:spAutoFit/>
          </a:bodyPr>
          <a:lstStyle/>
          <a:p>
            <a:pPr algn="l"/>
            <a:r>
              <a:rPr sz="1200" b="0" i="0">
                <a:solidFill>
                  <a:srgbClr val="FFFFFF"/>
                </a:solidFill>
                <a:latin typeface="Calibri"/>
              </a:rPr>
              <a:t>Load &amp; structure
brand + market
context from
both KBs</a:t>
            </a:r>
          </a:p>
        </p:txBody>
      </p:sp>
      <p:sp>
        <p:nvSpPr>
          <p:cNvPr id="11" name="TextBox 10"/>
          <p:cNvSpPr txBox="1"/>
          <p:nvPr/>
        </p:nvSpPr>
        <p:spPr>
          <a:xfrm>
            <a:off x="2459736" y="2834640"/>
            <a:ext cx="201168" cy="365760"/>
          </a:xfrm>
          <a:prstGeom prst="rect">
            <a:avLst/>
          </a:prstGeom>
          <a:noFill/>
        </p:spPr>
        <p:txBody>
          <a:bodyPr wrap="square">
            <a:spAutoFit/>
          </a:bodyPr>
          <a:lstStyle/>
          <a:p>
            <a:pPr algn="l"/>
            <a:r>
              <a:rPr sz="1600" b="1" i="0">
                <a:solidFill>
                  <a:srgbClr val="00C8FF"/>
                </a:solidFill>
                <a:latin typeface="Calibri"/>
              </a:rPr>
              <a:t>▶</a:t>
            </a:r>
          </a:p>
        </p:txBody>
      </p:sp>
      <p:sp>
        <p:nvSpPr>
          <p:cNvPr id="12" name="Rectangle 11"/>
          <p:cNvSpPr/>
          <p:nvPr/>
        </p:nvSpPr>
        <p:spPr>
          <a:xfrm>
            <a:off x="2679192" y="1508760"/>
            <a:ext cx="2103120" cy="3840480"/>
          </a:xfrm>
          <a:prstGeom prst="rect">
            <a:avLst/>
          </a:prstGeom>
          <a:solidFill>
            <a:srgbClr val="003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679192" y="1508760"/>
            <a:ext cx="2103120" cy="457200"/>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679192" y="1536192"/>
            <a:ext cx="457200" cy="411480"/>
          </a:xfrm>
          <a:prstGeom prst="rect">
            <a:avLst/>
          </a:prstGeom>
          <a:noFill/>
        </p:spPr>
        <p:txBody>
          <a:bodyPr wrap="square">
            <a:spAutoFit/>
          </a:bodyPr>
          <a:lstStyle/>
          <a:p>
            <a:pPr algn="ctr"/>
            <a:r>
              <a:rPr sz="1800" b="1" i="0">
                <a:solidFill>
                  <a:srgbClr val="0D1B2A"/>
                </a:solidFill>
                <a:latin typeface="Calibri"/>
              </a:rPr>
              <a:t>2</a:t>
            </a:r>
          </a:p>
        </p:txBody>
      </p:sp>
      <p:sp>
        <p:nvSpPr>
          <p:cNvPr id="15" name="TextBox 14"/>
          <p:cNvSpPr txBox="1"/>
          <p:nvPr/>
        </p:nvSpPr>
        <p:spPr>
          <a:xfrm>
            <a:off x="3090672" y="1572768"/>
            <a:ext cx="1645919" cy="365760"/>
          </a:xfrm>
          <a:prstGeom prst="rect">
            <a:avLst/>
          </a:prstGeom>
          <a:noFill/>
        </p:spPr>
        <p:txBody>
          <a:bodyPr wrap="square">
            <a:spAutoFit/>
          </a:bodyPr>
          <a:lstStyle/>
          <a:p>
            <a:pPr algn="l"/>
            <a:r>
              <a:rPr sz="1300" b="1" i="0">
                <a:solidFill>
                  <a:srgbClr val="0D1B2A"/>
                </a:solidFill>
                <a:latin typeface="Calibri"/>
              </a:rPr>
              <a:t>MONITOR</a:t>
            </a:r>
          </a:p>
        </p:txBody>
      </p:sp>
      <p:sp>
        <p:nvSpPr>
          <p:cNvPr id="16" name="TextBox 15"/>
          <p:cNvSpPr txBox="1"/>
          <p:nvPr/>
        </p:nvSpPr>
        <p:spPr>
          <a:xfrm>
            <a:off x="2788920" y="2103120"/>
            <a:ext cx="1883663" cy="2926080"/>
          </a:xfrm>
          <a:prstGeom prst="rect">
            <a:avLst/>
          </a:prstGeom>
          <a:noFill/>
        </p:spPr>
        <p:txBody>
          <a:bodyPr wrap="square">
            <a:spAutoFit/>
          </a:bodyPr>
          <a:lstStyle/>
          <a:p>
            <a:pPr algn="l"/>
            <a:r>
              <a:rPr sz="1200" b="0" i="0">
                <a:solidFill>
                  <a:srgbClr val="FFFFFF"/>
                </a:solidFill>
                <a:latin typeface="Calibri"/>
              </a:rPr>
              <a:t>LLM analyzes topic
for brand fit &amp;
market relevance</a:t>
            </a:r>
          </a:p>
        </p:txBody>
      </p:sp>
      <p:sp>
        <p:nvSpPr>
          <p:cNvPr id="17" name="TextBox 16"/>
          <p:cNvSpPr txBox="1"/>
          <p:nvPr/>
        </p:nvSpPr>
        <p:spPr>
          <a:xfrm>
            <a:off x="4818888" y="2834640"/>
            <a:ext cx="201168" cy="365760"/>
          </a:xfrm>
          <a:prstGeom prst="rect">
            <a:avLst/>
          </a:prstGeom>
          <a:noFill/>
        </p:spPr>
        <p:txBody>
          <a:bodyPr wrap="square">
            <a:spAutoFit/>
          </a:bodyPr>
          <a:lstStyle/>
          <a:p>
            <a:pPr algn="l"/>
            <a:r>
              <a:rPr sz="1600" b="1" i="0">
                <a:solidFill>
                  <a:srgbClr val="00C8FF"/>
                </a:solidFill>
                <a:latin typeface="Calibri"/>
              </a:rPr>
              <a:t>▶</a:t>
            </a:r>
          </a:p>
        </p:txBody>
      </p:sp>
      <p:sp>
        <p:nvSpPr>
          <p:cNvPr id="18" name="Rectangle 17"/>
          <p:cNvSpPr/>
          <p:nvPr/>
        </p:nvSpPr>
        <p:spPr>
          <a:xfrm>
            <a:off x="5038344" y="1508760"/>
            <a:ext cx="2103120" cy="3840480"/>
          </a:xfrm>
          <a:prstGeom prst="rect">
            <a:avLst/>
          </a:prstGeom>
          <a:solidFill>
            <a:srgbClr val="403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038344" y="1508760"/>
            <a:ext cx="2103120" cy="457200"/>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038344" y="1536192"/>
            <a:ext cx="457200" cy="411480"/>
          </a:xfrm>
          <a:prstGeom prst="rect">
            <a:avLst/>
          </a:prstGeom>
          <a:noFill/>
        </p:spPr>
        <p:txBody>
          <a:bodyPr wrap="square">
            <a:spAutoFit/>
          </a:bodyPr>
          <a:lstStyle/>
          <a:p>
            <a:pPr algn="ctr"/>
            <a:r>
              <a:rPr sz="1800" b="1" i="0">
                <a:solidFill>
                  <a:srgbClr val="0D1B2A"/>
                </a:solidFill>
                <a:latin typeface="Calibri"/>
              </a:rPr>
              <a:t>3</a:t>
            </a:r>
          </a:p>
        </p:txBody>
      </p:sp>
      <p:sp>
        <p:nvSpPr>
          <p:cNvPr id="21" name="TextBox 20"/>
          <p:cNvSpPr txBox="1"/>
          <p:nvPr/>
        </p:nvSpPr>
        <p:spPr>
          <a:xfrm>
            <a:off x="5449824" y="1572768"/>
            <a:ext cx="1645919" cy="365760"/>
          </a:xfrm>
          <a:prstGeom prst="rect">
            <a:avLst/>
          </a:prstGeom>
          <a:noFill/>
        </p:spPr>
        <p:txBody>
          <a:bodyPr wrap="square">
            <a:spAutoFit/>
          </a:bodyPr>
          <a:lstStyle/>
          <a:p>
            <a:pPr algn="l"/>
            <a:r>
              <a:rPr sz="1300" b="1" i="0">
                <a:solidFill>
                  <a:srgbClr val="0D1B2A"/>
                </a:solidFill>
                <a:latin typeface="Calibri"/>
              </a:rPr>
              <a:t>BRIEF</a:t>
            </a:r>
          </a:p>
        </p:txBody>
      </p:sp>
      <p:sp>
        <p:nvSpPr>
          <p:cNvPr id="22" name="TextBox 21"/>
          <p:cNvSpPr txBox="1"/>
          <p:nvPr/>
        </p:nvSpPr>
        <p:spPr>
          <a:xfrm>
            <a:off x="5148072" y="2103120"/>
            <a:ext cx="1883663" cy="2926080"/>
          </a:xfrm>
          <a:prstGeom prst="rect">
            <a:avLst/>
          </a:prstGeom>
          <a:noFill/>
        </p:spPr>
        <p:txBody>
          <a:bodyPr wrap="square">
            <a:spAutoFit/>
          </a:bodyPr>
          <a:lstStyle/>
          <a:p>
            <a:pPr algn="l"/>
            <a:r>
              <a:rPr sz="1200" b="0" i="0">
                <a:solidFill>
                  <a:srgbClr val="FFFFFF"/>
                </a:solidFill>
                <a:latin typeface="Calibri"/>
              </a:rPr>
              <a:t>Chain-of-thought
prompt generates
structured content
brief</a:t>
            </a:r>
          </a:p>
        </p:txBody>
      </p:sp>
      <p:sp>
        <p:nvSpPr>
          <p:cNvPr id="23" name="TextBox 22"/>
          <p:cNvSpPr txBox="1"/>
          <p:nvPr/>
        </p:nvSpPr>
        <p:spPr>
          <a:xfrm>
            <a:off x="7178040" y="2834640"/>
            <a:ext cx="201168" cy="365760"/>
          </a:xfrm>
          <a:prstGeom prst="rect">
            <a:avLst/>
          </a:prstGeom>
          <a:noFill/>
        </p:spPr>
        <p:txBody>
          <a:bodyPr wrap="square">
            <a:spAutoFit/>
          </a:bodyPr>
          <a:lstStyle/>
          <a:p>
            <a:pPr algn="l"/>
            <a:r>
              <a:rPr sz="1600" b="1" i="0">
                <a:solidFill>
                  <a:srgbClr val="00C8FF"/>
                </a:solidFill>
                <a:latin typeface="Calibri"/>
              </a:rPr>
              <a:t>▶</a:t>
            </a:r>
          </a:p>
        </p:txBody>
      </p:sp>
      <p:sp>
        <p:nvSpPr>
          <p:cNvPr id="24" name="Rectangle 23"/>
          <p:cNvSpPr/>
          <p:nvPr/>
        </p:nvSpPr>
        <p:spPr>
          <a:xfrm>
            <a:off x="7397496" y="1508760"/>
            <a:ext cx="2103120" cy="3840480"/>
          </a:xfrm>
          <a:prstGeom prst="rect">
            <a:avLst/>
          </a:prstGeom>
          <a:solidFill>
            <a:srgbClr val="401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397496" y="1508760"/>
            <a:ext cx="2103120" cy="45720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397496" y="1536192"/>
            <a:ext cx="457200" cy="411480"/>
          </a:xfrm>
          <a:prstGeom prst="rect">
            <a:avLst/>
          </a:prstGeom>
          <a:noFill/>
        </p:spPr>
        <p:txBody>
          <a:bodyPr wrap="square">
            <a:spAutoFit/>
          </a:bodyPr>
          <a:lstStyle/>
          <a:p>
            <a:pPr algn="ctr"/>
            <a:r>
              <a:rPr sz="1800" b="1" i="0">
                <a:solidFill>
                  <a:srgbClr val="0D1B2A"/>
                </a:solidFill>
                <a:latin typeface="Calibri"/>
              </a:rPr>
              <a:t>4</a:t>
            </a:r>
          </a:p>
        </p:txBody>
      </p:sp>
      <p:sp>
        <p:nvSpPr>
          <p:cNvPr id="27" name="TextBox 26"/>
          <p:cNvSpPr txBox="1"/>
          <p:nvPr/>
        </p:nvSpPr>
        <p:spPr>
          <a:xfrm>
            <a:off x="7808975" y="1572768"/>
            <a:ext cx="1645919" cy="365760"/>
          </a:xfrm>
          <a:prstGeom prst="rect">
            <a:avLst/>
          </a:prstGeom>
          <a:noFill/>
        </p:spPr>
        <p:txBody>
          <a:bodyPr wrap="square">
            <a:spAutoFit/>
          </a:bodyPr>
          <a:lstStyle/>
          <a:p>
            <a:pPr algn="l"/>
            <a:r>
              <a:rPr sz="1300" b="1" i="0">
                <a:solidFill>
                  <a:srgbClr val="0D1B2A"/>
                </a:solidFill>
                <a:latin typeface="Calibri"/>
              </a:rPr>
              <a:t>PUBLISH</a:t>
            </a:r>
          </a:p>
        </p:txBody>
      </p:sp>
      <p:sp>
        <p:nvSpPr>
          <p:cNvPr id="28" name="TextBox 27"/>
          <p:cNvSpPr txBox="1"/>
          <p:nvPr/>
        </p:nvSpPr>
        <p:spPr>
          <a:xfrm>
            <a:off x="7507223" y="2103120"/>
            <a:ext cx="1883663" cy="2926080"/>
          </a:xfrm>
          <a:prstGeom prst="rect">
            <a:avLst/>
          </a:prstGeom>
          <a:noFill/>
        </p:spPr>
        <p:txBody>
          <a:bodyPr wrap="square">
            <a:spAutoFit/>
          </a:bodyPr>
          <a:lstStyle/>
          <a:p>
            <a:pPr algn="l"/>
            <a:r>
              <a:rPr sz="1200" b="0" i="0">
                <a:solidFill>
                  <a:srgbClr val="FFFFFF"/>
                </a:solidFill>
                <a:latin typeface="Calibri"/>
              </a:rPr>
              <a:t>Few-shot + contextual
placement generates
final content for
target channel</a:t>
            </a:r>
          </a:p>
        </p:txBody>
      </p:sp>
      <p:sp>
        <p:nvSpPr>
          <p:cNvPr id="29" name="TextBox 28"/>
          <p:cNvSpPr txBox="1"/>
          <p:nvPr/>
        </p:nvSpPr>
        <p:spPr>
          <a:xfrm>
            <a:off x="9537192" y="2834640"/>
            <a:ext cx="201168" cy="365760"/>
          </a:xfrm>
          <a:prstGeom prst="rect">
            <a:avLst/>
          </a:prstGeom>
          <a:noFill/>
        </p:spPr>
        <p:txBody>
          <a:bodyPr wrap="square">
            <a:spAutoFit/>
          </a:bodyPr>
          <a:lstStyle/>
          <a:p>
            <a:pPr algn="l"/>
            <a:r>
              <a:rPr sz="1600" b="1" i="0">
                <a:solidFill>
                  <a:srgbClr val="00C8FF"/>
                </a:solidFill>
                <a:latin typeface="Calibri"/>
              </a:rPr>
              <a:t>▶</a:t>
            </a:r>
          </a:p>
        </p:txBody>
      </p:sp>
      <p:sp>
        <p:nvSpPr>
          <p:cNvPr id="30" name="Rectangle 29"/>
          <p:cNvSpPr/>
          <p:nvPr/>
        </p:nvSpPr>
        <p:spPr>
          <a:xfrm>
            <a:off x="9756648" y="1508760"/>
            <a:ext cx="2103120" cy="3840480"/>
          </a:xfrm>
          <a:prstGeom prst="rect">
            <a:avLst/>
          </a:prstGeom>
          <a:solidFill>
            <a:srgbClr val="280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9756648" y="1508760"/>
            <a:ext cx="2103120" cy="457200"/>
          </a:xfrm>
          <a:prstGeom prst="rect">
            <a:avLst/>
          </a:prstGeom>
          <a:solidFill>
            <a:srgbClr val="CC4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756648" y="1536192"/>
            <a:ext cx="457200" cy="411480"/>
          </a:xfrm>
          <a:prstGeom prst="rect">
            <a:avLst/>
          </a:prstGeom>
          <a:noFill/>
        </p:spPr>
        <p:txBody>
          <a:bodyPr wrap="square">
            <a:spAutoFit/>
          </a:bodyPr>
          <a:lstStyle/>
          <a:p>
            <a:pPr algn="ctr"/>
            <a:r>
              <a:rPr sz="1800" b="1" i="0">
                <a:solidFill>
                  <a:srgbClr val="0D1B2A"/>
                </a:solidFill>
                <a:latin typeface="Calibri"/>
              </a:rPr>
              <a:t>5</a:t>
            </a:r>
          </a:p>
        </p:txBody>
      </p:sp>
      <p:sp>
        <p:nvSpPr>
          <p:cNvPr id="33" name="TextBox 32"/>
          <p:cNvSpPr txBox="1"/>
          <p:nvPr/>
        </p:nvSpPr>
        <p:spPr>
          <a:xfrm>
            <a:off x="10168128" y="1572768"/>
            <a:ext cx="1645919" cy="365760"/>
          </a:xfrm>
          <a:prstGeom prst="rect">
            <a:avLst/>
          </a:prstGeom>
          <a:noFill/>
        </p:spPr>
        <p:txBody>
          <a:bodyPr wrap="square">
            <a:spAutoFit/>
          </a:bodyPr>
          <a:lstStyle/>
          <a:p>
            <a:pPr algn="l"/>
            <a:r>
              <a:rPr sz="1300" b="1" i="0">
                <a:solidFill>
                  <a:srgbClr val="0D1B2A"/>
                </a:solidFill>
                <a:latin typeface="Calibri"/>
              </a:rPr>
              <a:t>ITERATE</a:t>
            </a:r>
          </a:p>
        </p:txBody>
      </p:sp>
      <p:sp>
        <p:nvSpPr>
          <p:cNvPr id="34" name="TextBox 33"/>
          <p:cNvSpPr txBox="1"/>
          <p:nvPr/>
        </p:nvSpPr>
        <p:spPr>
          <a:xfrm>
            <a:off x="9866376" y="2103120"/>
            <a:ext cx="1883663" cy="2926080"/>
          </a:xfrm>
          <a:prstGeom prst="rect">
            <a:avLst/>
          </a:prstGeom>
          <a:noFill/>
        </p:spPr>
        <p:txBody>
          <a:bodyPr wrap="square">
            <a:spAutoFit/>
          </a:bodyPr>
          <a:lstStyle/>
          <a:p>
            <a:pPr algn="l"/>
            <a:r>
              <a:rPr sz="1200" b="0" i="0">
                <a:solidFill>
                  <a:srgbClr val="FFFFFF"/>
                </a:solidFill>
                <a:latin typeface="Calibri"/>
              </a:rPr>
              <a:t>Human review:
approve / edit /
regenerate
(Human-in-the-Loop)</a:t>
            </a:r>
          </a:p>
        </p:txBody>
      </p:sp>
      <p:sp>
        <p:nvSpPr>
          <p:cNvPr id="35" name="Rectangle 34"/>
          <p:cNvSpPr/>
          <p:nvPr/>
        </p:nvSpPr>
        <p:spPr>
          <a:xfrm>
            <a:off x="320040" y="5532120"/>
            <a:ext cx="11521440" cy="594360"/>
          </a:xfrm>
          <a:prstGeom prst="rect">
            <a:avLst/>
          </a:prstGeom>
          <a:solidFill>
            <a:srgbClr val="06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02920" y="5577840"/>
            <a:ext cx="11155680" cy="502920"/>
          </a:xfrm>
          <a:prstGeom prst="rect">
            <a:avLst/>
          </a:prstGeom>
          <a:noFill/>
        </p:spPr>
        <p:txBody>
          <a:bodyPr wrap="square">
            <a:spAutoFit/>
          </a:bodyPr>
          <a:lstStyle/>
          <a:p>
            <a:pPr algn="l"/>
            <a:r>
              <a:rPr sz="1200" b="0" i="0">
                <a:solidFill>
                  <a:srgbClr val="00E596"/>
                </a:solidFill>
                <a:latin typeface="Calibri"/>
              </a:rPr>
              <a:t>python main.py --topic "why rest days matter" --channel blog --audience fitness_enthusiast</a:t>
            </a:r>
          </a:p>
        </p:txBody>
      </p:sp>
      <p:sp>
        <p:nvSpPr>
          <p:cNvPr id="37" name="TextBox 36"/>
          <p:cNvSpPr txBox="1"/>
          <p:nvPr/>
        </p:nvSpPr>
        <p:spPr>
          <a:xfrm>
            <a:off x="11612880" y="6492240"/>
            <a:ext cx="457200" cy="274320"/>
          </a:xfrm>
          <a:prstGeom prst="rect">
            <a:avLst/>
          </a:prstGeom>
          <a:noFill/>
        </p:spPr>
        <p:txBody>
          <a:bodyPr wrap="square">
            <a:spAutoFit/>
          </a:bodyPr>
          <a:lstStyle/>
          <a:p>
            <a:pPr algn="r"/>
            <a:r>
              <a:rPr sz="1000" b="0" i="0">
                <a:solidFill>
                  <a:srgbClr val="C8D6E5"/>
                </a:solidFill>
                <a:latin typeface="Calibri"/>
              </a:rPr>
              <a:t>4</a:t>
            </a:r>
          </a:p>
        </p:txBody>
      </p:sp>
      <p:sp>
        <p:nvSpPr>
          <p:cNvPr id="38" name="Rectangle 37">
            <a:extLst>
              <a:ext uri="{FF2B5EF4-FFF2-40B4-BE49-F238E27FC236}">
                <a16:creationId xmlns:a16="http://schemas.microsoft.com/office/drawing/2014/main" id="{5E7FC71B-FF43-C6F5-ED2D-A619A2A7321A}"/>
              </a:ext>
            </a:extLst>
          </p:cNvPr>
          <p:cNvSpPr/>
          <p:nvPr/>
        </p:nvSpPr>
        <p:spPr>
          <a:xfrm rot="2012361">
            <a:off x="10648069" y="370006"/>
            <a:ext cx="1574310" cy="717884"/>
          </a:xfrm>
          <a:prstGeom prst="rect">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DE" dirty="0"/>
              <a:t>Version 1</a:t>
            </a:r>
          </a:p>
        </p:txBody>
      </p:sp>
    </p:spTree>
    <p:extLst>
      <p:ext uri="{BB962C8B-B14F-4D97-AF65-F5344CB8AC3E}">
        <p14:creationId xmlns:p14="http://schemas.microsoft.com/office/powerpoint/2010/main" val="41029287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28600"/>
            <a:ext cx="3657600" cy="320040"/>
          </a:xfrm>
          <a:prstGeom prst="rect">
            <a:avLst/>
          </a:prstGeom>
          <a:noFill/>
        </p:spPr>
        <p:txBody>
          <a:bodyPr wrap="square">
            <a:spAutoFit/>
          </a:bodyPr>
          <a:lstStyle/>
          <a:p>
            <a:pPr algn="l"/>
            <a:r>
              <a:rPr sz="1000" b="1" i="0">
                <a:solidFill>
                  <a:srgbClr val="00C8FF"/>
                </a:solidFill>
                <a:latin typeface="Calibri"/>
              </a:rPr>
              <a:t>04  —  EXAMPLE OUTPUT</a:t>
            </a:r>
          </a:p>
        </p:txBody>
      </p:sp>
      <p:sp>
        <p:nvSpPr>
          <p:cNvPr id="4" name="Rectangle 3"/>
          <p:cNvSpPr/>
          <p:nvPr/>
        </p:nvSpPr>
        <p:spPr>
          <a:xfrm>
            <a:off x="365760" y="658368"/>
            <a:ext cx="3657600" cy="4572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31520"/>
            <a:ext cx="10058400" cy="594360"/>
          </a:xfrm>
          <a:prstGeom prst="rect">
            <a:avLst/>
          </a:prstGeom>
          <a:noFill/>
        </p:spPr>
        <p:txBody>
          <a:bodyPr wrap="square">
            <a:spAutoFit/>
          </a:bodyPr>
          <a:lstStyle/>
          <a:p>
            <a:pPr algn="l"/>
            <a:r>
              <a:rPr sz="3000" b="1" i="0">
                <a:solidFill>
                  <a:srgbClr val="FFFFFF"/>
                </a:solidFill>
                <a:latin typeface="Calibri"/>
              </a:rPr>
              <a:t>Generated Content — Blog Post</a:t>
            </a:r>
          </a:p>
        </p:txBody>
      </p:sp>
      <p:sp>
        <p:nvSpPr>
          <p:cNvPr id="6" name="TextBox 5"/>
          <p:cNvSpPr txBox="1"/>
          <p:nvPr/>
        </p:nvSpPr>
        <p:spPr>
          <a:xfrm>
            <a:off x="365760" y="1508760"/>
            <a:ext cx="2743200" cy="274320"/>
          </a:xfrm>
          <a:prstGeom prst="rect">
            <a:avLst/>
          </a:prstGeom>
          <a:noFill/>
        </p:spPr>
        <p:txBody>
          <a:bodyPr wrap="square">
            <a:spAutoFit/>
          </a:bodyPr>
          <a:lstStyle/>
          <a:p>
            <a:pPr algn="l"/>
            <a:r>
              <a:rPr sz="900" b="1" i="0">
                <a:solidFill>
                  <a:srgbClr val="00C8FF"/>
                </a:solidFill>
                <a:latin typeface="Calibri"/>
              </a:rPr>
              <a:t>TOPIC</a:t>
            </a:r>
          </a:p>
        </p:txBody>
      </p:sp>
      <p:sp>
        <p:nvSpPr>
          <p:cNvPr id="7" name="TextBox 6"/>
          <p:cNvSpPr txBox="1"/>
          <p:nvPr/>
        </p:nvSpPr>
        <p:spPr>
          <a:xfrm>
            <a:off x="365760" y="1783080"/>
            <a:ext cx="2743200" cy="320040"/>
          </a:xfrm>
          <a:prstGeom prst="rect">
            <a:avLst/>
          </a:prstGeom>
          <a:noFill/>
        </p:spPr>
        <p:txBody>
          <a:bodyPr wrap="square">
            <a:spAutoFit/>
          </a:bodyPr>
          <a:lstStyle/>
          <a:p>
            <a:pPr algn="l"/>
            <a:r>
              <a:rPr sz="1100" b="0" i="0">
                <a:solidFill>
                  <a:srgbClr val="FFFFFF"/>
                </a:solidFill>
                <a:latin typeface="Calibri"/>
              </a:rPr>
              <a:t>How Training Load Prevents Injuries</a:t>
            </a:r>
          </a:p>
        </p:txBody>
      </p:sp>
      <p:sp>
        <p:nvSpPr>
          <p:cNvPr id="8" name="TextBox 7"/>
          <p:cNvSpPr txBox="1"/>
          <p:nvPr/>
        </p:nvSpPr>
        <p:spPr>
          <a:xfrm>
            <a:off x="3291840" y="1508760"/>
            <a:ext cx="2743200" cy="274320"/>
          </a:xfrm>
          <a:prstGeom prst="rect">
            <a:avLst/>
          </a:prstGeom>
          <a:noFill/>
        </p:spPr>
        <p:txBody>
          <a:bodyPr wrap="square">
            <a:spAutoFit/>
          </a:bodyPr>
          <a:lstStyle/>
          <a:p>
            <a:pPr algn="l"/>
            <a:r>
              <a:rPr sz="900" b="1" i="0">
                <a:solidFill>
                  <a:srgbClr val="00C8FF"/>
                </a:solidFill>
                <a:latin typeface="Calibri"/>
              </a:rPr>
              <a:t>CHANNEL</a:t>
            </a:r>
          </a:p>
        </p:txBody>
      </p:sp>
      <p:sp>
        <p:nvSpPr>
          <p:cNvPr id="9" name="TextBox 8"/>
          <p:cNvSpPr txBox="1"/>
          <p:nvPr/>
        </p:nvSpPr>
        <p:spPr>
          <a:xfrm>
            <a:off x="3291840" y="1783080"/>
            <a:ext cx="2743200" cy="320040"/>
          </a:xfrm>
          <a:prstGeom prst="rect">
            <a:avLst/>
          </a:prstGeom>
          <a:noFill/>
        </p:spPr>
        <p:txBody>
          <a:bodyPr wrap="square">
            <a:spAutoFit/>
          </a:bodyPr>
          <a:lstStyle/>
          <a:p>
            <a:pPr algn="l"/>
            <a:r>
              <a:rPr sz="1100" b="0" i="0">
                <a:solidFill>
                  <a:srgbClr val="FFFFFF"/>
                </a:solidFill>
                <a:latin typeface="Calibri"/>
              </a:rPr>
              <a:t>Blog</a:t>
            </a:r>
          </a:p>
        </p:txBody>
      </p:sp>
      <p:sp>
        <p:nvSpPr>
          <p:cNvPr id="10" name="TextBox 9"/>
          <p:cNvSpPr txBox="1"/>
          <p:nvPr/>
        </p:nvSpPr>
        <p:spPr>
          <a:xfrm>
            <a:off x="6217920" y="1508760"/>
            <a:ext cx="2743200" cy="274320"/>
          </a:xfrm>
          <a:prstGeom prst="rect">
            <a:avLst/>
          </a:prstGeom>
          <a:noFill/>
        </p:spPr>
        <p:txBody>
          <a:bodyPr wrap="square">
            <a:spAutoFit/>
          </a:bodyPr>
          <a:lstStyle/>
          <a:p>
            <a:pPr algn="l"/>
            <a:r>
              <a:rPr sz="900" b="1" i="0">
                <a:solidFill>
                  <a:srgbClr val="00C8FF"/>
                </a:solidFill>
                <a:latin typeface="Calibri"/>
              </a:rPr>
              <a:t>AUDIENCE</a:t>
            </a:r>
          </a:p>
        </p:txBody>
      </p:sp>
      <p:sp>
        <p:nvSpPr>
          <p:cNvPr id="11" name="TextBox 10"/>
          <p:cNvSpPr txBox="1"/>
          <p:nvPr/>
        </p:nvSpPr>
        <p:spPr>
          <a:xfrm>
            <a:off x="6217920" y="1783080"/>
            <a:ext cx="2743200" cy="320040"/>
          </a:xfrm>
          <a:prstGeom prst="rect">
            <a:avLst/>
          </a:prstGeom>
          <a:noFill/>
        </p:spPr>
        <p:txBody>
          <a:bodyPr wrap="square">
            <a:spAutoFit/>
          </a:bodyPr>
          <a:lstStyle/>
          <a:p>
            <a:pPr algn="l"/>
            <a:r>
              <a:rPr sz="1100" b="0" i="0">
                <a:solidFill>
                  <a:srgbClr val="FFFFFF"/>
                </a:solidFill>
                <a:latin typeface="Calibri"/>
              </a:rPr>
              <a:t>Performance Athlete</a:t>
            </a:r>
          </a:p>
        </p:txBody>
      </p:sp>
      <p:sp>
        <p:nvSpPr>
          <p:cNvPr id="12" name="TextBox 11"/>
          <p:cNvSpPr txBox="1"/>
          <p:nvPr/>
        </p:nvSpPr>
        <p:spPr>
          <a:xfrm>
            <a:off x="9144000" y="1508760"/>
            <a:ext cx="2743200" cy="274320"/>
          </a:xfrm>
          <a:prstGeom prst="rect">
            <a:avLst/>
          </a:prstGeom>
          <a:noFill/>
        </p:spPr>
        <p:txBody>
          <a:bodyPr wrap="square">
            <a:spAutoFit/>
          </a:bodyPr>
          <a:lstStyle/>
          <a:p>
            <a:pPr algn="l"/>
            <a:r>
              <a:rPr sz="900" b="1" i="0">
                <a:solidFill>
                  <a:srgbClr val="00C8FF"/>
                </a:solidFill>
                <a:latin typeface="Calibri"/>
              </a:rPr>
              <a:t>PROVIDER</a:t>
            </a:r>
          </a:p>
        </p:txBody>
      </p:sp>
      <p:sp>
        <p:nvSpPr>
          <p:cNvPr id="13" name="TextBox 12"/>
          <p:cNvSpPr txBox="1"/>
          <p:nvPr/>
        </p:nvSpPr>
        <p:spPr>
          <a:xfrm>
            <a:off x="9144000" y="1783080"/>
            <a:ext cx="2743200" cy="320040"/>
          </a:xfrm>
          <a:prstGeom prst="rect">
            <a:avLst/>
          </a:prstGeom>
          <a:noFill/>
        </p:spPr>
        <p:txBody>
          <a:bodyPr wrap="square">
            <a:spAutoFit/>
          </a:bodyPr>
          <a:lstStyle/>
          <a:p>
            <a:pPr algn="l"/>
            <a:r>
              <a:rPr sz="1100" b="0" i="0">
                <a:solidFill>
                  <a:srgbClr val="FFFFFF"/>
                </a:solidFill>
                <a:latin typeface="Calibri"/>
              </a:rPr>
              <a:t>OpenAI GPT-4o-mini</a:t>
            </a:r>
          </a:p>
        </p:txBody>
      </p:sp>
      <p:sp>
        <p:nvSpPr>
          <p:cNvPr id="14" name="Rectangle 13"/>
          <p:cNvSpPr/>
          <p:nvPr/>
        </p:nvSpPr>
        <p:spPr>
          <a:xfrm>
            <a:off x="365760" y="2240280"/>
            <a:ext cx="11430000" cy="3977639"/>
          </a:xfrm>
          <a:prstGeom prst="rect">
            <a:avLst/>
          </a:prstGeom>
          <a:solidFill>
            <a:srgbClr val="1E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65760" y="2240280"/>
            <a:ext cx="11430000" cy="347472"/>
          </a:xfrm>
          <a:prstGeom prst="rect">
            <a:avLst/>
          </a:prstGeom>
          <a:solidFill>
            <a:srgbClr val="00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48640" y="2267712"/>
            <a:ext cx="5486400" cy="292608"/>
          </a:xfrm>
          <a:prstGeom prst="rect">
            <a:avLst/>
          </a:prstGeom>
          <a:noFill/>
        </p:spPr>
        <p:txBody>
          <a:bodyPr wrap="square">
            <a:spAutoFit/>
          </a:bodyPr>
          <a:lstStyle/>
          <a:p>
            <a:pPr algn="l"/>
            <a:r>
              <a:rPr sz="1100" b="1" i="0">
                <a:solidFill>
                  <a:srgbClr val="FFFFFF"/>
                </a:solidFill>
                <a:latin typeface="Calibri"/>
              </a:rPr>
              <a:t>GENERATED OUTPUT</a:t>
            </a:r>
          </a:p>
        </p:txBody>
      </p:sp>
      <p:sp>
        <p:nvSpPr>
          <p:cNvPr id="17" name="TextBox 16"/>
          <p:cNvSpPr txBox="1"/>
          <p:nvPr/>
        </p:nvSpPr>
        <p:spPr>
          <a:xfrm>
            <a:off x="8686800" y="2267712"/>
            <a:ext cx="2926080" cy="292608"/>
          </a:xfrm>
          <a:prstGeom prst="rect">
            <a:avLst/>
          </a:prstGeom>
          <a:noFill/>
        </p:spPr>
        <p:txBody>
          <a:bodyPr wrap="square">
            <a:spAutoFit/>
          </a:bodyPr>
          <a:lstStyle/>
          <a:p>
            <a:pPr algn="l"/>
            <a:r>
              <a:rPr sz="1000" b="0" i="0">
                <a:solidFill>
                  <a:srgbClr val="00E596"/>
                </a:solidFill>
                <a:latin typeface="Calibri"/>
              </a:rPr>
              <a:t>✓ Saved to /outputs/</a:t>
            </a:r>
          </a:p>
        </p:txBody>
      </p:sp>
      <p:sp>
        <p:nvSpPr>
          <p:cNvPr id="18" name="TextBox 17"/>
          <p:cNvSpPr txBox="1"/>
          <p:nvPr/>
        </p:nvSpPr>
        <p:spPr>
          <a:xfrm>
            <a:off x="548640" y="2679192"/>
            <a:ext cx="11064240" cy="3429000"/>
          </a:xfrm>
          <a:prstGeom prst="rect">
            <a:avLst/>
          </a:prstGeom>
          <a:noFill/>
        </p:spPr>
        <p:txBody>
          <a:bodyPr wrap="square">
            <a:spAutoFit/>
          </a:bodyPr>
          <a:lstStyle/>
          <a:p>
            <a:pPr algn="l"/>
            <a:r>
              <a:rPr sz="1300" b="0" i="0">
                <a:solidFill>
                  <a:srgbClr val="FFFFFF"/>
                </a:solidFill>
                <a:latin typeface="Calibri"/>
              </a:rPr>
              <a:t>Why Training Load Management is Your Best Defense Against Injuries
Did you know that the right training load can be your best defense against injuries? Performance athletes often push their limits, but without understanding training load, they risk injury and burnout.
FitByte's Recovery Score transforms complex data into one actionable number — telling you when to push harder and when to ease off. Athletes who manage their training loads report fewer injuries and improved overall performance.
68% of serious athletes now track recovery metrics. FitByte's dual-frequency GPS and 14-day battery keep you informed across every session. Ready to take control? Start tracking your training load today.</a:t>
            </a:r>
          </a:p>
        </p:txBody>
      </p:sp>
      <p:sp>
        <p:nvSpPr>
          <p:cNvPr id="19" name="TextBox 18"/>
          <p:cNvSpPr txBox="1"/>
          <p:nvPr/>
        </p:nvSpPr>
        <p:spPr>
          <a:xfrm>
            <a:off x="11612880" y="6492240"/>
            <a:ext cx="457200" cy="274320"/>
          </a:xfrm>
          <a:prstGeom prst="rect">
            <a:avLst/>
          </a:prstGeom>
          <a:noFill/>
        </p:spPr>
        <p:txBody>
          <a:bodyPr wrap="square">
            <a:spAutoFit/>
          </a:bodyPr>
          <a:lstStyle/>
          <a:p>
            <a:pPr algn="r"/>
            <a:r>
              <a:rPr sz="1000" b="0" i="0">
                <a:solidFill>
                  <a:srgbClr val="C8D6E5"/>
                </a:solidFill>
                <a:latin typeface="Calibri"/>
              </a:rPr>
              <a:t>5</a:t>
            </a:r>
          </a:p>
        </p:txBody>
      </p:sp>
    </p:spTree>
    <p:extLst>
      <p:ext uri="{BB962C8B-B14F-4D97-AF65-F5344CB8AC3E}">
        <p14:creationId xmlns:p14="http://schemas.microsoft.com/office/powerpoint/2010/main" val="19960930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28600"/>
            <a:ext cx="3657600" cy="320040"/>
          </a:xfrm>
          <a:prstGeom prst="rect">
            <a:avLst/>
          </a:prstGeom>
          <a:noFill/>
        </p:spPr>
        <p:txBody>
          <a:bodyPr wrap="square">
            <a:spAutoFit/>
          </a:bodyPr>
          <a:lstStyle/>
          <a:p>
            <a:pPr algn="l"/>
            <a:r>
              <a:rPr sz="1000" b="1" i="0">
                <a:solidFill>
                  <a:srgbClr val="00C8FF"/>
                </a:solidFill>
                <a:latin typeface="Calibri"/>
              </a:rPr>
              <a:t>05B  —  HUMAN-IN-THE-LOOP EVALUATION</a:t>
            </a:r>
          </a:p>
        </p:txBody>
      </p:sp>
      <p:sp>
        <p:nvSpPr>
          <p:cNvPr id="4" name="Rectangle 3"/>
          <p:cNvSpPr/>
          <p:nvPr/>
        </p:nvSpPr>
        <p:spPr>
          <a:xfrm>
            <a:off x="365760" y="658368"/>
            <a:ext cx="3657600" cy="4572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31520"/>
            <a:ext cx="10058400" cy="594360"/>
          </a:xfrm>
          <a:prstGeom prst="rect">
            <a:avLst/>
          </a:prstGeom>
          <a:noFill/>
        </p:spPr>
        <p:txBody>
          <a:bodyPr wrap="square">
            <a:spAutoFit/>
          </a:bodyPr>
          <a:lstStyle/>
          <a:p>
            <a:pPr algn="l"/>
            <a:r>
              <a:rPr sz="3000" b="1" i="0">
                <a:solidFill>
                  <a:srgbClr val="FFFFFF"/>
                </a:solidFill>
                <a:latin typeface="Calibri"/>
              </a:rPr>
              <a:t>Iterative Refinement System</a:t>
            </a:r>
          </a:p>
        </p:txBody>
      </p:sp>
      <p:sp>
        <p:nvSpPr>
          <p:cNvPr id="6" name="Rectangle 5"/>
          <p:cNvSpPr/>
          <p:nvPr/>
        </p:nvSpPr>
        <p:spPr>
          <a:xfrm>
            <a:off x="320040" y="1508760"/>
            <a:ext cx="2743200" cy="4297680"/>
          </a:xfrm>
          <a:prstGeom prst="rect">
            <a:avLst/>
          </a:prstGeom>
          <a:solidFill>
            <a:srgbClr val="1E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20040" y="1508760"/>
            <a:ext cx="2743200" cy="36576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11479" y="1536192"/>
            <a:ext cx="640080" cy="310896"/>
          </a:xfrm>
          <a:prstGeom prst="rect">
            <a:avLst/>
          </a:prstGeom>
          <a:noFill/>
        </p:spPr>
        <p:txBody>
          <a:bodyPr wrap="square">
            <a:spAutoFit/>
          </a:bodyPr>
          <a:lstStyle/>
          <a:p>
            <a:pPr algn="l"/>
            <a:r>
              <a:rPr sz="1100" b="1" i="0">
                <a:solidFill>
                  <a:srgbClr val="0D1B2A"/>
                </a:solidFill>
                <a:latin typeface="Calibri"/>
              </a:rPr>
              <a:t>Test 1</a:t>
            </a:r>
          </a:p>
        </p:txBody>
      </p:sp>
      <p:sp>
        <p:nvSpPr>
          <p:cNvPr id="9" name="TextBox 8"/>
          <p:cNvSpPr txBox="1"/>
          <p:nvPr/>
        </p:nvSpPr>
        <p:spPr>
          <a:xfrm>
            <a:off x="960119" y="1554480"/>
            <a:ext cx="2011680" cy="310896"/>
          </a:xfrm>
          <a:prstGeom prst="rect">
            <a:avLst/>
          </a:prstGeom>
          <a:noFill/>
        </p:spPr>
        <p:txBody>
          <a:bodyPr wrap="square">
            <a:spAutoFit/>
          </a:bodyPr>
          <a:lstStyle/>
          <a:p>
            <a:pPr algn="l"/>
            <a:r>
              <a:rPr sz="1100" b="1" i="0">
                <a:solidFill>
                  <a:srgbClr val="0D1B2A"/>
                </a:solidFill>
                <a:latin typeface="Calibri"/>
              </a:rPr>
              <a:t>Add Metrics</a:t>
            </a:r>
          </a:p>
        </p:txBody>
      </p:sp>
      <p:sp>
        <p:nvSpPr>
          <p:cNvPr id="10" name="TextBox 9"/>
          <p:cNvSpPr txBox="1"/>
          <p:nvPr/>
        </p:nvSpPr>
        <p:spPr>
          <a:xfrm>
            <a:off x="411479" y="1993392"/>
            <a:ext cx="2560320" cy="274320"/>
          </a:xfrm>
          <a:prstGeom prst="rect">
            <a:avLst/>
          </a:prstGeom>
          <a:noFill/>
        </p:spPr>
        <p:txBody>
          <a:bodyPr wrap="square">
            <a:spAutoFit/>
          </a:bodyPr>
          <a:lstStyle/>
          <a:p>
            <a:pPr algn="l"/>
            <a:r>
              <a:rPr sz="1000" b="1" i="0">
                <a:solidFill>
                  <a:srgbClr val="00C8FF"/>
                </a:solidFill>
                <a:latin typeface="Calibri"/>
              </a:rPr>
              <a:t>Human Input:</a:t>
            </a:r>
          </a:p>
        </p:txBody>
      </p:sp>
      <p:sp>
        <p:nvSpPr>
          <p:cNvPr id="11" name="TextBox 10"/>
          <p:cNvSpPr txBox="1"/>
          <p:nvPr/>
        </p:nvSpPr>
        <p:spPr>
          <a:xfrm>
            <a:off x="411479" y="2267712"/>
            <a:ext cx="2560320" cy="457200"/>
          </a:xfrm>
          <a:prstGeom prst="rect">
            <a:avLst/>
          </a:prstGeom>
          <a:noFill/>
        </p:spPr>
        <p:txBody>
          <a:bodyPr wrap="square">
            <a:spAutoFit/>
          </a:bodyPr>
          <a:lstStyle/>
          <a:p>
            <a:pPr algn="l"/>
            <a:r>
              <a:rPr sz="1000" b="0" i="1">
                <a:solidFill>
                  <a:srgbClr val="C8D6E5"/>
                </a:solidFill>
                <a:latin typeface="Calibri"/>
              </a:rPr>
              <a:t>add metrics as proof</a:t>
            </a:r>
          </a:p>
        </p:txBody>
      </p:sp>
      <p:sp>
        <p:nvSpPr>
          <p:cNvPr id="12" name="TextBox 11"/>
          <p:cNvSpPr txBox="1"/>
          <p:nvPr/>
        </p:nvSpPr>
        <p:spPr>
          <a:xfrm>
            <a:off x="411479" y="2834640"/>
            <a:ext cx="2560320" cy="274320"/>
          </a:xfrm>
          <a:prstGeom prst="rect">
            <a:avLst/>
          </a:prstGeom>
          <a:noFill/>
        </p:spPr>
        <p:txBody>
          <a:bodyPr wrap="square">
            <a:spAutoFit/>
          </a:bodyPr>
          <a:lstStyle/>
          <a:p>
            <a:pPr algn="l"/>
            <a:r>
              <a:rPr sz="1000" b="1" i="0">
                <a:solidFill>
                  <a:srgbClr val="00C8FF"/>
                </a:solidFill>
                <a:latin typeface="Calibri"/>
              </a:rPr>
              <a:t>Result:</a:t>
            </a:r>
          </a:p>
        </p:txBody>
      </p:sp>
      <p:sp>
        <p:nvSpPr>
          <p:cNvPr id="13" name="TextBox 12"/>
          <p:cNvSpPr txBox="1"/>
          <p:nvPr/>
        </p:nvSpPr>
        <p:spPr>
          <a:xfrm>
            <a:off x="411479" y="3127248"/>
            <a:ext cx="2560320" cy="1463040"/>
          </a:xfrm>
          <a:prstGeom prst="rect">
            <a:avLst/>
          </a:prstGeom>
          <a:noFill/>
        </p:spPr>
        <p:txBody>
          <a:bodyPr wrap="square">
            <a:spAutoFit/>
          </a:bodyPr>
          <a:lstStyle/>
          <a:p>
            <a:pPr algn="l"/>
            <a:r>
              <a:rPr sz="1000" b="0" i="0">
                <a:solidFill>
                  <a:srgbClr val="FFFFFF"/>
                </a:solidFill>
                <a:latin typeface="Calibri"/>
              </a:rPr>
              <a:t>Metrics added consistently
Increased credibility
Content shifts: generic → evidence-based</a:t>
            </a:r>
          </a:p>
        </p:txBody>
      </p:sp>
      <p:sp>
        <p:nvSpPr>
          <p:cNvPr id="14" name="Rectangle 13"/>
          <p:cNvSpPr/>
          <p:nvPr/>
        </p:nvSpPr>
        <p:spPr>
          <a:xfrm>
            <a:off x="3200400" y="1508760"/>
            <a:ext cx="2743200" cy="4297680"/>
          </a:xfrm>
          <a:prstGeom prst="rect">
            <a:avLst/>
          </a:prstGeom>
          <a:solidFill>
            <a:srgbClr val="1E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200400" y="1508760"/>
            <a:ext cx="2743200" cy="365760"/>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291840" y="1536192"/>
            <a:ext cx="640080" cy="310896"/>
          </a:xfrm>
          <a:prstGeom prst="rect">
            <a:avLst/>
          </a:prstGeom>
          <a:noFill/>
        </p:spPr>
        <p:txBody>
          <a:bodyPr wrap="square">
            <a:spAutoFit/>
          </a:bodyPr>
          <a:lstStyle/>
          <a:p>
            <a:pPr algn="l"/>
            <a:r>
              <a:rPr sz="1100" b="1" i="0">
                <a:solidFill>
                  <a:srgbClr val="0D1B2A"/>
                </a:solidFill>
                <a:latin typeface="Calibri"/>
              </a:rPr>
              <a:t>Test 2</a:t>
            </a:r>
          </a:p>
        </p:txBody>
      </p:sp>
      <p:sp>
        <p:nvSpPr>
          <p:cNvPr id="17" name="TextBox 16"/>
          <p:cNvSpPr txBox="1"/>
          <p:nvPr/>
        </p:nvSpPr>
        <p:spPr>
          <a:xfrm>
            <a:off x="3840480" y="1554480"/>
            <a:ext cx="2011680" cy="310896"/>
          </a:xfrm>
          <a:prstGeom prst="rect">
            <a:avLst/>
          </a:prstGeom>
          <a:noFill/>
        </p:spPr>
        <p:txBody>
          <a:bodyPr wrap="square">
            <a:spAutoFit/>
          </a:bodyPr>
          <a:lstStyle/>
          <a:p>
            <a:pPr algn="l"/>
            <a:r>
              <a:rPr sz="1100" b="1" i="0">
                <a:solidFill>
                  <a:srgbClr val="0D1B2A"/>
                </a:solidFill>
                <a:latin typeface="Calibri"/>
              </a:rPr>
              <a:t>Length Control</a:t>
            </a:r>
          </a:p>
        </p:txBody>
      </p:sp>
      <p:sp>
        <p:nvSpPr>
          <p:cNvPr id="18" name="TextBox 17"/>
          <p:cNvSpPr txBox="1"/>
          <p:nvPr/>
        </p:nvSpPr>
        <p:spPr>
          <a:xfrm>
            <a:off x="3291840" y="1993392"/>
            <a:ext cx="2560320" cy="274320"/>
          </a:xfrm>
          <a:prstGeom prst="rect">
            <a:avLst/>
          </a:prstGeom>
          <a:noFill/>
        </p:spPr>
        <p:txBody>
          <a:bodyPr wrap="square">
            <a:spAutoFit/>
          </a:bodyPr>
          <a:lstStyle/>
          <a:p>
            <a:pPr algn="l"/>
            <a:r>
              <a:rPr sz="1000" b="1" i="0">
                <a:solidFill>
                  <a:srgbClr val="00E596"/>
                </a:solidFill>
                <a:latin typeface="Calibri"/>
              </a:rPr>
              <a:t>Human Input:</a:t>
            </a:r>
          </a:p>
        </p:txBody>
      </p:sp>
      <p:sp>
        <p:nvSpPr>
          <p:cNvPr id="19" name="TextBox 18"/>
          <p:cNvSpPr txBox="1"/>
          <p:nvPr/>
        </p:nvSpPr>
        <p:spPr>
          <a:xfrm>
            <a:off x="3291840" y="2267712"/>
            <a:ext cx="2560320" cy="457200"/>
          </a:xfrm>
          <a:prstGeom prst="rect">
            <a:avLst/>
          </a:prstGeom>
          <a:noFill/>
        </p:spPr>
        <p:txBody>
          <a:bodyPr wrap="square">
            <a:spAutoFit/>
          </a:bodyPr>
          <a:lstStyle/>
          <a:p>
            <a:pPr algn="l"/>
            <a:r>
              <a:rPr sz="1000" b="0" i="1">
                <a:solidFill>
                  <a:srgbClr val="C8D6E5"/>
                </a:solidFill>
                <a:latin typeface="Calibri"/>
              </a:rPr>
              <a:t>Shorten it to X words</a:t>
            </a:r>
          </a:p>
        </p:txBody>
      </p:sp>
      <p:sp>
        <p:nvSpPr>
          <p:cNvPr id="20" name="TextBox 19"/>
          <p:cNvSpPr txBox="1"/>
          <p:nvPr/>
        </p:nvSpPr>
        <p:spPr>
          <a:xfrm>
            <a:off x="3291840" y="2834640"/>
            <a:ext cx="2560320" cy="274320"/>
          </a:xfrm>
          <a:prstGeom prst="rect">
            <a:avLst/>
          </a:prstGeom>
          <a:noFill/>
        </p:spPr>
        <p:txBody>
          <a:bodyPr wrap="square">
            <a:spAutoFit/>
          </a:bodyPr>
          <a:lstStyle/>
          <a:p>
            <a:pPr algn="l"/>
            <a:r>
              <a:rPr sz="1000" b="1" i="0">
                <a:solidFill>
                  <a:srgbClr val="00E596"/>
                </a:solidFill>
                <a:latin typeface="Calibri"/>
              </a:rPr>
              <a:t>Result:</a:t>
            </a:r>
          </a:p>
        </p:txBody>
      </p:sp>
      <p:sp>
        <p:nvSpPr>
          <p:cNvPr id="21" name="TextBox 20"/>
          <p:cNvSpPr txBox="1"/>
          <p:nvPr/>
        </p:nvSpPr>
        <p:spPr>
          <a:xfrm>
            <a:off x="3291840" y="3127248"/>
            <a:ext cx="2560320" cy="1463040"/>
          </a:xfrm>
          <a:prstGeom prst="rect">
            <a:avLst/>
          </a:prstGeom>
          <a:noFill/>
        </p:spPr>
        <p:txBody>
          <a:bodyPr wrap="square">
            <a:spAutoFit/>
          </a:bodyPr>
          <a:lstStyle/>
          <a:p>
            <a:pPr algn="l"/>
            <a:r>
              <a:rPr sz="1000" b="0" i="0">
                <a:solidFill>
                  <a:srgbClr val="FFFFFF"/>
                </a:solidFill>
                <a:latin typeface="Calibri"/>
              </a:rPr>
              <a:t>Model compresses well
Maintains core message
Channel-specific optimization</a:t>
            </a:r>
          </a:p>
        </p:txBody>
      </p:sp>
      <p:sp>
        <p:nvSpPr>
          <p:cNvPr id="22" name="Rectangle 21"/>
          <p:cNvSpPr/>
          <p:nvPr/>
        </p:nvSpPr>
        <p:spPr>
          <a:xfrm>
            <a:off x="6080759" y="1508760"/>
            <a:ext cx="2743200" cy="4297680"/>
          </a:xfrm>
          <a:prstGeom prst="rect">
            <a:avLst/>
          </a:prstGeom>
          <a:solidFill>
            <a:srgbClr val="1E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080759" y="1508760"/>
            <a:ext cx="2743200" cy="365760"/>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172199" y="1536192"/>
            <a:ext cx="640080" cy="310896"/>
          </a:xfrm>
          <a:prstGeom prst="rect">
            <a:avLst/>
          </a:prstGeom>
          <a:noFill/>
        </p:spPr>
        <p:txBody>
          <a:bodyPr wrap="square">
            <a:spAutoFit/>
          </a:bodyPr>
          <a:lstStyle/>
          <a:p>
            <a:pPr algn="l"/>
            <a:r>
              <a:rPr sz="1100" b="1" i="0">
                <a:solidFill>
                  <a:srgbClr val="0D1B2A"/>
                </a:solidFill>
                <a:latin typeface="Calibri"/>
              </a:rPr>
              <a:t>Test 3</a:t>
            </a:r>
          </a:p>
        </p:txBody>
      </p:sp>
      <p:sp>
        <p:nvSpPr>
          <p:cNvPr id="25" name="TextBox 24"/>
          <p:cNvSpPr txBox="1"/>
          <p:nvPr/>
        </p:nvSpPr>
        <p:spPr>
          <a:xfrm>
            <a:off x="6720840" y="1554480"/>
            <a:ext cx="2011680" cy="310896"/>
          </a:xfrm>
          <a:prstGeom prst="rect">
            <a:avLst/>
          </a:prstGeom>
          <a:noFill/>
        </p:spPr>
        <p:txBody>
          <a:bodyPr wrap="square">
            <a:spAutoFit/>
          </a:bodyPr>
          <a:lstStyle/>
          <a:p>
            <a:pPr algn="l"/>
            <a:r>
              <a:rPr sz="1100" b="1" i="0">
                <a:solidFill>
                  <a:srgbClr val="0D1B2A"/>
                </a:solidFill>
                <a:latin typeface="Calibri"/>
              </a:rPr>
              <a:t>Context Injection</a:t>
            </a:r>
          </a:p>
        </p:txBody>
      </p:sp>
      <p:sp>
        <p:nvSpPr>
          <p:cNvPr id="26" name="TextBox 25"/>
          <p:cNvSpPr txBox="1"/>
          <p:nvPr/>
        </p:nvSpPr>
        <p:spPr>
          <a:xfrm>
            <a:off x="6172199" y="1993392"/>
            <a:ext cx="2560320" cy="274320"/>
          </a:xfrm>
          <a:prstGeom prst="rect">
            <a:avLst/>
          </a:prstGeom>
          <a:noFill/>
        </p:spPr>
        <p:txBody>
          <a:bodyPr wrap="square">
            <a:spAutoFit/>
          </a:bodyPr>
          <a:lstStyle/>
          <a:p>
            <a:pPr algn="l"/>
            <a:r>
              <a:rPr sz="1000" b="1" i="0">
                <a:solidFill>
                  <a:srgbClr val="FFC000"/>
                </a:solidFill>
                <a:latin typeface="Calibri"/>
              </a:rPr>
              <a:t>Human Input:</a:t>
            </a:r>
          </a:p>
        </p:txBody>
      </p:sp>
      <p:sp>
        <p:nvSpPr>
          <p:cNvPr id="27" name="TextBox 26"/>
          <p:cNvSpPr txBox="1"/>
          <p:nvPr/>
        </p:nvSpPr>
        <p:spPr>
          <a:xfrm>
            <a:off x="6172199" y="2267712"/>
            <a:ext cx="2560320" cy="457200"/>
          </a:xfrm>
          <a:prstGeom prst="rect">
            <a:avLst/>
          </a:prstGeom>
          <a:noFill/>
        </p:spPr>
        <p:txBody>
          <a:bodyPr wrap="square">
            <a:spAutoFit/>
          </a:bodyPr>
          <a:lstStyle/>
          <a:p>
            <a:pPr algn="l"/>
            <a:r>
              <a:rPr sz="1000" b="0" i="1">
                <a:solidFill>
                  <a:srgbClr val="C8D6E5"/>
                </a:solidFill>
                <a:latin typeface="Calibri"/>
              </a:rPr>
              <a:t>tie it to the upcoming Ironman</a:t>
            </a:r>
          </a:p>
        </p:txBody>
      </p:sp>
      <p:sp>
        <p:nvSpPr>
          <p:cNvPr id="28" name="TextBox 27"/>
          <p:cNvSpPr txBox="1"/>
          <p:nvPr/>
        </p:nvSpPr>
        <p:spPr>
          <a:xfrm>
            <a:off x="6172199" y="2834640"/>
            <a:ext cx="2560320" cy="274320"/>
          </a:xfrm>
          <a:prstGeom prst="rect">
            <a:avLst/>
          </a:prstGeom>
          <a:noFill/>
        </p:spPr>
        <p:txBody>
          <a:bodyPr wrap="square">
            <a:spAutoFit/>
          </a:bodyPr>
          <a:lstStyle/>
          <a:p>
            <a:pPr algn="l"/>
            <a:r>
              <a:rPr sz="1000" b="1" i="0">
                <a:solidFill>
                  <a:srgbClr val="FFC000"/>
                </a:solidFill>
                <a:latin typeface="Calibri"/>
              </a:rPr>
              <a:t>Result:</a:t>
            </a:r>
          </a:p>
        </p:txBody>
      </p:sp>
      <p:sp>
        <p:nvSpPr>
          <p:cNvPr id="29" name="TextBox 28"/>
          <p:cNvSpPr txBox="1"/>
          <p:nvPr/>
        </p:nvSpPr>
        <p:spPr>
          <a:xfrm>
            <a:off x="6172199" y="3127248"/>
            <a:ext cx="2560320" cy="1463040"/>
          </a:xfrm>
          <a:prstGeom prst="rect">
            <a:avLst/>
          </a:prstGeom>
          <a:noFill/>
        </p:spPr>
        <p:txBody>
          <a:bodyPr wrap="square">
            <a:spAutoFit/>
          </a:bodyPr>
          <a:lstStyle/>
          <a:p>
            <a:pPr algn="l"/>
            <a:r>
              <a:rPr sz="1000" b="0" i="0">
                <a:solidFill>
                  <a:srgbClr val="FFFFFF"/>
                </a:solidFill>
                <a:latin typeface="Calibri"/>
              </a:rPr>
              <a:t>Content becomes scenario-specific
Stronger emotional relevance
Generic fitness → endurance focus</a:t>
            </a:r>
          </a:p>
        </p:txBody>
      </p:sp>
      <p:sp>
        <p:nvSpPr>
          <p:cNvPr id="30" name="Rectangle 29"/>
          <p:cNvSpPr/>
          <p:nvPr/>
        </p:nvSpPr>
        <p:spPr>
          <a:xfrm>
            <a:off x="8961119" y="1508760"/>
            <a:ext cx="2743200" cy="4297680"/>
          </a:xfrm>
          <a:prstGeom prst="rect">
            <a:avLst/>
          </a:prstGeom>
          <a:solidFill>
            <a:srgbClr val="1E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8961119" y="1508760"/>
            <a:ext cx="2743200" cy="36576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052559" y="1536192"/>
            <a:ext cx="640080" cy="310896"/>
          </a:xfrm>
          <a:prstGeom prst="rect">
            <a:avLst/>
          </a:prstGeom>
          <a:noFill/>
        </p:spPr>
        <p:txBody>
          <a:bodyPr wrap="square">
            <a:spAutoFit/>
          </a:bodyPr>
          <a:lstStyle/>
          <a:p>
            <a:pPr algn="l"/>
            <a:r>
              <a:rPr sz="1100" b="1" i="0">
                <a:solidFill>
                  <a:srgbClr val="0D1B2A"/>
                </a:solidFill>
                <a:latin typeface="Calibri"/>
              </a:rPr>
              <a:t>Test 4</a:t>
            </a:r>
          </a:p>
        </p:txBody>
      </p:sp>
      <p:sp>
        <p:nvSpPr>
          <p:cNvPr id="33" name="TextBox 32"/>
          <p:cNvSpPr txBox="1"/>
          <p:nvPr/>
        </p:nvSpPr>
        <p:spPr>
          <a:xfrm>
            <a:off x="9601199" y="1554480"/>
            <a:ext cx="2011680" cy="310896"/>
          </a:xfrm>
          <a:prstGeom prst="rect">
            <a:avLst/>
          </a:prstGeom>
          <a:noFill/>
        </p:spPr>
        <p:txBody>
          <a:bodyPr wrap="square">
            <a:spAutoFit/>
          </a:bodyPr>
          <a:lstStyle/>
          <a:p>
            <a:pPr algn="l"/>
            <a:r>
              <a:rPr sz="1100" b="1" i="0">
                <a:solidFill>
                  <a:srgbClr val="0D1B2A"/>
                </a:solidFill>
                <a:latin typeface="Calibri"/>
              </a:rPr>
              <a:t>Combined</a:t>
            </a:r>
          </a:p>
        </p:txBody>
      </p:sp>
      <p:sp>
        <p:nvSpPr>
          <p:cNvPr id="34" name="TextBox 33"/>
          <p:cNvSpPr txBox="1"/>
          <p:nvPr/>
        </p:nvSpPr>
        <p:spPr>
          <a:xfrm>
            <a:off x="9052559" y="1993392"/>
            <a:ext cx="2560320" cy="274320"/>
          </a:xfrm>
          <a:prstGeom prst="rect">
            <a:avLst/>
          </a:prstGeom>
          <a:noFill/>
        </p:spPr>
        <p:txBody>
          <a:bodyPr wrap="square">
            <a:spAutoFit/>
          </a:bodyPr>
          <a:lstStyle/>
          <a:p>
            <a:pPr algn="l"/>
            <a:r>
              <a:rPr sz="1000" b="1" i="0">
                <a:solidFill>
                  <a:srgbClr val="FF6B35"/>
                </a:solidFill>
                <a:latin typeface="Calibri"/>
              </a:rPr>
              <a:t>Human Input:</a:t>
            </a:r>
          </a:p>
        </p:txBody>
      </p:sp>
      <p:sp>
        <p:nvSpPr>
          <p:cNvPr id="35" name="TextBox 34"/>
          <p:cNvSpPr txBox="1"/>
          <p:nvPr/>
        </p:nvSpPr>
        <p:spPr>
          <a:xfrm>
            <a:off x="9052559" y="2267712"/>
            <a:ext cx="2560320" cy="457200"/>
          </a:xfrm>
          <a:prstGeom prst="rect">
            <a:avLst/>
          </a:prstGeom>
          <a:noFill/>
        </p:spPr>
        <p:txBody>
          <a:bodyPr wrap="square">
            <a:spAutoFit/>
          </a:bodyPr>
          <a:lstStyle/>
          <a:p>
            <a:pPr algn="l"/>
            <a:r>
              <a:rPr sz="1000" b="0" i="1">
                <a:solidFill>
                  <a:srgbClr val="C8D6E5"/>
                </a:solidFill>
                <a:latin typeface="Calibri"/>
              </a:rPr>
              <a:t>add metrics + 350 words + Ironman context</a:t>
            </a:r>
          </a:p>
        </p:txBody>
      </p:sp>
      <p:sp>
        <p:nvSpPr>
          <p:cNvPr id="36" name="TextBox 35"/>
          <p:cNvSpPr txBox="1"/>
          <p:nvPr/>
        </p:nvSpPr>
        <p:spPr>
          <a:xfrm>
            <a:off x="9052559" y="2834640"/>
            <a:ext cx="2560320" cy="274320"/>
          </a:xfrm>
          <a:prstGeom prst="rect">
            <a:avLst/>
          </a:prstGeom>
          <a:noFill/>
        </p:spPr>
        <p:txBody>
          <a:bodyPr wrap="square">
            <a:spAutoFit/>
          </a:bodyPr>
          <a:lstStyle/>
          <a:p>
            <a:pPr algn="l"/>
            <a:r>
              <a:rPr sz="1000" b="1" i="0">
                <a:solidFill>
                  <a:srgbClr val="FF6B35"/>
                </a:solidFill>
                <a:latin typeface="Calibri"/>
              </a:rPr>
              <a:t>Result:</a:t>
            </a:r>
          </a:p>
        </p:txBody>
      </p:sp>
      <p:sp>
        <p:nvSpPr>
          <p:cNvPr id="37" name="TextBox 36"/>
          <p:cNvSpPr txBox="1"/>
          <p:nvPr/>
        </p:nvSpPr>
        <p:spPr>
          <a:xfrm>
            <a:off x="9052559" y="3127248"/>
            <a:ext cx="2560320" cy="1463040"/>
          </a:xfrm>
          <a:prstGeom prst="rect">
            <a:avLst/>
          </a:prstGeom>
          <a:noFill/>
        </p:spPr>
        <p:txBody>
          <a:bodyPr wrap="square">
            <a:spAutoFit/>
          </a:bodyPr>
          <a:lstStyle/>
          <a:p>
            <a:pPr algn="l"/>
            <a:r>
              <a:rPr sz="1000" b="0" i="0">
                <a:solidFill>
                  <a:srgbClr val="FFFFFF"/>
                </a:solidFill>
                <a:latin typeface="Calibri"/>
              </a:rPr>
              <a:t>Increased depth &amp; structure
Natural metric integration
Strong contextual anchoring</a:t>
            </a:r>
          </a:p>
        </p:txBody>
      </p:sp>
      <p:sp>
        <p:nvSpPr>
          <p:cNvPr id="38" name="Rectangle 37"/>
          <p:cNvSpPr/>
          <p:nvPr/>
        </p:nvSpPr>
        <p:spPr>
          <a:xfrm>
            <a:off x="320040" y="5925312"/>
            <a:ext cx="11521440" cy="685800"/>
          </a:xfrm>
          <a:prstGeom prst="rect">
            <a:avLst/>
          </a:prstGeom>
          <a:solidFill>
            <a:srgbClr val="003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48640" y="5989320"/>
            <a:ext cx="10972800" cy="548640"/>
          </a:xfrm>
          <a:prstGeom prst="rect">
            <a:avLst/>
          </a:prstGeom>
          <a:noFill/>
        </p:spPr>
        <p:txBody>
          <a:bodyPr wrap="square">
            <a:spAutoFit/>
          </a:bodyPr>
          <a:lstStyle/>
          <a:p>
            <a:pPr algn="ctr"/>
            <a:r>
              <a:rPr sz="1300" b="1" i="0">
                <a:solidFill>
                  <a:srgbClr val="00E596"/>
                </a:solidFill>
                <a:latin typeface="Calibri"/>
              </a:rPr>
              <a:t>Key Finding: Context injection is the most powerful lever for uniqueness. Human iteration is essential — not optional.</a:t>
            </a:r>
          </a:p>
        </p:txBody>
      </p:sp>
      <p:sp>
        <p:nvSpPr>
          <p:cNvPr id="40" name="TextBox 39"/>
          <p:cNvSpPr txBox="1"/>
          <p:nvPr/>
        </p:nvSpPr>
        <p:spPr>
          <a:xfrm>
            <a:off x="11612880" y="6492240"/>
            <a:ext cx="457200" cy="274320"/>
          </a:xfrm>
          <a:prstGeom prst="rect">
            <a:avLst/>
          </a:prstGeom>
          <a:noFill/>
        </p:spPr>
        <p:txBody>
          <a:bodyPr wrap="square">
            <a:spAutoFit/>
          </a:bodyPr>
          <a:lstStyle/>
          <a:p>
            <a:pPr algn="r"/>
            <a:r>
              <a:rPr sz="1000" b="0" i="0">
                <a:solidFill>
                  <a:srgbClr val="C8D6E5"/>
                </a:solidFill>
                <a:latin typeface="Calibri"/>
              </a:rPr>
              <a:t>6B</a:t>
            </a:r>
          </a:p>
        </p:txBody>
      </p:sp>
    </p:spTree>
    <p:extLst>
      <p:ext uri="{BB962C8B-B14F-4D97-AF65-F5344CB8AC3E}">
        <p14:creationId xmlns:p14="http://schemas.microsoft.com/office/powerpoint/2010/main" val="17009270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D6BDC-1B79-1618-BDCC-0B29B7108E8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001B554-0832-978B-2455-DAD648DB1769}"/>
              </a:ext>
            </a:extLst>
          </p:cNvPr>
          <p:cNvPicPr>
            <a:picLocks noChangeAspect="1"/>
          </p:cNvPicPr>
          <p:nvPr/>
        </p:nvPicPr>
        <p:blipFill>
          <a:blip r:embed="rId2"/>
          <a:stretch>
            <a:fillRect/>
          </a:stretch>
        </p:blipFill>
        <p:spPr>
          <a:xfrm>
            <a:off x="1151244" y="0"/>
            <a:ext cx="9809029" cy="6804373"/>
          </a:xfrm>
          <a:prstGeom prst="rect">
            <a:avLst/>
          </a:prstGeom>
        </p:spPr>
      </p:pic>
      <p:sp>
        <p:nvSpPr>
          <p:cNvPr id="2" name="Rectangle 1">
            <a:extLst>
              <a:ext uri="{FF2B5EF4-FFF2-40B4-BE49-F238E27FC236}">
                <a16:creationId xmlns:a16="http://schemas.microsoft.com/office/drawing/2014/main" id="{72D04CE3-6F84-1128-3008-5C4911CC4450}"/>
              </a:ext>
            </a:extLst>
          </p:cNvPr>
          <p:cNvSpPr/>
          <p:nvPr/>
        </p:nvSpPr>
        <p:spPr>
          <a:xfrm rot="2012361">
            <a:off x="10709883" y="345146"/>
            <a:ext cx="1574310" cy="717884"/>
          </a:xfrm>
          <a:prstGeom prst="rect">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DE" dirty="0"/>
              <a:t>Placeholder for Trello</a:t>
            </a:r>
          </a:p>
        </p:txBody>
      </p:sp>
    </p:spTree>
    <p:extLst>
      <p:ext uri="{BB962C8B-B14F-4D97-AF65-F5344CB8AC3E}">
        <p14:creationId xmlns:p14="http://schemas.microsoft.com/office/powerpoint/2010/main" val="9313158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F3A33-AE35-5124-9C81-FB9B42C3FCE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9E15179-7901-1A33-9D92-5C0C76301074}"/>
              </a:ext>
            </a:extLst>
          </p:cNvPr>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2C22AF59-622A-0ECA-0D0E-897A5F5E83EC}"/>
              </a:ext>
            </a:extLst>
          </p:cNvPr>
          <p:cNvSpPr txBox="1"/>
          <p:nvPr/>
        </p:nvSpPr>
        <p:spPr>
          <a:xfrm>
            <a:off x="365760" y="228600"/>
            <a:ext cx="3657600" cy="320040"/>
          </a:xfrm>
          <a:prstGeom prst="rect">
            <a:avLst/>
          </a:prstGeom>
          <a:noFill/>
        </p:spPr>
        <p:txBody>
          <a:bodyPr wrap="square">
            <a:spAutoFit/>
          </a:bodyPr>
          <a:lstStyle/>
          <a:p>
            <a:pPr algn="l"/>
            <a:r>
              <a:rPr sz="1000" b="1" i="0">
                <a:solidFill>
                  <a:srgbClr val="00C8FF"/>
                </a:solidFill>
                <a:latin typeface="Calibri"/>
              </a:rPr>
              <a:t>07  —  CHALLENGES &amp; LEARNINGS</a:t>
            </a:r>
          </a:p>
        </p:txBody>
      </p:sp>
      <p:sp>
        <p:nvSpPr>
          <p:cNvPr id="4" name="Rectangle 3">
            <a:extLst>
              <a:ext uri="{FF2B5EF4-FFF2-40B4-BE49-F238E27FC236}">
                <a16:creationId xmlns:a16="http://schemas.microsoft.com/office/drawing/2014/main" id="{300ACFD1-2B01-4E5B-0DA0-E6A492C6AF33}"/>
              </a:ext>
            </a:extLst>
          </p:cNvPr>
          <p:cNvSpPr/>
          <p:nvPr/>
        </p:nvSpPr>
        <p:spPr>
          <a:xfrm>
            <a:off x="365760" y="658368"/>
            <a:ext cx="3657600" cy="4572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065ED827-6FA8-C138-8F03-D0D9309621FA}"/>
              </a:ext>
            </a:extLst>
          </p:cNvPr>
          <p:cNvSpPr txBox="1"/>
          <p:nvPr/>
        </p:nvSpPr>
        <p:spPr>
          <a:xfrm>
            <a:off x="365760" y="731520"/>
            <a:ext cx="10058400" cy="594360"/>
          </a:xfrm>
          <a:prstGeom prst="rect">
            <a:avLst/>
          </a:prstGeom>
          <a:noFill/>
        </p:spPr>
        <p:txBody>
          <a:bodyPr wrap="square">
            <a:spAutoFit/>
          </a:bodyPr>
          <a:lstStyle/>
          <a:p>
            <a:pPr algn="l"/>
            <a:r>
              <a:rPr sz="3000" b="1" i="0">
                <a:solidFill>
                  <a:srgbClr val="FFFFFF"/>
                </a:solidFill>
                <a:latin typeface="Calibri"/>
              </a:rPr>
              <a:t>What We Faced — What We Learned</a:t>
            </a:r>
          </a:p>
        </p:txBody>
      </p:sp>
      <p:sp>
        <p:nvSpPr>
          <p:cNvPr id="6" name="Rectangle 5">
            <a:extLst>
              <a:ext uri="{FF2B5EF4-FFF2-40B4-BE49-F238E27FC236}">
                <a16:creationId xmlns:a16="http://schemas.microsoft.com/office/drawing/2014/main" id="{96BA1683-0DC0-C9AB-5FB3-724B68336C3C}"/>
              </a:ext>
            </a:extLst>
          </p:cNvPr>
          <p:cNvSpPr/>
          <p:nvPr/>
        </p:nvSpPr>
        <p:spPr>
          <a:xfrm>
            <a:off x="365760" y="1508760"/>
            <a:ext cx="5577840" cy="2103120"/>
          </a:xfrm>
          <a:prstGeom prst="rect">
            <a:avLst/>
          </a:prstGeom>
          <a:solidFill>
            <a:srgbClr val="1E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F4A9BE93-4711-067D-D0C8-7F15FC81001A}"/>
              </a:ext>
            </a:extLst>
          </p:cNvPr>
          <p:cNvSpPr/>
          <p:nvPr/>
        </p:nvSpPr>
        <p:spPr>
          <a:xfrm>
            <a:off x="365760" y="1508760"/>
            <a:ext cx="5577840" cy="347472"/>
          </a:xfrm>
          <a:prstGeom prst="rect">
            <a:avLst/>
          </a:prstGeom>
          <a:solidFill>
            <a:srgbClr val="3A00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A2106C16-BE57-B6DC-9274-B36EB5097A0F}"/>
              </a:ext>
            </a:extLst>
          </p:cNvPr>
          <p:cNvSpPr txBox="1"/>
          <p:nvPr/>
        </p:nvSpPr>
        <p:spPr>
          <a:xfrm>
            <a:off x="475488" y="1545336"/>
            <a:ext cx="5349240" cy="292608"/>
          </a:xfrm>
          <a:prstGeom prst="rect">
            <a:avLst/>
          </a:prstGeom>
          <a:noFill/>
        </p:spPr>
        <p:txBody>
          <a:bodyPr wrap="square">
            <a:spAutoFit/>
          </a:bodyPr>
          <a:lstStyle/>
          <a:p>
            <a:pPr algn="l"/>
            <a:r>
              <a:rPr sz="1200" b="1" i="0">
                <a:solidFill>
                  <a:srgbClr val="CC44FF"/>
                </a:solidFill>
                <a:latin typeface="Calibri"/>
              </a:rPr>
              <a:t>Generic Outputs</a:t>
            </a:r>
          </a:p>
        </p:txBody>
      </p:sp>
      <p:sp>
        <p:nvSpPr>
          <p:cNvPr id="9" name="TextBox 8">
            <a:extLst>
              <a:ext uri="{FF2B5EF4-FFF2-40B4-BE49-F238E27FC236}">
                <a16:creationId xmlns:a16="http://schemas.microsoft.com/office/drawing/2014/main" id="{97581773-3BD9-5465-57E8-47C99F46B716}"/>
              </a:ext>
            </a:extLst>
          </p:cNvPr>
          <p:cNvSpPr txBox="1"/>
          <p:nvPr/>
        </p:nvSpPr>
        <p:spPr>
          <a:xfrm>
            <a:off x="475488" y="1947672"/>
            <a:ext cx="1097280" cy="256032"/>
          </a:xfrm>
          <a:prstGeom prst="rect">
            <a:avLst/>
          </a:prstGeom>
          <a:noFill/>
        </p:spPr>
        <p:txBody>
          <a:bodyPr wrap="square">
            <a:spAutoFit/>
          </a:bodyPr>
          <a:lstStyle/>
          <a:p>
            <a:pPr algn="l"/>
            <a:r>
              <a:rPr sz="1000" b="1" i="0">
                <a:solidFill>
                  <a:srgbClr val="FF6B35"/>
                </a:solidFill>
                <a:latin typeface="Calibri"/>
              </a:rPr>
              <a:t>Challenge:</a:t>
            </a:r>
          </a:p>
        </p:txBody>
      </p:sp>
      <p:sp>
        <p:nvSpPr>
          <p:cNvPr id="10" name="TextBox 9">
            <a:extLst>
              <a:ext uri="{FF2B5EF4-FFF2-40B4-BE49-F238E27FC236}">
                <a16:creationId xmlns:a16="http://schemas.microsoft.com/office/drawing/2014/main" id="{3E8644BF-0D56-0066-00FF-B3E856400F8D}"/>
              </a:ext>
            </a:extLst>
          </p:cNvPr>
          <p:cNvSpPr txBox="1"/>
          <p:nvPr/>
        </p:nvSpPr>
        <p:spPr>
          <a:xfrm>
            <a:off x="1536192" y="1947672"/>
            <a:ext cx="4297680" cy="475488"/>
          </a:xfrm>
          <a:prstGeom prst="rect">
            <a:avLst/>
          </a:prstGeom>
          <a:noFill/>
        </p:spPr>
        <p:txBody>
          <a:bodyPr wrap="square">
            <a:spAutoFit/>
          </a:bodyPr>
          <a:lstStyle/>
          <a:p>
            <a:pPr algn="l"/>
            <a:r>
              <a:rPr sz="1000" b="0" i="0">
                <a:solidFill>
                  <a:srgbClr val="C8D6E5"/>
                </a:solidFill>
                <a:latin typeface="Calibri"/>
              </a:rPr>
              <a:t>Initial content was indistinguishable from vanilla ChatGPT</a:t>
            </a:r>
          </a:p>
        </p:txBody>
      </p:sp>
      <p:sp>
        <p:nvSpPr>
          <p:cNvPr id="11" name="TextBox 10">
            <a:extLst>
              <a:ext uri="{FF2B5EF4-FFF2-40B4-BE49-F238E27FC236}">
                <a16:creationId xmlns:a16="http://schemas.microsoft.com/office/drawing/2014/main" id="{5B47F9ED-45CC-F890-F56F-EF5BF60D75D4}"/>
              </a:ext>
            </a:extLst>
          </p:cNvPr>
          <p:cNvSpPr txBox="1"/>
          <p:nvPr/>
        </p:nvSpPr>
        <p:spPr>
          <a:xfrm>
            <a:off x="475488" y="2496312"/>
            <a:ext cx="914400" cy="256032"/>
          </a:xfrm>
          <a:prstGeom prst="rect">
            <a:avLst/>
          </a:prstGeom>
          <a:noFill/>
        </p:spPr>
        <p:txBody>
          <a:bodyPr wrap="square">
            <a:spAutoFit/>
          </a:bodyPr>
          <a:lstStyle/>
          <a:p>
            <a:pPr algn="l"/>
            <a:r>
              <a:rPr sz="1000" b="1" i="0">
                <a:solidFill>
                  <a:srgbClr val="00E596"/>
                </a:solidFill>
                <a:latin typeface="Calibri"/>
              </a:rPr>
              <a:t>Solution:</a:t>
            </a:r>
          </a:p>
        </p:txBody>
      </p:sp>
      <p:sp>
        <p:nvSpPr>
          <p:cNvPr id="12" name="TextBox 11">
            <a:extLst>
              <a:ext uri="{FF2B5EF4-FFF2-40B4-BE49-F238E27FC236}">
                <a16:creationId xmlns:a16="http://schemas.microsoft.com/office/drawing/2014/main" id="{586A98B2-27FF-1FDF-1E73-F9608EE4C2AC}"/>
              </a:ext>
            </a:extLst>
          </p:cNvPr>
          <p:cNvSpPr txBox="1"/>
          <p:nvPr/>
        </p:nvSpPr>
        <p:spPr>
          <a:xfrm>
            <a:off x="1389888" y="2496312"/>
            <a:ext cx="4443984" cy="822960"/>
          </a:xfrm>
          <a:prstGeom prst="rect">
            <a:avLst/>
          </a:prstGeom>
          <a:noFill/>
        </p:spPr>
        <p:txBody>
          <a:bodyPr wrap="square">
            <a:spAutoFit/>
          </a:bodyPr>
          <a:lstStyle/>
          <a:p>
            <a:pPr algn="l"/>
            <a:r>
              <a:rPr sz="1000" b="0" i="0">
                <a:solidFill>
                  <a:srgbClr val="FFFFFF"/>
                </a:solidFill>
                <a:latin typeface="Calibri"/>
              </a:rPr>
              <a:t>Deep KB injection into every prompt + few-shot style examples forced brand anchoring</a:t>
            </a:r>
          </a:p>
        </p:txBody>
      </p:sp>
      <p:sp>
        <p:nvSpPr>
          <p:cNvPr id="13" name="Rectangle 12">
            <a:extLst>
              <a:ext uri="{FF2B5EF4-FFF2-40B4-BE49-F238E27FC236}">
                <a16:creationId xmlns:a16="http://schemas.microsoft.com/office/drawing/2014/main" id="{1AF1E89B-7D71-571E-96E4-2E0FA337C5BA}"/>
              </a:ext>
            </a:extLst>
          </p:cNvPr>
          <p:cNvSpPr/>
          <p:nvPr/>
        </p:nvSpPr>
        <p:spPr>
          <a:xfrm>
            <a:off x="6309360" y="1508760"/>
            <a:ext cx="5577840" cy="2103120"/>
          </a:xfrm>
          <a:prstGeom prst="rect">
            <a:avLst/>
          </a:prstGeom>
          <a:solidFill>
            <a:srgbClr val="1E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a:extLst>
              <a:ext uri="{FF2B5EF4-FFF2-40B4-BE49-F238E27FC236}">
                <a16:creationId xmlns:a16="http://schemas.microsoft.com/office/drawing/2014/main" id="{05D09AB1-1610-EC20-5BD3-5D94454F3AD8}"/>
              </a:ext>
            </a:extLst>
          </p:cNvPr>
          <p:cNvSpPr/>
          <p:nvPr/>
        </p:nvSpPr>
        <p:spPr>
          <a:xfrm>
            <a:off x="6309360" y="1508760"/>
            <a:ext cx="5577840" cy="347472"/>
          </a:xfrm>
          <a:prstGeom prst="rect">
            <a:avLst/>
          </a:prstGeom>
          <a:solidFill>
            <a:srgbClr val="3A00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46DD4474-F60A-92AE-B8A7-65245681FF75}"/>
              </a:ext>
            </a:extLst>
          </p:cNvPr>
          <p:cNvSpPr txBox="1"/>
          <p:nvPr/>
        </p:nvSpPr>
        <p:spPr>
          <a:xfrm>
            <a:off x="6419088" y="1545336"/>
            <a:ext cx="5349240" cy="292608"/>
          </a:xfrm>
          <a:prstGeom prst="rect">
            <a:avLst/>
          </a:prstGeom>
          <a:noFill/>
        </p:spPr>
        <p:txBody>
          <a:bodyPr wrap="square">
            <a:spAutoFit/>
          </a:bodyPr>
          <a:lstStyle/>
          <a:p>
            <a:pPr algn="l"/>
            <a:r>
              <a:rPr sz="1200" b="1" i="0">
                <a:solidFill>
                  <a:srgbClr val="CC44FF"/>
                </a:solidFill>
                <a:latin typeface="Calibri"/>
              </a:rPr>
              <a:t>EM Dash Problem</a:t>
            </a:r>
          </a:p>
        </p:txBody>
      </p:sp>
      <p:sp>
        <p:nvSpPr>
          <p:cNvPr id="16" name="TextBox 15">
            <a:extLst>
              <a:ext uri="{FF2B5EF4-FFF2-40B4-BE49-F238E27FC236}">
                <a16:creationId xmlns:a16="http://schemas.microsoft.com/office/drawing/2014/main" id="{56D3006A-5429-DBE7-4D6D-9E1CC43A6677}"/>
              </a:ext>
            </a:extLst>
          </p:cNvPr>
          <p:cNvSpPr txBox="1"/>
          <p:nvPr/>
        </p:nvSpPr>
        <p:spPr>
          <a:xfrm>
            <a:off x="6419088" y="1947672"/>
            <a:ext cx="1097280" cy="256032"/>
          </a:xfrm>
          <a:prstGeom prst="rect">
            <a:avLst/>
          </a:prstGeom>
          <a:noFill/>
        </p:spPr>
        <p:txBody>
          <a:bodyPr wrap="square">
            <a:spAutoFit/>
          </a:bodyPr>
          <a:lstStyle/>
          <a:p>
            <a:pPr algn="l"/>
            <a:r>
              <a:rPr sz="1000" b="1" i="0">
                <a:solidFill>
                  <a:srgbClr val="FF6B35"/>
                </a:solidFill>
                <a:latin typeface="Calibri"/>
              </a:rPr>
              <a:t>Challenge:</a:t>
            </a:r>
          </a:p>
        </p:txBody>
      </p:sp>
      <p:sp>
        <p:nvSpPr>
          <p:cNvPr id="17" name="TextBox 16">
            <a:extLst>
              <a:ext uri="{FF2B5EF4-FFF2-40B4-BE49-F238E27FC236}">
                <a16:creationId xmlns:a16="http://schemas.microsoft.com/office/drawing/2014/main" id="{D2EB64F3-1B9D-EBDD-E504-6AB5974358CA}"/>
              </a:ext>
            </a:extLst>
          </p:cNvPr>
          <p:cNvSpPr txBox="1"/>
          <p:nvPr/>
        </p:nvSpPr>
        <p:spPr>
          <a:xfrm>
            <a:off x="7479792" y="1947672"/>
            <a:ext cx="4297680" cy="475488"/>
          </a:xfrm>
          <a:prstGeom prst="rect">
            <a:avLst/>
          </a:prstGeom>
          <a:noFill/>
        </p:spPr>
        <p:txBody>
          <a:bodyPr wrap="square">
            <a:spAutoFit/>
          </a:bodyPr>
          <a:lstStyle/>
          <a:p>
            <a:pPr algn="l"/>
            <a:r>
              <a:rPr sz="1000" b="0" i="0">
                <a:solidFill>
                  <a:srgbClr val="C8D6E5"/>
                </a:solidFill>
                <a:latin typeface="Calibri"/>
              </a:rPr>
              <a:t>LLMs default to em-dash overuse — a strong "AI-writing" signal</a:t>
            </a:r>
          </a:p>
        </p:txBody>
      </p:sp>
      <p:sp>
        <p:nvSpPr>
          <p:cNvPr id="18" name="TextBox 17">
            <a:extLst>
              <a:ext uri="{FF2B5EF4-FFF2-40B4-BE49-F238E27FC236}">
                <a16:creationId xmlns:a16="http://schemas.microsoft.com/office/drawing/2014/main" id="{2B083B9F-B7AF-2CBB-2E73-233E99B4775E}"/>
              </a:ext>
            </a:extLst>
          </p:cNvPr>
          <p:cNvSpPr txBox="1"/>
          <p:nvPr/>
        </p:nvSpPr>
        <p:spPr>
          <a:xfrm>
            <a:off x="6419088" y="2496312"/>
            <a:ext cx="914400" cy="256032"/>
          </a:xfrm>
          <a:prstGeom prst="rect">
            <a:avLst/>
          </a:prstGeom>
          <a:noFill/>
        </p:spPr>
        <p:txBody>
          <a:bodyPr wrap="square">
            <a:spAutoFit/>
          </a:bodyPr>
          <a:lstStyle/>
          <a:p>
            <a:pPr algn="l"/>
            <a:r>
              <a:rPr sz="1000" b="1" i="0">
                <a:solidFill>
                  <a:srgbClr val="00E596"/>
                </a:solidFill>
                <a:latin typeface="Calibri"/>
              </a:rPr>
              <a:t>Solution:</a:t>
            </a:r>
          </a:p>
        </p:txBody>
      </p:sp>
      <p:sp>
        <p:nvSpPr>
          <p:cNvPr id="19" name="TextBox 18">
            <a:extLst>
              <a:ext uri="{FF2B5EF4-FFF2-40B4-BE49-F238E27FC236}">
                <a16:creationId xmlns:a16="http://schemas.microsoft.com/office/drawing/2014/main" id="{B97E0BB2-732A-6B7E-67BA-8E7DD5614632}"/>
              </a:ext>
            </a:extLst>
          </p:cNvPr>
          <p:cNvSpPr txBox="1"/>
          <p:nvPr/>
        </p:nvSpPr>
        <p:spPr>
          <a:xfrm>
            <a:off x="7333488" y="2496312"/>
            <a:ext cx="4443984" cy="822960"/>
          </a:xfrm>
          <a:prstGeom prst="rect">
            <a:avLst/>
          </a:prstGeom>
          <a:noFill/>
        </p:spPr>
        <p:txBody>
          <a:bodyPr wrap="square">
            <a:spAutoFit/>
          </a:bodyPr>
          <a:lstStyle/>
          <a:p>
            <a:pPr algn="l"/>
            <a:r>
              <a:rPr sz="1000" b="0" i="0">
                <a:solidFill>
                  <a:srgbClr val="FFFFFF"/>
                </a:solidFill>
                <a:latin typeface="Calibri"/>
              </a:rPr>
              <a:t>Added NO_EM_DASH_RULE to all system prompts; tested across 10+ outputs to verify removal</a:t>
            </a:r>
          </a:p>
        </p:txBody>
      </p:sp>
      <p:sp>
        <p:nvSpPr>
          <p:cNvPr id="20" name="Rectangle 19">
            <a:extLst>
              <a:ext uri="{FF2B5EF4-FFF2-40B4-BE49-F238E27FC236}">
                <a16:creationId xmlns:a16="http://schemas.microsoft.com/office/drawing/2014/main" id="{0575D952-1335-34ED-BB66-04F577436DA8}"/>
              </a:ext>
            </a:extLst>
          </p:cNvPr>
          <p:cNvSpPr/>
          <p:nvPr/>
        </p:nvSpPr>
        <p:spPr>
          <a:xfrm>
            <a:off x="365760" y="3840479"/>
            <a:ext cx="5577840" cy="2103120"/>
          </a:xfrm>
          <a:prstGeom prst="rect">
            <a:avLst/>
          </a:prstGeom>
          <a:solidFill>
            <a:srgbClr val="1E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a:extLst>
              <a:ext uri="{FF2B5EF4-FFF2-40B4-BE49-F238E27FC236}">
                <a16:creationId xmlns:a16="http://schemas.microsoft.com/office/drawing/2014/main" id="{7030B1F0-3A6B-847A-3190-1EEA9A0A7763}"/>
              </a:ext>
            </a:extLst>
          </p:cNvPr>
          <p:cNvSpPr/>
          <p:nvPr/>
        </p:nvSpPr>
        <p:spPr>
          <a:xfrm>
            <a:off x="365760" y="3840479"/>
            <a:ext cx="5577840" cy="347472"/>
          </a:xfrm>
          <a:prstGeom prst="rect">
            <a:avLst/>
          </a:prstGeom>
          <a:solidFill>
            <a:srgbClr val="3A00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a:extLst>
              <a:ext uri="{FF2B5EF4-FFF2-40B4-BE49-F238E27FC236}">
                <a16:creationId xmlns:a16="http://schemas.microsoft.com/office/drawing/2014/main" id="{E8E9C9E2-69C9-A5C3-34E5-789CCD0E9E3C}"/>
              </a:ext>
            </a:extLst>
          </p:cNvPr>
          <p:cNvSpPr txBox="1"/>
          <p:nvPr/>
        </p:nvSpPr>
        <p:spPr>
          <a:xfrm>
            <a:off x="475488" y="3877055"/>
            <a:ext cx="5349240" cy="292608"/>
          </a:xfrm>
          <a:prstGeom prst="rect">
            <a:avLst/>
          </a:prstGeom>
          <a:noFill/>
        </p:spPr>
        <p:txBody>
          <a:bodyPr wrap="square">
            <a:spAutoFit/>
          </a:bodyPr>
          <a:lstStyle/>
          <a:p>
            <a:pPr algn="l"/>
            <a:r>
              <a:rPr sz="1200" b="1" i="0">
                <a:solidFill>
                  <a:srgbClr val="CC44FF"/>
                </a:solidFill>
                <a:latin typeface="Calibri"/>
              </a:rPr>
              <a:t>Prompt Chaining</a:t>
            </a:r>
          </a:p>
        </p:txBody>
      </p:sp>
      <p:sp>
        <p:nvSpPr>
          <p:cNvPr id="23" name="TextBox 22">
            <a:extLst>
              <a:ext uri="{FF2B5EF4-FFF2-40B4-BE49-F238E27FC236}">
                <a16:creationId xmlns:a16="http://schemas.microsoft.com/office/drawing/2014/main" id="{87F923F7-9037-432B-43CC-96FECDC9636C}"/>
              </a:ext>
            </a:extLst>
          </p:cNvPr>
          <p:cNvSpPr txBox="1"/>
          <p:nvPr/>
        </p:nvSpPr>
        <p:spPr>
          <a:xfrm>
            <a:off x="475488" y="4279392"/>
            <a:ext cx="1097280" cy="256032"/>
          </a:xfrm>
          <a:prstGeom prst="rect">
            <a:avLst/>
          </a:prstGeom>
          <a:noFill/>
        </p:spPr>
        <p:txBody>
          <a:bodyPr wrap="square">
            <a:spAutoFit/>
          </a:bodyPr>
          <a:lstStyle/>
          <a:p>
            <a:pPr algn="l"/>
            <a:r>
              <a:rPr sz="1000" b="1" i="0">
                <a:solidFill>
                  <a:srgbClr val="FF6B35"/>
                </a:solidFill>
                <a:latin typeface="Calibri"/>
              </a:rPr>
              <a:t>Challenge:</a:t>
            </a:r>
          </a:p>
        </p:txBody>
      </p:sp>
      <p:sp>
        <p:nvSpPr>
          <p:cNvPr id="24" name="TextBox 23">
            <a:extLst>
              <a:ext uri="{FF2B5EF4-FFF2-40B4-BE49-F238E27FC236}">
                <a16:creationId xmlns:a16="http://schemas.microsoft.com/office/drawing/2014/main" id="{A57A739E-7FEB-F08F-4861-6B1E8EBFF249}"/>
              </a:ext>
            </a:extLst>
          </p:cNvPr>
          <p:cNvSpPr txBox="1"/>
          <p:nvPr/>
        </p:nvSpPr>
        <p:spPr>
          <a:xfrm>
            <a:off x="1536192" y="4279392"/>
            <a:ext cx="4297680" cy="475488"/>
          </a:xfrm>
          <a:prstGeom prst="rect">
            <a:avLst/>
          </a:prstGeom>
          <a:noFill/>
        </p:spPr>
        <p:txBody>
          <a:bodyPr wrap="square">
            <a:spAutoFit/>
          </a:bodyPr>
          <a:lstStyle/>
          <a:p>
            <a:pPr algn="l"/>
            <a:r>
              <a:rPr sz="1000" b="0" i="0">
                <a:solidFill>
                  <a:srgbClr val="C8D6E5"/>
                </a:solidFill>
                <a:latin typeface="Calibri"/>
              </a:rPr>
              <a:t>Single-step prompts produced shallow content without strategic angle</a:t>
            </a:r>
          </a:p>
        </p:txBody>
      </p:sp>
      <p:sp>
        <p:nvSpPr>
          <p:cNvPr id="25" name="TextBox 24">
            <a:extLst>
              <a:ext uri="{FF2B5EF4-FFF2-40B4-BE49-F238E27FC236}">
                <a16:creationId xmlns:a16="http://schemas.microsoft.com/office/drawing/2014/main" id="{37DA7A8D-1E43-0257-E0A0-2A3BE29050F8}"/>
              </a:ext>
            </a:extLst>
          </p:cNvPr>
          <p:cNvSpPr txBox="1"/>
          <p:nvPr/>
        </p:nvSpPr>
        <p:spPr>
          <a:xfrm>
            <a:off x="475488" y="4828031"/>
            <a:ext cx="914400" cy="256032"/>
          </a:xfrm>
          <a:prstGeom prst="rect">
            <a:avLst/>
          </a:prstGeom>
          <a:noFill/>
        </p:spPr>
        <p:txBody>
          <a:bodyPr wrap="square">
            <a:spAutoFit/>
          </a:bodyPr>
          <a:lstStyle/>
          <a:p>
            <a:pPr algn="l"/>
            <a:r>
              <a:rPr sz="1000" b="1" i="0">
                <a:solidFill>
                  <a:srgbClr val="00E596"/>
                </a:solidFill>
                <a:latin typeface="Calibri"/>
              </a:rPr>
              <a:t>Solution:</a:t>
            </a:r>
          </a:p>
        </p:txBody>
      </p:sp>
      <p:sp>
        <p:nvSpPr>
          <p:cNvPr id="26" name="TextBox 25">
            <a:extLst>
              <a:ext uri="{FF2B5EF4-FFF2-40B4-BE49-F238E27FC236}">
                <a16:creationId xmlns:a16="http://schemas.microsoft.com/office/drawing/2014/main" id="{F5D429C8-7A03-56B7-D8CF-5BADCEC3AB8D}"/>
              </a:ext>
            </a:extLst>
          </p:cNvPr>
          <p:cNvSpPr txBox="1"/>
          <p:nvPr/>
        </p:nvSpPr>
        <p:spPr>
          <a:xfrm>
            <a:off x="1389888" y="4828031"/>
            <a:ext cx="4443984" cy="822960"/>
          </a:xfrm>
          <a:prstGeom prst="rect">
            <a:avLst/>
          </a:prstGeom>
          <a:noFill/>
        </p:spPr>
        <p:txBody>
          <a:bodyPr wrap="square">
            <a:spAutoFit/>
          </a:bodyPr>
          <a:lstStyle/>
          <a:p>
            <a:pPr algn="l"/>
            <a:r>
              <a:rPr sz="1000" b="0" i="0">
                <a:solidFill>
                  <a:srgbClr val="FFFFFF"/>
                </a:solidFill>
                <a:latin typeface="Calibri"/>
              </a:rPr>
              <a:t>Added BRIEF stage before PUBLISH: forced angle + hook + insight before generating final content</a:t>
            </a:r>
          </a:p>
        </p:txBody>
      </p:sp>
      <p:sp>
        <p:nvSpPr>
          <p:cNvPr id="27" name="Rectangle 26">
            <a:extLst>
              <a:ext uri="{FF2B5EF4-FFF2-40B4-BE49-F238E27FC236}">
                <a16:creationId xmlns:a16="http://schemas.microsoft.com/office/drawing/2014/main" id="{DBB9C03C-8429-9DB4-5198-BC4AB77556B8}"/>
              </a:ext>
            </a:extLst>
          </p:cNvPr>
          <p:cNvSpPr/>
          <p:nvPr/>
        </p:nvSpPr>
        <p:spPr>
          <a:xfrm>
            <a:off x="6309360" y="3840479"/>
            <a:ext cx="5577840" cy="2103120"/>
          </a:xfrm>
          <a:prstGeom prst="rect">
            <a:avLst/>
          </a:prstGeom>
          <a:solidFill>
            <a:srgbClr val="1E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a:extLst>
              <a:ext uri="{FF2B5EF4-FFF2-40B4-BE49-F238E27FC236}">
                <a16:creationId xmlns:a16="http://schemas.microsoft.com/office/drawing/2014/main" id="{DA45BD4F-44F2-CC2D-4618-157230355B8C}"/>
              </a:ext>
            </a:extLst>
          </p:cNvPr>
          <p:cNvSpPr/>
          <p:nvPr/>
        </p:nvSpPr>
        <p:spPr>
          <a:xfrm>
            <a:off x="6309360" y="3840479"/>
            <a:ext cx="5577840" cy="347472"/>
          </a:xfrm>
          <a:prstGeom prst="rect">
            <a:avLst/>
          </a:prstGeom>
          <a:solidFill>
            <a:srgbClr val="3A00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a:extLst>
              <a:ext uri="{FF2B5EF4-FFF2-40B4-BE49-F238E27FC236}">
                <a16:creationId xmlns:a16="http://schemas.microsoft.com/office/drawing/2014/main" id="{76B92DC4-A919-1EBD-6B66-1EC24AE8BA1D}"/>
              </a:ext>
            </a:extLst>
          </p:cNvPr>
          <p:cNvSpPr txBox="1"/>
          <p:nvPr/>
        </p:nvSpPr>
        <p:spPr>
          <a:xfrm>
            <a:off x="6419088" y="3877055"/>
            <a:ext cx="5349240" cy="292608"/>
          </a:xfrm>
          <a:prstGeom prst="rect">
            <a:avLst/>
          </a:prstGeom>
          <a:noFill/>
        </p:spPr>
        <p:txBody>
          <a:bodyPr wrap="square">
            <a:spAutoFit/>
          </a:bodyPr>
          <a:lstStyle/>
          <a:p>
            <a:pPr algn="l"/>
            <a:r>
              <a:rPr sz="1200" b="1" i="0">
                <a:solidFill>
                  <a:srgbClr val="CC44FF"/>
                </a:solidFill>
                <a:latin typeface="Calibri"/>
              </a:rPr>
              <a:t>Consistency Across Channels</a:t>
            </a:r>
          </a:p>
        </p:txBody>
      </p:sp>
      <p:sp>
        <p:nvSpPr>
          <p:cNvPr id="30" name="TextBox 29">
            <a:extLst>
              <a:ext uri="{FF2B5EF4-FFF2-40B4-BE49-F238E27FC236}">
                <a16:creationId xmlns:a16="http://schemas.microsoft.com/office/drawing/2014/main" id="{933C2F4B-1621-DEB2-A3EF-AFE0CCFB415A}"/>
              </a:ext>
            </a:extLst>
          </p:cNvPr>
          <p:cNvSpPr txBox="1"/>
          <p:nvPr/>
        </p:nvSpPr>
        <p:spPr>
          <a:xfrm>
            <a:off x="6419088" y="4279392"/>
            <a:ext cx="1097280" cy="256032"/>
          </a:xfrm>
          <a:prstGeom prst="rect">
            <a:avLst/>
          </a:prstGeom>
          <a:noFill/>
        </p:spPr>
        <p:txBody>
          <a:bodyPr wrap="square">
            <a:spAutoFit/>
          </a:bodyPr>
          <a:lstStyle/>
          <a:p>
            <a:pPr algn="l"/>
            <a:r>
              <a:rPr sz="1000" b="1" i="0">
                <a:solidFill>
                  <a:srgbClr val="FF6B35"/>
                </a:solidFill>
                <a:latin typeface="Calibri"/>
              </a:rPr>
              <a:t>Challenge:</a:t>
            </a:r>
          </a:p>
        </p:txBody>
      </p:sp>
      <p:sp>
        <p:nvSpPr>
          <p:cNvPr id="31" name="TextBox 30">
            <a:extLst>
              <a:ext uri="{FF2B5EF4-FFF2-40B4-BE49-F238E27FC236}">
                <a16:creationId xmlns:a16="http://schemas.microsoft.com/office/drawing/2014/main" id="{B3A21A0C-A0FB-7047-2947-876E7375931F}"/>
              </a:ext>
            </a:extLst>
          </p:cNvPr>
          <p:cNvSpPr txBox="1"/>
          <p:nvPr/>
        </p:nvSpPr>
        <p:spPr>
          <a:xfrm>
            <a:off x="7479792" y="4279392"/>
            <a:ext cx="4297680" cy="475488"/>
          </a:xfrm>
          <a:prstGeom prst="rect">
            <a:avLst/>
          </a:prstGeom>
          <a:noFill/>
        </p:spPr>
        <p:txBody>
          <a:bodyPr wrap="square">
            <a:spAutoFit/>
          </a:bodyPr>
          <a:lstStyle/>
          <a:p>
            <a:pPr algn="l"/>
            <a:r>
              <a:rPr sz="1000" b="0" i="0">
                <a:solidFill>
                  <a:srgbClr val="C8D6E5"/>
                </a:solidFill>
                <a:latin typeface="Calibri"/>
              </a:rPr>
              <a:t>Blog voice leaked into Instagram; LinkedIn felt too casual</a:t>
            </a:r>
          </a:p>
        </p:txBody>
      </p:sp>
      <p:sp>
        <p:nvSpPr>
          <p:cNvPr id="32" name="TextBox 31">
            <a:extLst>
              <a:ext uri="{FF2B5EF4-FFF2-40B4-BE49-F238E27FC236}">
                <a16:creationId xmlns:a16="http://schemas.microsoft.com/office/drawing/2014/main" id="{43505EFB-A783-72C0-5210-B3BB550BB4B7}"/>
              </a:ext>
            </a:extLst>
          </p:cNvPr>
          <p:cNvSpPr txBox="1"/>
          <p:nvPr/>
        </p:nvSpPr>
        <p:spPr>
          <a:xfrm>
            <a:off x="6419088" y="4828031"/>
            <a:ext cx="914400" cy="256032"/>
          </a:xfrm>
          <a:prstGeom prst="rect">
            <a:avLst/>
          </a:prstGeom>
          <a:noFill/>
        </p:spPr>
        <p:txBody>
          <a:bodyPr wrap="square">
            <a:spAutoFit/>
          </a:bodyPr>
          <a:lstStyle/>
          <a:p>
            <a:pPr algn="l"/>
            <a:r>
              <a:rPr sz="1000" b="1" i="0">
                <a:solidFill>
                  <a:srgbClr val="00E596"/>
                </a:solidFill>
                <a:latin typeface="Calibri"/>
              </a:rPr>
              <a:t>Solution:</a:t>
            </a:r>
          </a:p>
        </p:txBody>
      </p:sp>
      <p:sp>
        <p:nvSpPr>
          <p:cNvPr id="33" name="TextBox 32">
            <a:extLst>
              <a:ext uri="{FF2B5EF4-FFF2-40B4-BE49-F238E27FC236}">
                <a16:creationId xmlns:a16="http://schemas.microsoft.com/office/drawing/2014/main" id="{9E57E56F-CF19-8587-D1F8-36A28C2CF99E}"/>
              </a:ext>
            </a:extLst>
          </p:cNvPr>
          <p:cNvSpPr txBox="1"/>
          <p:nvPr/>
        </p:nvSpPr>
        <p:spPr>
          <a:xfrm>
            <a:off x="7333488" y="4828031"/>
            <a:ext cx="4443984" cy="822960"/>
          </a:xfrm>
          <a:prstGeom prst="rect">
            <a:avLst/>
          </a:prstGeom>
          <a:noFill/>
        </p:spPr>
        <p:txBody>
          <a:bodyPr wrap="square">
            <a:spAutoFit/>
          </a:bodyPr>
          <a:lstStyle/>
          <a:p>
            <a:pPr algn="l"/>
            <a:r>
              <a:rPr sz="1000" b="0" i="0">
                <a:solidFill>
                  <a:srgbClr val="FFFFFF"/>
                </a:solidFill>
                <a:latin typeface="Calibri"/>
              </a:rPr>
              <a:t>Built separate prompt builders per channel with strict character/tone/structure rules</a:t>
            </a:r>
          </a:p>
        </p:txBody>
      </p:sp>
      <p:sp>
        <p:nvSpPr>
          <p:cNvPr id="34" name="Rectangle 33">
            <a:extLst>
              <a:ext uri="{FF2B5EF4-FFF2-40B4-BE49-F238E27FC236}">
                <a16:creationId xmlns:a16="http://schemas.microsoft.com/office/drawing/2014/main" id="{8D3A7517-AE7F-5220-57F8-ECB4D16CAB77}"/>
              </a:ext>
            </a:extLst>
          </p:cNvPr>
          <p:cNvSpPr/>
          <p:nvPr/>
        </p:nvSpPr>
        <p:spPr>
          <a:xfrm>
            <a:off x="365760" y="6144768"/>
            <a:ext cx="11430000" cy="548640"/>
          </a:xfrm>
          <a:prstGeom prst="rect">
            <a:avLst/>
          </a:prstGeom>
          <a:solidFill>
            <a:srgbClr val="002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a:extLst>
              <a:ext uri="{FF2B5EF4-FFF2-40B4-BE49-F238E27FC236}">
                <a16:creationId xmlns:a16="http://schemas.microsoft.com/office/drawing/2014/main" id="{53AE09E0-DEF3-9B41-E9AE-7DB7AC62E6DE}"/>
              </a:ext>
            </a:extLst>
          </p:cNvPr>
          <p:cNvSpPr txBox="1"/>
          <p:nvPr/>
        </p:nvSpPr>
        <p:spPr>
          <a:xfrm>
            <a:off x="548640" y="6190488"/>
            <a:ext cx="10972800" cy="457200"/>
          </a:xfrm>
          <a:prstGeom prst="rect">
            <a:avLst/>
          </a:prstGeom>
          <a:noFill/>
        </p:spPr>
        <p:txBody>
          <a:bodyPr wrap="square">
            <a:spAutoFit/>
          </a:bodyPr>
          <a:lstStyle/>
          <a:p>
            <a:pPr algn="ctr"/>
            <a:r>
              <a:rPr sz="1200" b="1" i="0">
                <a:solidFill>
                  <a:srgbClr val="00E596"/>
                </a:solidFill>
                <a:latin typeface="Calibri"/>
              </a:rPr>
              <a:t>Key Learning: Uniqueness comes from specific CONTEXT, not better prompts. Depth of knowledge base = depth of content differentiation.</a:t>
            </a:r>
          </a:p>
        </p:txBody>
      </p:sp>
      <p:sp>
        <p:nvSpPr>
          <p:cNvPr id="36" name="TextBox 35">
            <a:extLst>
              <a:ext uri="{FF2B5EF4-FFF2-40B4-BE49-F238E27FC236}">
                <a16:creationId xmlns:a16="http://schemas.microsoft.com/office/drawing/2014/main" id="{C98BABA8-620A-A572-8567-DE99EE98B046}"/>
              </a:ext>
            </a:extLst>
          </p:cNvPr>
          <p:cNvSpPr txBox="1"/>
          <p:nvPr/>
        </p:nvSpPr>
        <p:spPr>
          <a:xfrm>
            <a:off x="11612880" y="6492240"/>
            <a:ext cx="457200" cy="274320"/>
          </a:xfrm>
          <a:prstGeom prst="rect">
            <a:avLst/>
          </a:prstGeom>
          <a:noFill/>
        </p:spPr>
        <p:txBody>
          <a:bodyPr wrap="square">
            <a:spAutoFit/>
          </a:bodyPr>
          <a:lstStyle/>
          <a:p>
            <a:pPr algn="r"/>
            <a:r>
              <a:rPr sz="1000" b="0" i="0">
                <a:solidFill>
                  <a:srgbClr val="C8D6E5"/>
                </a:solidFill>
                <a:latin typeface="Calibri"/>
              </a:rPr>
              <a:t>9</a:t>
            </a:r>
          </a:p>
        </p:txBody>
      </p:sp>
    </p:spTree>
    <p:extLst>
      <p:ext uri="{BB962C8B-B14F-4D97-AF65-F5344CB8AC3E}">
        <p14:creationId xmlns:p14="http://schemas.microsoft.com/office/powerpoint/2010/main" val="23828740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AFEBF-8FA4-39F6-D7D2-77F780488BA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05BBA86-0DBC-8980-802D-AAD69B669EEB}"/>
              </a:ext>
            </a:extLst>
          </p:cNvPr>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39A8C4C2-5D9F-5957-2071-F59B0DCD4260}"/>
              </a:ext>
            </a:extLst>
          </p:cNvPr>
          <p:cNvSpPr txBox="1"/>
          <p:nvPr/>
        </p:nvSpPr>
        <p:spPr>
          <a:xfrm>
            <a:off x="365760" y="228600"/>
            <a:ext cx="3657600" cy="320040"/>
          </a:xfrm>
          <a:prstGeom prst="rect">
            <a:avLst/>
          </a:prstGeom>
          <a:noFill/>
        </p:spPr>
        <p:txBody>
          <a:bodyPr wrap="square">
            <a:spAutoFit/>
          </a:bodyPr>
          <a:lstStyle/>
          <a:p>
            <a:pPr algn="l"/>
            <a:r>
              <a:rPr sz="1000" b="1" i="0">
                <a:solidFill>
                  <a:srgbClr val="00C8FF"/>
                </a:solidFill>
                <a:latin typeface="Calibri"/>
              </a:rPr>
              <a:t>08  —  NEXT STEPS</a:t>
            </a:r>
          </a:p>
        </p:txBody>
      </p:sp>
      <p:sp>
        <p:nvSpPr>
          <p:cNvPr id="4" name="Rectangle 3">
            <a:extLst>
              <a:ext uri="{FF2B5EF4-FFF2-40B4-BE49-F238E27FC236}">
                <a16:creationId xmlns:a16="http://schemas.microsoft.com/office/drawing/2014/main" id="{AA3DCC72-8C19-F17B-708A-CA6A3E17D60E}"/>
              </a:ext>
            </a:extLst>
          </p:cNvPr>
          <p:cNvSpPr/>
          <p:nvPr/>
        </p:nvSpPr>
        <p:spPr>
          <a:xfrm>
            <a:off x="365760" y="658368"/>
            <a:ext cx="3657600" cy="4572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77DBF7C6-7646-0441-2F39-9B5773BE817F}"/>
              </a:ext>
            </a:extLst>
          </p:cNvPr>
          <p:cNvSpPr txBox="1"/>
          <p:nvPr/>
        </p:nvSpPr>
        <p:spPr>
          <a:xfrm>
            <a:off x="365760" y="731520"/>
            <a:ext cx="10058400" cy="594360"/>
          </a:xfrm>
          <a:prstGeom prst="rect">
            <a:avLst/>
          </a:prstGeom>
          <a:noFill/>
        </p:spPr>
        <p:txBody>
          <a:bodyPr wrap="square">
            <a:spAutoFit/>
          </a:bodyPr>
          <a:lstStyle/>
          <a:p>
            <a:pPr algn="l"/>
            <a:r>
              <a:rPr sz="3000" b="1" i="0">
                <a:solidFill>
                  <a:srgbClr val="FFFFFF"/>
                </a:solidFill>
                <a:latin typeface="Calibri"/>
              </a:rPr>
              <a:t>Future Improvements</a:t>
            </a:r>
          </a:p>
        </p:txBody>
      </p:sp>
      <p:sp>
        <p:nvSpPr>
          <p:cNvPr id="6" name="Rectangle 5">
            <a:extLst>
              <a:ext uri="{FF2B5EF4-FFF2-40B4-BE49-F238E27FC236}">
                <a16:creationId xmlns:a16="http://schemas.microsoft.com/office/drawing/2014/main" id="{D79C2E5F-53AD-8942-5BDB-222F8A8CBACE}"/>
              </a:ext>
            </a:extLst>
          </p:cNvPr>
          <p:cNvSpPr/>
          <p:nvPr/>
        </p:nvSpPr>
        <p:spPr>
          <a:xfrm>
            <a:off x="365760" y="1508760"/>
            <a:ext cx="11430000" cy="1097280"/>
          </a:xfrm>
          <a:prstGeom prst="rect">
            <a:avLst/>
          </a:prstGeom>
          <a:solidFill>
            <a:srgbClr val="1E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CA0A1258-32CD-336E-78D1-94D0A7A654EA}"/>
              </a:ext>
            </a:extLst>
          </p:cNvPr>
          <p:cNvSpPr/>
          <p:nvPr/>
        </p:nvSpPr>
        <p:spPr>
          <a:xfrm>
            <a:off x="365760" y="1508760"/>
            <a:ext cx="54864" cy="109728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68713866-9A11-3DFA-16CF-82DEC1C0EF60}"/>
              </a:ext>
            </a:extLst>
          </p:cNvPr>
          <p:cNvSpPr txBox="1"/>
          <p:nvPr/>
        </p:nvSpPr>
        <p:spPr>
          <a:xfrm>
            <a:off x="594360" y="1600200"/>
            <a:ext cx="3657600" cy="347472"/>
          </a:xfrm>
          <a:prstGeom prst="rect">
            <a:avLst/>
          </a:prstGeom>
          <a:noFill/>
        </p:spPr>
        <p:txBody>
          <a:bodyPr wrap="square">
            <a:spAutoFit/>
          </a:bodyPr>
          <a:lstStyle/>
          <a:p>
            <a:pPr algn="l"/>
            <a:r>
              <a:rPr sz="1400" b="1" i="0">
                <a:solidFill>
                  <a:srgbClr val="00C8FF"/>
                </a:solidFill>
                <a:latin typeface="Calibri"/>
              </a:rPr>
              <a:t>RAG / Vector Retrieval</a:t>
            </a:r>
          </a:p>
        </p:txBody>
      </p:sp>
      <p:sp>
        <p:nvSpPr>
          <p:cNvPr id="9" name="TextBox 8">
            <a:extLst>
              <a:ext uri="{FF2B5EF4-FFF2-40B4-BE49-F238E27FC236}">
                <a16:creationId xmlns:a16="http://schemas.microsoft.com/office/drawing/2014/main" id="{C9C17146-A3DE-DF1B-A3BE-764B87B01C3C}"/>
              </a:ext>
            </a:extLst>
          </p:cNvPr>
          <p:cNvSpPr txBox="1"/>
          <p:nvPr/>
        </p:nvSpPr>
        <p:spPr>
          <a:xfrm>
            <a:off x="10515600" y="1600200"/>
            <a:ext cx="1097280" cy="320040"/>
          </a:xfrm>
          <a:prstGeom prst="rect">
            <a:avLst/>
          </a:prstGeom>
          <a:noFill/>
        </p:spPr>
        <p:txBody>
          <a:bodyPr wrap="square">
            <a:spAutoFit/>
          </a:bodyPr>
          <a:lstStyle/>
          <a:p>
            <a:pPr algn="ctr"/>
            <a:r>
              <a:rPr sz="1000" b="1" i="0">
                <a:solidFill>
                  <a:srgbClr val="0D1B2A"/>
                </a:solidFill>
                <a:latin typeface="Calibri"/>
              </a:rPr>
              <a:t>Future Module</a:t>
            </a:r>
          </a:p>
        </p:txBody>
      </p:sp>
      <p:sp>
        <p:nvSpPr>
          <p:cNvPr id="10" name="Rectangle 9">
            <a:extLst>
              <a:ext uri="{FF2B5EF4-FFF2-40B4-BE49-F238E27FC236}">
                <a16:creationId xmlns:a16="http://schemas.microsoft.com/office/drawing/2014/main" id="{901A5CA3-834E-3D97-EBD1-056278FDEFBC}"/>
              </a:ext>
            </a:extLst>
          </p:cNvPr>
          <p:cNvSpPr/>
          <p:nvPr/>
        </p:nvSpPr>
        <p:spPr>
          <a:xfrm>
            <a:off x="10332720" y="1581912"/>
            <a:ext cx="1371600" cy="347472"/>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445E774F-87E3-AACA-5628-F05E19AD73BD}"/>
              </a:ext>
            </a:extLst>
          </p:cNvPr>
          <p:cNvSpPr txBox="1"/>
          <p:nvPr/>
        </p:nvSpPr>
        <p:spPr>
          <a:xfrm>
            <a:off x="10332720" y="1600200"/>
            <a:ext cx="1371600" cy="320040"/>
          </a:xfrm>
          <a:prstGeom prst="rect">
            <a:avLst/>
          </a:prstGeom>
          <a:noFill/>
        </p:spPr>
        <p:txBody>
          <a:bodyPr wrap="square">
            <a:spAutoFit/>
          </a:bodyPr>
          <a:lstStyle/>
          <a:p>
            <a:pPr algn="ctr"/>
            <a:r>
              <a:rPr sz="900" b="1" i="0">
                <a:solidFill>
                  <a:srgbClr val="0D1B2A"/>
                </a:solidFill>
                <a:latin typeface="Calibri"/>
              </a:rPr>
              <a:t>Future Module</a:t>
            </a:r>
          </a:p>
        </p:txBody>
      </p:sp>
      <p:sp>
        <p:nvSpPr>
          <p:cNvPr id="12" name="TextBox 11">
            <a:extLst>
              <a:ext uri="{FF2B5EF4-FFF2-40B4-BE49-F238E27FC236}">
                <a16:creationId xmlns:a16="http://schemas.microsoft.com/office/drawing/2014/main" id="{C45A8D9A-0CC2-6949-BC8F-336AE62F2A32}"/>
              </a:ext>
            </a:extLst>
          </p:cNvPr>
          <p:cNvSpPr txBox="1"/>
          <p:nvPr/>
        </p:nvSpPr>
        <p:spPr>
          <a:xfrm>
            <a:off x="594360" y="2011680"/>
            <a:ext cx="9509760" cy="502920"/>
          </a:xfrm>
          <a:prstGeom prst="rect">
            <a:avLst/>
          </a:prstGeom>
          <a:noFill/>
        </p:spPr>
        <p:txBody>
          <a:bodyPr wrap="square">
            <a:spAutoFit/>
          </a:bodyPr>
          <a:lstStyle/>
          <a:p>
            <a:pPr algn="l"/>
            <a:r>
              <a:rPr sz="1200" b="0" i="0">
                <a:solidFill>
                  <a:srgbClr val="C8D6E5"/>
                </a:solidFill>
                <a:latin typeface="Calibri"/>
              </a:rPr>
              <a:t>Replace flat markdown loading with semantic vector search. Retrieves only the most relevant KB chunks per topic — not required for Project 2, planned for future module.</a:t>
            </a:r>
          </a:p>
        </p:txBody>
      </p:sp>
      <p:sp>
        <p:nvSpPr>
          <p:cNvPr id="13" name="Rectangle 12">
            <a:extLst>
              <a:ext uri="{FF2B5EF4-FFF2-40B4-BE49-F238E27FC236}">
                <a16:creationId xmlns:a16="http://schemas.microsoft.com/office/drawing/2014/main" id="{9428A305-567F-7A08-1CA8-52D372E3FF20}"/>
              </a:ext>
            </a:extLst>
          </p:cNvPr>
          <p:cNvSpPr/>
          <p:nvPr/>
        </p:nvSpPr>
        <p:spPr>
          <a:xfrm>
            <a:off x="365760" y="2743200"/>
            <a:ext cx="11430000" cy="1097280"/>
          </a:xfrm>
          <a:prstGeom prst="rect">
            <a:avLst/>
          </a:prstGeom>
          <a:solidFill>
            <a:srgbClr val="1E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a:extLst>
              <a:ext uri="{FF2B5EF4-FFF2-40B4-BE49-F238E27FC236}">
                <a16:creationId xmlns:a16="http://schemas.microsoft.com/office/drawing/2014/main" id="{EBB008BD-8110-946E-BD4E-2D27988704B1}"/>
              </a:ext>
            </a:extLst>
          </p:cNvPr>
          <p:cNvSpPr/>
          <p:nvPr/>
        </p:nvSpPr>
        <p:spPr>
          <a:xfrm>
            <a:off x="365760" y="2743200"/>
            <a:ext cx="54864" cy="1097280"/>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556C9F2A-8B30-02D9-92F5-72850761044F}"/>
              </a:ext>
            </a:extLst>
          </p:cNvPr>
          <p:cNvSpPr txBox="1"/>
          <p:nvPr/>
        </p:nvSpPr>
        <p:spPr>
          <a:xfrm>
            <a:off x="594360" y="2834640"/>
            <a:ext cx="3657600" cy="347472"/>
          </a:xfrm>
          <a:prstGeom prst="rect">
            <a:avLst/>
          </a:prstGeom>
          <a:noFill/>
        </p:spPr>
        <p:txBody>
          <a:bodyPr wrap="square">
            <a:spAutoFit/>
          </a:bodyPr>
          <a:lstStyle/>
          <a:p>
            <a:pPr algn="l"/>
            <a:r>
              <a:rPr sz="1400" b="1" i="0">
                <a:solidFill>
                  <a:srgbClr val="00E596"/>
                </a:solidFill>
                <a:latin typeface="Calibri"/>
              </a:rPr>
              <a:t>Advanced Monitoring</a:t>
            </a:r>
          </a:p>
        </p:txBody>
      </p:sp>
      <p:sp>
        <p:nvSpPr>
          <p:cNvPr id="16" name="TextBox 15">
            <a:extLst>
              <a:ext uri="{FF2B5EF4-FFF2-40B4-BE49-F238E27FC236}">
                <a16:creationId xmlns:a16="http://schemas.microsoft.com/office/drawing/2014/main" id="{13A4DC1C-391A-465F-31CC-6A4CAB5B4877}"/>
              </a:ext>
            </a:extLst>
          </p:cNvPr>
          <p:cNvSpPr txBox="1"/>
          <p:nvPr/>
        </p:nvSpPr>
        <p:spPr>
          <a:xfrm>
            <a:off x="10515600" y="2834640"/>
            <a:ext cx="1097280" cy="320040"/>
          </a:xfrm>
          <a:prstGeom prst="rect">
            <a:avLst/>
          </a:prstGeom>
          <a:noFill/>
        </p:spPr>
        <p:txBody>
          <a:bodyPr wrap="square">
            <a:spAutoFit/>
          </a:bodyPr>
          <a:lstStyle/>
          <a:p>
            <a:pPr algn="ctr"/>
            <a:r>
              <a:rPr sz="1000" b="1" i="0">
                <a:solidFill>
                  <a:srgbClr val="0D1B2A"/>
                </a:solidFill>
                <a:latin typeface="Calibri"/>
              </a:rPr>
              <a:t>Next Sprint</a:t>
            </a:r>
          </a:p>
        </p:txBody>
      </p:sp>
      <p:sp>
        <p:nvSpPr>
          <p:cNvPr id="17" name="Rectangle 16">
            <a:extLst>
              <a:ext uri="{FF2B5EF4-FFF2-40B4-BE49-F238E27FC236}">
                <a16:creationId xmlns:a16="http://schemas.microsoft.com/office/drawing/2014/main" id="{920AA567-3FD4-3454-710E-9C8E92BAC4B4}"/>
              </a:ext>
            </a:extLst>
          </p:cNvPr>
          <p:cNvSpPr/>
          <p:nvPr/>
        </p:nvSpPr>
        <p:spPr>
          <a:xfrm>
            <a:off x="10332720" y="2816352"/>
            <a:ext cx="1371600" cy="347472"/>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a:extLst>
              <a:ext uri="{FF2B5EF4-FFF2-40B4-BE49-F238E27FC236}">
                <a16:creationId xmlns:a16="http://schemas.microsoft.com/office/drawing/2014/main" id="{BC922B51-8D59-93B5-B09B-6BA571AFDA2D}"/>
              </a:ext>
            </a:extLst>
          </p:cNvPr>
          <p:cNvSpPr txBox="1"/>
          <p:nvPr/>
        </p:nvSpPr>
        <p:spPr>
          <a:xfrm>
            <a:off x="10332720" y="2834640"/>
            <a:ext cx="1371600" cy="320040"/>
          </a:xfrm>
          <a:prstGeom prst="rect">
            <a:avLst/>
          </a:prstGeom>
          <a:noFill/>
        </p:spPr>
        <p:txBody>
          <a:bodyPr wrap="square">
            <a:spAutoFit/>
          </a:bodyPr>
          <a:lstStyle/>
          <a:p>
            <a:pPr algn="ctr"/>
            <a:r>
              <a:rPr sz="900" b="1" i="0">
                <a:solidFill>
                  <a:srgbClr val="0D1B2A"/>
                </a:solidFill>
                <a:latin typeface="Calibri"/>
              </a:rPr>
              <a:t>Next Sprint</a:t>
            </a:r>
          </a:p>
        </p:txBody>
      </p:sp>
      <p:sp>
        <p:nvSpPr>
          <p:cNvPr id="19" name="TextBox 18">
            <a:extLst>
              <a:ext uri="{FF2B5EF4-FFF2-40B4-BE49-F238E27FC236}">
                <a16:creationId xmlns:a16="http://schemas.microsoft.com/office/drawing/2014/main" id="{376AF7B4-2E98-5390-4F44-A2FF3A7D888D}"/>
              </a:ext>
            </a:extLst>
          </p:cNvPr>
          <p:cNvSpPr txBox="1"/>
          <p:nvPr/>
        </p:nvSpPr>
        <p:spPr>
          <a:xfrm>
            <a:off x="594360" y="3246120"/>
            <a:ext cx="9509760" cy="502920"/>
          </a:xfrm>
          <a:prstGeom prst="rect">
            <a:avLst/>
          </a:prstGeom>
          <a:noFill/>
        </p:spPr>
        <p:txBody>
          <a:bodyPr wrap="square">
            <a:spAutoFit/>
          </a:bodyPr>
          <a:lstStyle/>
          <a:p>
            <a:pPr algn="l"/>
            <a:r>
              <a:rPr sz="1200" b="0" i="0">
                <a:solidFill>
                  <a:srgbClr val="C8D6E5"/>
                </a:solidFill>
                <a:latin typeface="Calibri"/>
              </a:rPr>
              <a:t>Track content performance metrics: engagement rates, A/B comparison, auto-scoring against brand guidelines on every generation.</a:t>
            </a:r>
          </a:p>
        </p:txBody>
      </p:sp>
      <p:sp>
        <p:nvSpPr>
          <p:cNvPr id="20" name="Rectangle 19">
            <a:extLst>
              <a:ext uri="{FF2B5EF4-FFF2-40B4-BE49-F238E27FC236}">
                <a16:creationId xmlns:a16="http://schemas.microsoft.com/office/drawing/2014/main" id="{24CC8655-4410-E552-88F5-76CDFE7A036A}"/>
              </a:ext>
            </a:extLst>
          </p:cNvPr>
          <p:cNvSpPr/>
          <p:nvPr/>
        </p:nvSpPr>
        <p:spPr>
          <a:xfrm>
            <a:off x="365760" y="3977639"/>
            <a:ext cx="11430000" cy="1097280"/>
          </a:xfrm>
          <a:prstGeom prst="rect">
            <a:avLst/>
          </a:prstGeom>
          <a:solidFill>
            <a:srgbClr val="1E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a:extLst>
              <a:ext uri="{FF2B5EF4-FFF2-40B4-BE49-F238E27FC236}">
                <a16:creationId xmlns:a16="http://schemas.microsoft.com/office/drawing/2014/main" id="{702C8865-2872-4EB5-1F4F-E5BFEDC662E6}"/>
              </a:ext>
            </a:extLst>
          </p:cNvPr>
          <p:cNvSpPr/>
          <p:nvPr/>
        </p:nvSpPr>
        <p:spPr>
          <a:xfrm>
            <a:off x="365760" y="3977639"/>
            <a:ext cx="54864" cy="1097280"/>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a:extLst>
              <a:ext uri="{FF2B5EF4-FFF2-40B4-BE49-F238E27FC236}">
                <a16:creationId xmlns:a16="http://schemas.microsoft.com/office/drawing/2014/main" id="{F0320045-F370-44F5-208F-4535592C69AF}"/>
              </a:ext>
            </a:extLst>
          </p:cNvPr>
          <p:cNvSpPr txBox="1"/>
          <p:nvPr/>
        </p:nvSpPr>
        <p:spPr>
          <a:xfrm>
            <a:off x="594360" y="4069079"/>
            <a:ext cx="3657600" cy="347472"/>
          </a:xfrm>
          <a:prstGeom prst="rect">
            <a:avLst/>
          </a:prstGeom>
          <a:noFill/>
        </p:spPr>
        <p:txBody>
          <a:bodyPr wrap="square">
            <a:spAutoFit/>
          </a:bodyPr>
          <a:lstStyle/>
          <a:p>
            <a:pPr algn="l"/>
            <a:r>
              <a:rPr sz="1400" b="1" i="0">
                <a:solidFill>
                  <a:srgbClr val="FFC000"/>
                </a:solidFill>
                <a:latin typeface="Calibri"/>
              </a:rPr>
              <a:t>Automated Publishing</a:t>
            </a:r>
          </a:p>
        </p:txBody>
      </p:sp>
      <p:sp>
        <p:nvSpPr>
          <p:cNvPr id="23" name="TextBox 22">
            <a:extLst>
              <a:ext uri="{FF2B5EF4-FFF2-40B4-BE49-F238E27FC236}">
                <a16:creationId xmlns:a16="http://schemas.microsoft.com/office/drawing/2014/main" id="{F0A52B56-22A2-5652-A10D-DD54B8037C8D}"/>
              </a:ext>
            </a:extLst>
          </p:cNvPr>
          <p:cNvSpPr txBox="1"/>
          <p:nvPr/>
        </p:nvSpPr>
        <p:spPr>
          <a:xfrm>
            <a:off x="10515600" y="4069079"/>
            <a:ext cx="1097280" cy="320040"/>
          </a:xfrm>
          <a:prstGeom prst="rect">
            <a:avLst/>
          </a:prstGeom>
          <a:noFill/>
        </p:spPr>
        <p:txBody>
          <a:bodyPr wrap="square">
            <a:spAutoFit/>
          </a:bodyPr>
          <a:lstStyle/>
          <a:p>
            <a:pPr algn="ctr"/>
            <a:r>
              <a:rPr sz="1000" b="1" i="0">
                <a:solidFill>
                  <a:srgbClr val="0D1B2A"/>
                </a:solidFill>
                <a:latin typeface="Calibri"/>
              </a:rPr>
              <a:t>Phase 2</a:t>
            </a:r>
          </a:p>
        </p:txBody>
      </p:sp>
      <p:sp>
        <p:nvSpPr>
          <p:cNvPr id="24" name="Rectangle 23">
            <a:extLst>
              <a:ext uri="{FF2B5EF4-FFF2-40B4-BE49-F238E27FC236}">
                <a16:creationId xmlns:a16="http://schemas.microsoft.com/office/drawing/2014/main" id="{563645F3-C24E-07DA-F9C4-904B522AB1F7}"/>
              </a:ext>
            </a:extLst>
          </p:cNvPr>
          <p:cNvSpPr/>
          <p:nvPr/>
        </p:nvSpPr>
        <p:spPr>
          <a:xfrm>
            <a:off x="10332720" y="4050791"/>
            <a:ext cx="1371600" cy="347472"/>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a:extLst>
              <a:ext uri="{FF2B5EF4-FFF2-40B4-BE49-F238E27FC236}">
                <a16:creationId xmlns:a16="http://schemas.microsoft.com/office/drawing/2014/main" id="{65FCC358-7953-D107-A249-9D55A10F1153}"/>
              </a:ext>
            </a:extLst>
          </p:cNvPr>
          <p:cNvSpPr txBox="1"/>
          <p:nvPr/>
        </p:nvSpPr>
        <p:spPr>
          <a:xfrm>
            <a:off x="10332720" y="4069079"/>
            <a:ext cx="1371600" cy="320040"/>
          </a:xfrm>
          <a:prstGeom prst="rect">
            <a:avLst/>
          </a:prstGeom>
          <a:noFill/>
        </p:spPr>
        <p:txBody>
          <a:bodyPr wrap="square">
            <a:spAutoFit/>
          </a:bodyPr>
          <a:lstStyle/>
          <a:p>
            <a:pPr algn="ctr"/>
            <a:r>
              <a:rPr sz="900" b="1" i="0">
                <a:solidFill>
                  <a:srgbClr val="0D1B2A"/>
                </a:solidFill>
                <a:latin typeface="Calibri"/>
              </a:rPr>
              <a:t>Phase 2</a:t>
            </a:r>
          </a:p>
        </p:txBody>
      </p:sp>
      <p:sp>
        <p:nvSpPr>
          <p:cNvPr id="26" name="TextBox 25">
            <a:extLst>
              <a:ext uri="{FF2B5EF4-FFF2-40B4-BE49-F238E27FC236}">
                <a16:creationId xmlns:a16="http://schemas.microsoft.com/office/drawing/2014/main" id="{75AB3757-6FFD-BA6E-AFD3-296A9884C847}"/>
              </a:ext>
            </a:extLst>
          </p:cNvPr>
          <p:cNvSpPr txBox="1"/>
          <p:nvPr/>
        </p:nvSpPr>
        <p:spPr>
          <a:xfrm>
            <a:off x="594360" y="4480559"/>
            <a:ext cx="9509760" cy="502920"/>
          </a:xfrm>
          <a:prstGeom prst="rect">
            <a:avLst/>
          </a:prstGeom>
          <a:noFill/>
        </p:spPr>
        <p:txBody>
          <a:bodyPr wrap="square">
            <a:spAutoFit/>
          </a:bodyPr>
          <a:lstStyle/>
          <a:p>
            <a:pPr algn="l"/>
            <a:r>
              <a:rPr sz="1200" b="0" i="0">
                <a:solidFill>
                  <a:srgbClr val="C8D6E5"/>
                </a:solidFill>
                <a:latin typeface="Calibri"/>
              </a:rPr>
              <a:t>Direct API publishing to Instagram, LinkedIn, email platforms. Approval workflow with one-click scheduling.</a:t>
            </a:r>
          </a:p>
        </p:txBody>
      </p:sp>
      <p:sp>
        <p:nvSpPr>
          <p:cNvPr id="27" name="Rectangle 26">
            <a:extLst>
              <a:ext uri="{FF2B5EF4-FFF2-40B4-BE49-F238E27FC236}">
                <a16:creationId xmlns:a16="http://schemas.microsoft.com/office/drawing/2014/main" id="{15CB5BF6-C4E7-4D58-5C41-0000F7CFE143}"/>
              </a:ext>
            </a:extLst>
          </p:cNvPr>
          <p:cNvSpPr/>
          <p:nvPr/>
        </p:nvSpPr>
        <p:spPr>
          <a:xfrm>
            <a:off x="365760" y="5212080"/>
            <a:ext cx="11430000" cy="1097280"/>
          </a:xfrm>
          <a:prstGeom prst="rect">
            <a:avLst/>
          </a:prstGeom>
          <a:solidFill>
            <a:srgbClr val="1E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a:extLst>
              <a:ext uri="{FF2B5EF4-FFF2-40B4-BE49-F238E27FC236}">
                <a16:creationId xmlns:a16="http://schemas.microsoft.com/office/drawing/2014/main" id="{407C2567-CFAF-0083-A15D-FC94DA457B3E}"/>
              </a:ext>
            </a:extLst>
          </p:cNvPr>
          <p:cNvSpPr/>
          <p:nvPr/>
        </p:nvSpPr>
        <p:spPr>
          <a:xfrm>
            <a:off x="365760" y="5212080"/>
            <a:ext cx="54864" cy="109728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a:extLst>
              <a:ext uri="{FF2B5EF4-FFF2-40B4-BE49-F238E27FC236}">
                <a16:creationId xmlns:a16="http://schemas.microsoft.com/office/drawing/2014/main" id="{D30CE74F-6EBF-CDD8-9D27-8C3946C15817}"/>
              </a:ext>
            </a:extLst>
          </p:cNvPr>
          <p:cNvSpPr txBox="1"/>
          <p:nvPr/>
        </p:nvSpPr>
        <p:spPr>
          <a:xfrm>
            <a:off x="594360" y="5303520"/>
            <a:ext cx="3657600" cy="347472"/>
          </a:xfrm>
          <a:prstGeom prst="rect">
            <a:avLst/>
          </a:prstGeom>
          <a:noFill/>
        </p:spPr>
        <p:txBody>
          <a:bodyPr wrap="square">
            <a:spAutoFit/>
          </a:bodyPr>
          <a:lstStyle/>
          <a:p>
            <a:pPr algn="l"/>
            <a:r>
              <a:rPr sz="1400" b="1" i="0">
                <a:solidFill>
                  <a:srgbClr val="FF6B35"/>
                </a:solidFill>
                <a:latin typeface="Calibri"/>
              </a:rPr>
              <a:t>Multi-Brand Support</a:t>
            </a:r>
          </a:p>
        </p:txBody>
      </p:sp>
      <p:sp>
        <p:nvSpPr>
          <p:cNvPr id="30" name="TextBox 29">
            <a:extLst>
              <a:ext uri="{FF2B5EF4-FFF2-40B4-BE49-F238E27FC236}">
                <a16:creationId xmlns:a16="http://schemas.microsoft.com/office/drawing/2014/main" id="{E94E8C93-E80B-9275-F877-835C4C0310EC}"/>
              </a:ext>
            </a:extLst>
          </p:cNvPr>
          <p:cNvSpPr txBox="1"/>
          <p:nvPr/>
        </p:nvSpPr>
        <p:spPr>
          <a:xfrm>
            <a:off x="10515600" y="5303520"/>
            <a:ext cx="1097280" cy="320040"/>
          </a:xfrm>
          <a:prstGeom prst="rect">
            <a:avLst/>
          </a:prstGeom>
          <a:noFill/>
        </p:spPr>
        <p:txBody>
          <a:bodyPr wrap="square">
            <a:spAutoFit/>
          </a:bodyPr>
          <a:lstStyle/>
          <a:p>
            <a:pPr algn="ctr"/>
            <a:r>
              <a:rPr sz="1000" b="1" i="0">
                <a:solidFill>
                  <a:srgbClr val="0D1B2A"/>
                </a:solidFill>
                <a:latin typeface="Calibri"/>
              </a:rPr>
              <a:t>Phase 3</a:t>
            </a:r>
          </a:p>
        </p:txBody>
      </p:sp>
      <p:sp>
        <p:nvSpPr>
          <p:cNvPr id="31" name="Rectangle 30">
            <a:extLst>
              <a:ext uri="{FF2B5EF4-FFF2-40B4-BE49-F238E27FC236}">
                <a16:creationId xmlns:a16="http://schemas.microsoft.com/office/drawing/2014/main" id="{B2F8098A-E552-235D-2892-5F3DA549C080}"/>
              </a:ext>
            </a:extLst>
          </p:cNvPr>
          <p:cNvSpPr/>
          <p:nvPr/>
        </p:nvSpPr>
        <p:spPr>
          <a:xfrm>
            <a:off x="10332720" y="5285232"/>
            <a:ext cx="1371600" cy="347472"/>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a:extLst>
              <a:ext uri="{FF2B5EF4-FFF2-40B4-BE49-F238E27FC236}">
                <a16:creationId xmlns:a16="http://schemas.microsoft.com/office/drawing/2014/main" id="{020CEF69-8CBA-3705-970D-3A2F0ED3461A}"/>
              </a:ext>
            </a:extLst>
          </p:cNvPr>
          <p:cNvSpPr txBox="1"/>
          <p:nvPr/>
        </p:nvSpPr>
        <p:spPr>
          <a:xfrm>
            <a:off x="10332720" y="5303520"/>
            <a:ext cx="1371600" cy="320040"/>
          </a:xfrm>
          <a:prstGeom prst="rect">
            <a:avLst/>
          </a:prstGeom>
          <a:noFill/>
        </p:spPr>
        <p:txBody>
          <a:bodyPr wrap="square">
            <a:spAutoFit/>
          </a:bodyPr>
          <a:lstStyle/>
          <a:p>
            <a:pPr algn="ctr"/>
            <a:r>
              <a:rPr sz="900" b="1" i="0">
                <a:solidFill>
                  <a:srgbClr val="0D1B2A"/>
                </a:solidFill>
                <a:latin typeface="Calibri"/>
              </a:rPr>
              <a:t>Phase 3</a:t>
            </a:r>
          </a:p>
        </p:txBody>
      </p:sp>
      <p:sp>
        <p:nvSpPr>
          <p:cNvPr id="33" name="TextBox 32">
            <a:extLst>
              <a:ext uri="{FF2B5EF4-FFF2-40B4-BE49-F238E27FC236}">
                <a16:creationId xmlns:a16="http://schemas.microsoft.com/office/drawing/2014/main" id="{D149AC39-85C2-3E01-3DD8-9AD32F69A379}"/>
              </a:ext>
            </a:extLst>
          </p:cNvPr>
          <p:cNvSpPr txBox="1"/>
          <p:nvPr/>
        </p:nvSpPr>
        <p:spPr>
          <a:xfrm>
            <a:off x="594360" y="5715000"/>
            <a:ext cx="9509760" cy="502920"/>
          </a:xfrm>
          <a:prstGeom prst="rect">
            <a:avLst/>
          </a:prstGeom>
          <a:noFill/>
        </p:spPr>
        <p:txBody>
          <a:bodyPr wrap="square">
            <a:spAutoFit/>
          </a:bodyPr>
          <a:lstStyle/>
          <a:p>
            <a:pPr algn="l"/>
            <a:r>
              <a:rPr sz="1200" b="0" i="0">
                <a:solidFill>
                  <a:srgbClr val="C8D6E5"/>
                </a:solidFill>
                <a:latin typeface="Calibri"/>
              </a:rPr>
              <a:t>Parameterize the KB structure to support multiple brands/clients. Turn FitByte into a white-label content platform.</a:t>
            </a:r>
          </a:p>
        </p:txBody>
      </p:sp>
      <p:sp>
        <p:nvSpPr>
          <p:cNvPr id="34" name="TextBox 33">
            <a:extLst>
              <a:ext uri="{FF2B5EF4-FFF2-40B4-BE49-F238E27FC236}">
                <a16:creationId xmlns:a16="http://schemas.microsoft.com/office/drawing/2014/main" id="{F06F4681-FEBA-8CE0-6412-A81DFA3781FE}"/>
              </a:ext>
            </a:extLst>
          </p:cNvPr>
          <p:cNvSpPr txBox="1"/>
          <p:nvPr/>
        </p:nvSpPr>
        <p:spPr>
          <a:xfrm>
            <a:off x="11612880" y="6492240"/>
            <a:ext cx="457200" cy="274320"/>
          </a:xfrm>
          <a:prstGeom prst="rect">
            <a:avLst/>
          </a:prstGeom>
          <a:noFill/>
        </p:spPr>
        <p:txBody>
          <a:bodyPr wrap="square">
            <a:spAutoFit/>
          </a:bodyPr>
          <a:lstStyle/>
          <a:p>
            <a:pPr algn="r"/>
            <a:r>
              <a:rPr sz="1000" b="0" i="0">
                <a:solidFill>
                  <a:srgbClr val="C8D6E5"/>
                </a:solidFill>
                <a:latin typeface="Calibri"/>
              </a:rPr>
              <a:t>10</a:t>
            </a:r>
          </a:p>
        </p:txBody>
      </p:sp>
    </p:spTree>
    <p:extLst>
      <p:ext uri="{BB962C8B-B14F-4D97-AF65-F5344CB8AC3E}">
        <p14:creationId xmlns:p14="http://schemas.microsoft.com/office/powerpoint/2010/main" val="9296206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a:extLst>
            <a:ext uri="{FF2B5EF4-FFF2-40B4-BE49-F238E27FC236}">
              <a16:creationId xmlns:a16="http://schemas.microsoft.com/office/drawing/2014/main" id="{777C6946-D42D-E91F-726A-D25DC9A2AC4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4A0FBD9-68C6-E71D-9E6A-B636A68B6D91}"/>
              </a:ext>
            </a:extLst>
          </p:cNvPr>
          <p:cNvSpPr/>
          <p:nvPr/>
        </p:nvSpPr>
        <p:spPr>
          <a:xfrm>
            <a:off x="548497" y="220292"/>
            <a:ext cx="11213719" cy="268154"/>
          </a:xfrm>
          <a:prstGeom prst="rect">
            <a:avLst/>
          </a:prstGeom>
          <a:noFill/>
          <a:ln/>
        </p:spPr>
        <p:txBody>
          <a:bodyPr wrap="square" rtlCol="0" anchor="ctr"/>
          <a:lstStyle/>
          <a:p>
            <a:pPr marL="0" marR="0" lvl="0" indent="0" algn="l" defTabSz="1218895" rtl="0" eaLnBrk="1" fontAlgn="auto" latinLnBrk="0" hangingPunct="1">
              <a:lnSpc>
                <a:spcPct val="100000"/>
              </a:lnSpc>
              <a:spcBef>
                <a:spcPts val="0"/>
              </a:spcBef>
              <a:spcAft>
                <a:spcPts val="0"/>
              </a:spcAft>
              <a:buClrTx/>
              <a:buSzTx/>
              <a:buFontTx/>
              <a:buNone/>
              <a:tabLst/>
              <a:defRPr/>
            </a:pPr>
            <a:r>
              <a:rPr kumimoji="0" lang="en-US" sz="1066" b="1" i="0" u="none" strike="noStrike" kern="0" cap="none" spc="400" normalizeH="0" baseline="0" noProof="0" dirty="0">
                <a:ln>
                  <a:noFill/>
                </a:ln>
                <a:solidFill>
                  <a:srgbClr val="00D4AA"/>
                </a:solidFill>
                <a:effectLst/>
                <a:uLnTx/>
                <a:uFillTx/>
                <a:latin typeface="Calibri" panose="020F0502020204030204"/>
                <a:ea typeface="+mn-ea"/>
                <a:cs typeface="+mn-cs"/>
              </a:rPr>
              <a:t>07 — CHALLENGES &amp; LEARNINGS   ·   08 — NEXT STEPS</a:t>
            </a:r>
            <a:endParaRPr kumimoji="0" lang="en-US" sz="1066"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88FE6B13-0A97-743D-95E3-B19A23519181}"/>
              </a:ext>
            </a:extLst>
          </p:cNvPr>
          <p:cNvSpPr/>
          <p:nvPr/>
        </p:nvSpPr>
        <p:spPr>
          <a:xfrm>
            <a:off x="548497" y="464068"/>
            <a:ext cx="11213719" cy="633819"/>
          </a:xfrm>
          <a:prstGeom prst="rect">
            <a:avLst/>
          </a:prstGeom>
          <a:noFill/>
          <a:ln/>
        </p:spPr>
        <p:txBody>
          <a:bodyPr wrap="square" rtlCol="0" anchor="ctr"/>
          <a:lstStyle/>
          <a:p>
            <a:pPr marL="0" marR="0" lvl="0" indent="0" algn="l" defTabSz="1218895" rtl="0" eaLnBrk="1" fontAlgn="auto" latinLnBrk="0" hangingPunct="1">
              <a:lnSpc>
                <a:spcPct val="100000"/>
              </a:lnSpc>
              <a:spcBef>
                <a:spcPts val="0"/>
              </a:spcBef>
              <a:spcAft>
                <a:spcPts val="0"/>
              </a:spcAft>
              <a:buClrTx/>
              <a:buSzTx/>
              <a:buFontTx/>
              <a:buNone/>
              <a:tabLst/>
              <a:defRPr/>
            </a:pPr>
            <a:r>
              <a:rPr kumimoji="0" lang="en-US" sz="3466"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What We Learned — Where We're Headed</a:t>
            </a:r>
            <a:endParaRPr kumimoji="0" lang="en-US" sz="3466"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a:extLst>
              <a:ext uri="{FF2B5EF4-FFF2-40B4-BE49-F238E27FC236}">
                <a16:creationId xmlns:a16="http://schemas.microsoft.com/office/drawing/2014/main" id="{0AAA90B8-046E-3D50-FCBD-EAD6DA125E9F}"/>
              </a:ext>
            </a:extLst>
          </p:cNvPr>
          <p:cNvSpPr/>
          <p:nvPr/>
        </p:nvSpPr>
        <p:spPr>
          <a:xfrm>
            <a:off x="548497" y="1280720"/>
            <a:ext cx="5424027" cy="1170127"/>
          </a:xfrm>
          <a:prstGeom prst="rect">
            <a:avLst/>
          </a:prstGeom>
          <a:solidFill>
            <a:srgbClr val="161B27"/>
          </a:solidFill>
          <a:ln w="12700">
            <a:solidFill>
              <a:srgbClr val="161B27"/>
            </a:solidFill>
            <a:prstDash val="solid"/>
          </a:ln>
        </p:spPr>
        <p:txBody>
          <a:bodyPr/>
          <a:lstStyle/>
          <a:p>
            <a:pPr marL="0" marR="0" lvl="0" indent="0" algn="l" defTabSz="1218895" rtl="0" eaLnBrk="1" fontAlgn="auto" latinLnBrk="0" hangingPunct="1">
              <a:lnSpc>
                <a:spcPct val="100000"/>
              </a:lnSpc>
              <a:spcBef>
                <a:spcPts val="0"/>
              </a:spcBef>
              <a:spcAft>
                <a:spcPts val="0"/>
              </a:spcAft>
              <a:buClrTx/>
              <a:buSzTx/>
              <a:buFontTx/>
              <a:buNone/>
              <a:tabLst/>
              <a:defRPr/>
            </a:pPr>
            <a:endParaRPr kumimoji="0" lang="en-DE" sz="2399"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a:extLst>
              <a:ext uri="{FF2B5EF4-FFF2-40B4-BE49-F238E27FC236}">
                <a16:creationId xmlns:a16="http://schemas.microsoft.com/office/drawing/2014/main" id="{21B63C12-2F72-033B-372C-74524AE6C41B}"/>
              </a:ext>
            </a:extLst>
          </p:cNvPr>
          <p:cNvSpPr/>
          <p:nvPr/>
        </p:nvSpPr>
        <p:spPr>
          <a:xfrm>
            <a:off x="548497" y="1280720"/>
            <a:ext cx="73133" cy="1170127"/>
          </a:xfrm>
          <a:prstGeom prst="rect">
            <a:avLst/>
          </a:prstGeom>
          <a:solidFill>
            <a:srgbClr val="00D4AA"/>
          </a:solidFill>
          <a:ln w="12700">
            <a:solidFill>
              <a:srgbClr val="00D4AA"/>
            </a:solidFill>
            <a:prstDash val="solid"/>
          </a:ln>
        </p:spPr>
        <p:txBody>
          <a:bodyPr/>
          <a:lstStyle/>
          <a:p>
            <a:pPr marL="0" marR="0" lvl="0" indent="0" algn="l" defTabSz="1218895" rtl="0" eaLnBrk="1" fontAlgn="auto" latinLnBrk="0" hangingPunct="1">
              <a:lnSpc>
                <a:spcPct val="100000"/>
              </a:lnSpc>
              <a:spcBef>
                <a:spcPts val="0"/>
              </a:spcBef>
              <a:spcAft>
                <a:spcPts val="0"/>
              </a:spcAft>
              <a:buClrTx/>
              <a:buSzTx/>
              <a:buFontTx/>
              <a:buNone/>
              <a:tabLst/>
              <a:defRPr/>
            </a:pPr>
            <a:endParaRPr kumimoji="0" lang="en-DE" sz="2399"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a:extLst>
              <a:ext uri="{FF2B5EF4-FFF2-40B4-BE49-F238E27FC236}">
                <a16:creationId xmlns:a16="http://schemas.microsoft.com/office/drawing/2014/main" id="{A8C78CC2-B91F-B4F6-B0FE-54ED4B653678}"/>
              </a:ext>
            </a:extLst>
          </p:cNvPr>
          <p:cNvSpPr/>
          <p:nvPr/>
        </p:nvSpPr>
        <p:spPr>
          <a:xfrm>
            <a:off x="719140" y="1353853"/>
            <a:ext cx="5180251" cy="268154"/>
          </a:xfrm>
          <a:prstGeom prst="rect">
            <a:avLst/>
          </a:prstGeom>
          <a:noFill/>
          <a:ln/>
        </p:spPr>
        <p:txBody>
          <a:bodyPr wrap="square" rtlCol="0" anchor="ctr"/>
          <a:lstStyle/>
          <a:p>
            <a:pPr marL="0" marR="0" lvl="0" indent="0" algn="l" defTabSz="1218895"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srgbClr val="00D4AA"/>
                </a:solidFill>
                <a:effectLst/>
                <a:uLnTx/>
                <a:uFillTx/>
                <a:latin typeface="Calibri" pitchFamily="34" charset="0"/>
                <a:ea typeface="Calibri" pitchFamily="34" charset="-122"/>
                <a:cs typeface="Calibri" pitchFamily="34" charset="-120"/>
              </a:rPr>
              <a:t>Generic Outputs</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a:extLst>
              <a:ext uri="{FF2B5EF4-FFF2-40B4-BE49-F238E27FC236}">
                <a16:creationId xmlns:a16="http://schemas.microsoft.com/office/drawing/2014/main" id="{9137BEFF-F010-7BFE-46DF-8988306F83FF}"/>
              </a:ext>
            </a:extLst>
          </p:cNvPr>
          <p:cNvSpPr/>
          <p:nvPr/>
        </p:nvSpPr>
        <p:spPr>
          <a:xfrm>
            <a:off x="719140" y="1646385"/>
            <a:ext cx="5180251" cy="316909"/>
          </a:xfrm>
          <a:prstGeom prst="rect">
            <a:avLst/>
          </a:prstGeom>
          <a:noFill/>
          <a:ln/>
        </p:spPr>
        <p:txBody>
          <a:bodyPr wrap="square" rtlCol="0" anchor="ctr"/>
          <a:lstStyle/>
          <a:p>
            <a:pPr marL="0" marR="0" lvl="0" indent="0" algn="l" defTabSz="1218895" rtl="0" eaLnBrk="1" fontAlgn="auto" latinLnBrk="0" hangingPunct="1">
              <a:lnSpc>
                <a:spcPct val="100000"/>
              </a:lnSpc>
              <a:spcBef>
                <a:spcPts val="0"/>
              </a:spcBef>
              <a:spcAft>
                <a:spcPts val="0"/>
              </a:spcAft>
              <a:buClrTx/>
              <a:buSzTx/>
              <a:buFontTx/>
              <a:buNone/>
              <a:tabLst/>
              <a:defRPr/>
            </a:pPr>
            <a:r>
              <a:rPr kumimoji="0" lang="en-US" sz="1066" b="1" i="0" u="none" strike="noStrike" kern="1200" cap="none" spc="0" normalizeH="0" baseline="0" noProof="0" dirty="0">
                <a:ln>
                  <a:noFill/>
                </a:ln>
                <a:solidFill>
                  <a:srgbClr val="F59E0B"/>
                </a:solidFill>
                <a:effectLst/>
                <a:uLnTx/>
                <a:uFillTx/>
                <a:latin typeface="Calibri" panose="020F0502020204030204"/>
                <a:ea typeface="+mn-ea"/>
                <a:cs typeface="+mn-cs"/>
              </a:rPr>
              <a:t>⚠ </a:t>
            </a:r>
            <a:r>
              <a:rPr kumimoji="0" lang="en-US" sz="1066" b="0" i="0" u="none" strike="noStrike" kern="1200" cap="none" spc="0" normalizeH="0" baseline="0" noProof="0" dirty="0">
                <a:ln>
                  <a:noFill/>
                </a:ln>
                <a:solidFill>
                  <a:srgbClr val="8B8FA8"/>
                </a:solidFill>
                <a:effectLst/>
                <a:uLnTx/>
                <a:uFillTx/>
                <a:latin typeface="Calibri" pitchFamily="34" charset="0"/>
                <a:ea typeface="Calibri" pitchFamily="34" charset="-122"/>
                <a:cs typeface="Calibri" pitchFamily="34" charset="-120"/>
              </a:rPr>
              <a:t>Initial content was indistinguishable from vanilla ChatGPT</a:t>
            </a:r>
            <a:endParaRPr kumimoji="0" lang="en-US" sz="1066"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a:extLst>
              <a:ext uri="{FF2B5EF4-FFF2-40B4-BE49-F238E27FC236}">
                <a16:creationId xmlns:a16="http://schemas.microsoft.com/office/drawing/2014/main" id="{8927A63A-729F-E25A-6213-94A5345A0AB0}"/>
              </a:ext>
            </a:extLst>
          </p:cNvPr>
          <p:cNvSpPr/>
          <p:nvPr/>
        </p:nvSpPr>
        <p:spPr>
          <a:xfrm>
            <a:off x="719140" y="1987671"/>
            <a:ext cx="5180251" cy="414420"/>
          </a:xfrm>
          <a:prstGeom prst="rect">
            <a:avLst/>
          </a:prstGeom>
          <a:noFill/>
          <a:ln/>
        </p:spPr>
        <p:txBody>
          <a:bodyPr wrap="square" rtlCol="0" anchor="ctr"/>
          <a:lstStyle/>
          <a:p>
            <a:pPr marL="0" marR="0" lvl="0" indent="0" algn="l" defTabSz="1218895" rtl="0" eaLnBrk="1" fontAlgn="auto" latinLnBrk="0" hangingPunct="1">
              <a:lnSpc>
                <a:spcPct val="100000"/>
              </a:lnSpc>
              <a:spcBef>
                <a:spcPts val="0"/>
              </a:spcBef>
              <a:spcAft>
                <a:spcPts val="0"/>
              </a:spcAft>
              <a:buClrTx/>
              <a:buSzTx/>
              <a:buFontTx/>
              <a:buNone/>
              <a:tabLst/>
              <a:defRPr/>
            </a:pPr>
            <a:r>
              <a:rPr kumimoji="0" lang="en-US" sz="1066" b="1" i="0" u="none" strike="noStrike" kern="1200" cap="none" spc="0" normalizeH="0" baseline="0" noProof="0" dirty="0">
                <a:ln>
                  <a:noFill/>
                </a:ln>
                <a:solidFill>
                  <a:srgbClr val="00D4AA"/>
                </a:solidFill>
                <a:effectLst/>
                <a:uLnTx/>
                <a:uFillTx/>
                <a:latin typeface="Calibri" panose="020F0502020204030204"/>
                <a:ea typeface="+mn-ea"/>
                <a:cs typeface="+mn-cs"/>
              </a:rPr>
              <a:t>✓ </a:t>
            </a:r>
            <a:r>
              <a:rPr kumimoji="0" lang="en-US" sz="1066" b="0" i="0" u="none" strike="noStrike" kern="1200" cap="none" spc="0" normalizeH="0" baseline="0" noProof="0" dirty="0">
                <a:ln>
                  <a:noFill/>
                </a:ln>
                <a:solidFill>
                  <a:srgbClr val="C8CAD4"/>
                </a:solidFill>
                <a:effectLst/>
                <a:uLnTx/>
                <a:uFillTx/>
                <a:latin typeface="Calibri" pitchFamily="34" charset="0"/>
                <a:ea typeface="Calibri" pitchFamily="34" charset="-122"/>
                <a:cs typeface="Calibri" pitchFamily="34" charset="-120"/>
              </a:rPr>
              <a:t>Deep KB injection + few-shot style examples forced brand anchoring</a:t>
            </a:r>
            <a:endParaRPr kumimoji="0" lang="en-US" sz="1066"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a:extLst>
              <a:ext uri="{FF2B5EF4-FFF2-40B4-BE49-F238E27FC236}">
                <a16:creationId xmlns:a16="http://schemas.microsoft.com/office/drawing/2014/main" id="{299CD191-C54F-9D3F-BE2A-BF901FF33E9D}"/>
              </a:ext>
            </a:extLst>
          </p:cNvPr>
          <p:cNvSpPr/>
          <p:nvPr/>
        </p:nvSpPr>
        <p:spPr>
          <a:xfrm>
            <a:off x="548497" y="2572735"/>
            <a:ext cx="5424027" cy="1170127"/>
          </a:xfrm>
          <a:prstGeom prst="rect">
            <a:avLst/>
          </a:prstGeom>
          <a:solidFill>
            <a:srgbClr val="161B27"/>
          </a:solidFill>
          <a:ln w="12700">
            <a:solidFill>
              <a:srgbClr val="161B27"/>
            </a:solidFill>
            <a:prstDash val="solid"/>
          </a:ln>
        </p:spPr>
        <p:txBody>
          <a:bodyPr/>
          <a:lstStyle/>
          <a:p>
            <a:pPr marL="0" marR="0" lvl="0" indent="0" algn="l" defTabSz="1218895" rtl="0" eaLnBrk="1" fontAlgn="auto" latinLnBrk="0" hangingPunct="1">
              <a:lnSpc>
                <a:spcPct val="100000"/>
              </a:lnSpc>
              <a:spcBef>
                <a:spcPts val="0"/>
              </a:spcBef>
              <a:spcAft>
                <a:spcPts val="0"/>
              </a:spcAft>
              <a:buClrTx/>
              <a:buSzTx/>
              <a:buFontTx/>
              <a:buNone/>
              <a:tabLst/>
              <a:defRPr/>
            </a:pPr>
            <a:endParaRPr kumimoji="0" lang="en-DE" sz="2399"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8">
            <a:extLst>
              <a:ext uri="{FF2B5EF4-FFF2-40B4-BE49-F238E27FC236}">
                <a16:creationId xmlns:a16="http://schemas.microsoft.com/office/drawing/2014/main" id="{55167D47-43F1-0707-1547-950DC4C3E835}"/>
              </a:ext>
            </a:extLst>
          </p:cNvPr>
          <p:cNvSpPr/>
          <p:nvPr/>
        </p:nvSpPr>
        <p:spPr>
          <a:xfrm>
            <a:off x="548497" y="2572735"/>
            <a:ext cx="73133" cy="1170127"/>
          </a:xfrm>
          <a:prstGeom prst="rect">
            <a:avLst/>
          </a:prstGeom>
          <a:solidFill>
            <a:srgbClr val="A855F7"/>
          </a:solidFill>
          <a:ln w="12700">
            <a:solidFill>
              <a:srgbClr val="A855F7"/>
            </a:solidFill>
            <a:prstDash val="solid"/>
          </a:ln>
        </p:spPr>
        <p:txBody>
          <a:bodyPr/>
          <a:lstStyle/>
          <a:p>
            <a:pPr marL="0" marR="0" lvl="0" indent="0" algn="l" defTabSz="1218895" rtl="0" eaLnBrk="1" fontAlgn="auto" latinLnBrk="0" hangingPunct="1">
              <a:lnSpc>
                <a:spcPct val="100000"/>
              </a:lnSpc>
              <a:spcBef>
                <a:spcPts val="0"/>
              </a:spcBef>
              <a:spcAft>
                <a:spcPts val="0"/>
              </a:spcAft>
              <a:buClrTx/>
              <a:buSzTx/>
              <a:buFontTx/>
              <a:buNone/>
              <a:tabLst/>
              <a:defRPr/>
            </a:pPr>
            <a:endParaRPr kumimoji="0" lang="en-DE" sz="2399"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9">
            <a:extLst>
              <a:ext uri="{FF2B5EF4-FFF2-40B4-BE49-F238E27FC236}">
                <a16:creationId xmlns:a16="http://schemas.microsoft.com/office/drawing/2014/main" id="{49986035-3566-30CD-F03B-6AB39CD5DD6D}"/>
              </a:ext>
            </a:extLst>
          </p:cNvPr>
          <p:cNvSpPr/>
          <p:nvPr/>
        </p:nvSpPr>
        <p:spPr>
          <a:xfrm>
            <a:off x="719140" y="2645868"/>
            <a:ext cx="5180251" cy="268154"/>
          </a:xfrm>
          <a:prstGeom prst="rect">
            <a:avLst/>
          </a:prstGeom>
          <a:noFill/>
          <a:ln/>
        </p:spPr>
        <p:txBody>
          <a:bodyPr wrap="square" rtlCol="0" anchor="ctr"/>
          <a:lstStyle/>
          <a:p>
            <a:pPr marL="0" marR="0" lvl="0" indent="0" algn="l" defTabSz="1218895"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srgbClr val="A855F7"/>
                </a:solidFill>
                <a:effectLst/>
                <a:uLnTx/>
                <a:uFillTx/>
                <a:latin typeface="Calibri" pitchFamily="34" charset="0"/>
                <a:ea typeface="Calibri" pitchFamily="34" charset="-122"/>
                <a:cs typeface="Calibri" pitchFamily="34" charset="-120"/>
              </a:rPr>
              <a:t>EM Dash Overuse</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a:extLst>
              <a:ext uri="{FF2B5EF4-FFF2-40B4-BE49-F238E27FC236}">
                <a16:creationId xmlns:a16="http://schemas.microsoft.com/office/drawing/2014/main" id="{659EEC18-348C-2F0A-A2AA-D6E0DABBBFED}"/>
              </a:ext>
            </a:extLst>
          </p:cNvPr>
          <p:cNvSpPr/>
          <p:nvPr/>
        </p:nvSpPr>
        <p:spPr>
          <a:xfrm>
            <a:off x="719140" y="2938400"/>
            <a:ext cx="5180251" cy="316909"/>
          </a:xfrm>
          <a:prstGeom prst="rect">
            <a:avLst/>
          </a:prstGeom>
          <a:noFill/>
          <a:ln/>
        </p:spPr>
        <p:txBody>
          <a:bodyPr wrap="square" rtlCol="0" anchor="ctr"/>
          <a:lstStyle/>
          <a:p>
            <a:pPr marL="0" marR="0" lvl="0" indent="0" algn="l" defTabSz="1218895" rtl="0" eaLnBrk="1" fontAlgn="auto" latinLnBrk="0" hangingPunct="1">
              <a:lnSpc>
                <a:spcPct val="100000"/>
              </a:lnSpc>
              <a:spcBef>
                <a:spcPts val="0"/>
              </a:spcBef>
              <a:spcAft>
                <a:spcPts val="0"/>
              </a:spcAft>
              <a:buClrTx/>
              <a:buSzTx/>
              <a:buFontTx/>
              <a:buNone/>
              <a:tabLst/>
              <a:defRPr/>
            </a:pPr>
            <a:r>
              <a:rPr kumimoji="0" lang="en-US" sz="1066" b="1" i="0" u="none" strike="noStrike" kern="1200" cap="none" spc="0" normalizeH="0" baseline="0" noProof="0" dirty="0">
                <a:ln>
                  <a:noFill/>
                </a:ln>
                <a:solidFill>
                  <a:srgbClr val="F59E0B"/>
                </a:solidFill>
                <a:effectLst/>
                <a:uLnTx/>
                <a:uFillTx/>
                <a:latin typeface="Calibri" panose="020F0502020204030204"/>
                <a:ea typeface="+mn-ea"/>
                <a:cs typeface="+mn-cs"/>
              </a:rPr>
              <a:t>⚠ </a:t>
            </a:r>
            <a:r>
              <a:rPr kumimoji="0" lang="en-US" sz="1066" b="0" i="0" u="none" strike="noStrike" kern="1200" cap="none" spc="0" normalizeH="0" baseline="0" noProof="0" dirty="0">
                <a:ln>
                  <a:noFill/>
                </a:ln>
                <a:solidFill>
                  <a:srgbClr val="8B8FA8"/>
                </a:solidFill>
                <a:effectLst/>
                <a:uLnTx/>
                <a:uFillTx/>
                <a:latin typeface="Calibri" pitchFamily="34" charset="0"/>
                <a:ea typeface="Calibri" pitchFamily="34" charset="-122"/>
                <a:cs typeface="Calibri" pitchFamily="34" charset="-120"/>
              </a:rPr>
              <a:t>LLMs default to em-dashes — a clear AI-writing signal</a:t>
            </a:r>
            <a:endParaRPr kumimoji="0" lang="en-US" sz="1066"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a:extLst>
              <a:ext uri="{FF2B5EF4-FFF2-40B4-BE49-F238E27FC236}">
                <a16:creationId xmlns:a16="http://schemas.microsoft.com/office/drawing/2014/main" id="{FA71E496-5701-CE46-4EA7-1B0C94287FA8}"/>
              </a:ext>
            </a:extLst>
          </p:cNvPr>
          <p:cNvSpPr/>
          <p:nvPr/>
        </p:nvSpPr>
        <p:spPr>
          <a:xfrm>
            <a:off x="719140" y="3279687"/>
            <a:ext cx="5180251" cy="414420"/>
          </a:xfrm>
          <a:prstGeom prst="rect">
            <a:avLst/>
          </a:prstGeom>
          <a:noFill/>
          <a:ln/>
        </p:spPr>
        <p:txBody>
          <a:bodyPr wrap="square" rtlCol="0" anchor="ctr"/>
          <a:lstStyle/>
          <a:p>
            <a:pPr marL="0" marR="0" lvl="0" indent="0" algn="l" defTabSz="1218895" rtl="0" eaLnBrk="1" fontAlgn="auto" latinLnBrk="0" hangingPunct="1">
              <a:lnSpc>
                <a:spcPct val="100000"/>
              </a:lnSpc>
              <a:spcBef>
                <a:spcPts val="0"/>
              </a:spcBef>
              <a:spcAft>
                <a:spcPts val="0"/>
              </a:spcAft>
              <a:buClrTx/>
              <a:buSzTx/>
              <a:buFontTx/>
              <a:buNone/>
              <a:tabLst/>
              <a:defRPr/>
            </a:pPr>
            <a:r>
              <a:rPr kumimoji="0" lang="en-US" sz="1066" b="1" i="0" u="none" strike="noStrike" kern="1200" cap="none" spc="0" normalizeH="0" baseline="0" noProof="0" dirty="0">
                <a:ln>
                  <a:noFill/>
                </a:ln>
                <a:solidFill>
                  <a:srgbClr val="00D4AA"/>
                </a:solidFill>
                <a:effectLst/>
                <a:uLnTx/>
                <a:uFillTx/>
                <a:latin typeface="Calibri" panose="020F0502020204030204"/>
                <a:ea typeface="+mn-ea"/>
                <a:cs typeface="+mn-cs"/>
              </a:rPr>
              <a:t>✓ </a:t>
            </a:r>
            <a:r>
              <a:rPr kumimoji="0" lang="en-US" sz="1066" b="0" i="0" u="none" strike="noStrike" kern="1200" cap="none" spc="0" normalizeH="0" baseline="0" noProof="0" dirty="0">
                <a:ln>
                  <a:noFill/>
                </a:ln>
                <a:solidFill>
                  <a:srgbClr val="C8CAD4"/>
                </a:solidFill>
                <a:effectLst/>
                <a:uLnTx/>
                <a:uFillTx/>
                <a:latin typeface="Calibri" pitchFamily="34" charset="0"/>
                <a:ea typeface="Calibri" pitchFamily="34" charset="-122"/>
                <a:cs typeface="Calibri" pitchFamily="34" charset="-120"/>
              </a:rPr>
              <a:t>Added NO_EM_DASH_RULE to all system prompts; verified across 10+ outputs</a:t>
            </a:r>
            <a:endParaRPr kumimoji="0" lang="en-US" sz="1066"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a:extLst>
              <a:ext uri="{FF2B5EF4-FFF2-40B4-BE49-F238E27FC236}">
                <a16:creationId xmlns:a16="http://schemas.microsoft.com/office/drawing/2014/main" id="{87E5A380-DB17-67D0-E614-713478D6681D}"/>
              </a:ext>
            </a:extLst>
          </p:cNvPr>
          <p:cNvSpPr/>
          <p:nvPr/>
        </p:nvSpPr>
        <p:spPr>
          <a:xfrm>
            <a:off x="548497" y="3864751"/>
            <a:ext cx="5424027" cy="1170127"/>
          </a:xfrm>
          <a:prstGeom prst="rect">
            <a:avLst/>
          </a:prstGeom>
          <a:solidFill>
            <a:srgbClr val="161B27"/>
          </a:solidFill>
          <a:ln w="12700">
            <a:solidFill>
              <a:srgbClr val="161B27"/>
            </a:solidFill>
            <a:prstDash val="solid"/>
          </a:ln>
        </p:spPr>
        <p:txBody>
          <a:bodyPr/>
          <a:lstStyle/>
          <a:p>
            <a:pPr marL="0" marR="0" lvl="0" indent="0" algn="l" defTabSz="1218895" rtl="0" eaLnBrk="1" fontAlgn="auto" latinLnBrk="0" hangingPunct="1">
              <a:lnSpc>
                <a:spcPct val="100000"/>
              </a:lnSpc>
              <a:spcBef>
                <a:spcPts val="0"/>
              </a:spcBef>
              <a:spcAft>
                <a:spcPts val="0"/>
              </a:spcAft>
              <a:buClrTx/>
              <a:buSzTx/>
              <a:buFontTx/>
              <a:buNone/>
              <a:tabLst/>
              <a:defRPr/>
            </a:pPr>
            <a:endParaRPr kumimoji="0" lang="en-DE" sz="2399"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3">
            <a:extLst>
              <a:ext uri="{FF2B5EF4-FFF2-40B4-BE49-F238E27FC236}">
                <a16:creationId xmlns:a16="http://schemas.microsoft.com/office/drawing/2014/main" id="{DA041F3C-43D1-1431-10B0-48180A0DF806}"/>
              </a:ext>
            </a:extLst>
          </p:cNvPr>
          <p:cNvSpPr/>
          <p:nvPr/>
        </p:nvSpPr>
        <p:spPr>
          <a:xfrm>
            <a:off x="548497" y="3864751"/>
            <a:ext cx="73133" cy="1170127"/>
          </a:xfrm>
          <a:prstGeom prst="rect">
            <a:avLst/>
          </a:prstGeom>
          <a:solidFill>
            <a:srgbClr val="F97316"/>
          </a:solidFill>
          <a:ln w="12700">
            <a:solidFill>
              <a:srgbClr val="F97316"/>
            </a:solidFill>
            <a:prstDash val="solid"/>
          </a:ln>
        </p:spPr>
        <p:txBody>
          <a:bodyPr/>
          <a:lstStyle/>
          <a:p>
            <a:pPr marL="0" marR="0" lvl="0" indent="0" algn="l" defTabSz="1218895" rtl="0" eaLnBrk="1" fontAlgn="auto" latinLnBrk="0" hangingPunct="1">
              <a:lnSpc>
                <a:spcPct val="100000"/>
              </a:lnSpc>
              <a:spcBef>
                <a:spcPts val="0"/>
              </a:spcBef>
              <a:spcAft>
                <a:spcPts val="0"/>
              </a:spcAft>
              <a:buClrTx/>
              <a:buSzTx/>
              <a:buFontTx/>
              <a:buNone/>
              <a:tabLst/>
              <a:defRPr/>
            </a:pPr>
            <a:endParaRPr kumimoji="0" lang="en-DE" sz="2399"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a:extLst>
              <a:ext uri="{FF2B5EF4-FFF2-40B4-BE49-F238E27FC236}">
                <a16:creationId xmlns:a16="http://schemas.microsoft.com/office/drawing/2014/main" id="{165E9352-D713-2EE5-9F45-2902BF12C2E0}"/>
              </a:ext>
            </a:extLst>
          </p:cNvPr>
          <p:cNvSpPr/>
          <p:nvPr/>
        </p:nvSpPr>
        <p:spPr>
          <a:xfrm>
            <a:off x="719140" y="3937884"/>
            <a:ext cx="5180251" cy="268154"/>
          </a:xfrm>
          <a:prstGeom prst="rect">
            <a:avLst/>
          </a:prstGeom>
          <a:noFill/>
          <a:ln/>
        </p:spPr>
        <p:txBody>
          <a:bodyPr wrap="square" rtlCol="0" anchor="ctr"/>
          <a:lstStyle/>
          <a:p>
            <a:pPr marL="0" marR="0" lvl="0" indent="0" algn="l" defTabSz="1218895"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srgbClr val="F97316"/>
                </a:solidFill>
                <a:effectLst/>
                <a:uLnTx/>
                <a:uFillTx/>
                <a:latin typeface="Calibri" pitchFamily="34" charset="0"/>
                <a:ea typeface="Calibri" pitchFamily="34" charset="-122"/>
                <a:cs typeface="Calibri" pitchFamily="34" charset="-120"/>
              </a:rPr>
              <a:t>Shallow Content</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a:extLst>
              <a:ext uri="{FF2B5EF4-FFF2-40B4-BE49-F238E27FC236}">
                <a16:creationId xmlns:a16="http://schemas.microsoft.com/office/drawing/2014/main" id="{C7E10E55-21DA-F6C1-8B06-9E2801B00D1A}"/>
              </a:ext>
            </a:extLst>
          </p:cNvPr>
          <p:cNvSpPr/>
          <p:nvPr/>
        </p:nvSpPr>
        <p:spPr>
          <a:xfrm>
            <a:off x="719140" y="4230415"/>
            <a:ext cx="5180251" cy="316909"/>
          </a:xfrm>
          <a:prstGeom prst="rect">
            <a:avLst/>
          </a:prstGeom>
          <a:noFill/>
          <a:ln/>
        </p:spPr>
        <p:txBody>
          <a:bodyPr wrap="square" rtlCol="0" anchor="ctr"/>
          <a:lstStyle/>
          <a:p>
            <a:pPr marL="0" marR="0" lvl="0" indent="0" algn="l" defTabSz="1218895" rtl="0" eaLnBrk="1" fontAlgn="auto" latinLnBrk="0" hangingPunct="1">
              <a:lnSpc>
                <a:spcPct val="100000"/>
              </a:lnSpc>
              <a:spcBef>
                <a:spcPts val="0"/>
              </a:spcBef>
              <a:spcAft>
                <a:spcPts val="0"/>
              </a:spcAft>
              <a:buClrTx/>
              <a:buSzTx/>
              <a:buFontTx/>
              <a:buNone/>
              <a:tabLst/>
              <a:defRPr/>
            </a:pPr>
            <a:r>
              <a:rPr kumimoji="0" lang="en-US" sz="1066" b="1" i="0" u="none" strike="noStrike" kern="1200" cap="none" spc="0" normalizeH="0" baseline="0" noProof="0" dirty="0">
                <a:ln>
                  <a:noFill/>
                </a:ln>
                <a:solidFill>
                  <a:srgbClr val="F59E0B"/>
                </a:solidFill>
                <a:effectLst/>
                <a:uLnTx/>
                <a:uFillTx/>
                <a:latin typeface="Calibri" panose="020F0502020204030204"/>
                <a:ea typeface="+mn-ea"/>
                <a:cs typeface="+mn-cs"/>
              </a:rPr>
              <a:t>⚠ </a:t>
            </a:r>
            <a:r>
              <a:rPr kumimoji="0" lang="en-US" sz="1066" b="0" i="0" u="none" strike="noStrike" kern="1200" cap="none" spc="0" normalizeH="0" baseline="0" noProof="0" dirty="0">
                <a:ln>
                  <a:noFill/>
                </a:ln>
                <a:solidFill>
                  <a:srgbClr val="8B8FA8"/>
                </a:solidFill>
                <a:effectLst/>
                <a:uLnTx/>
                <a:uFillTx/>
                <a:latin typeface="Calibri" pitchFamily="34" charset="0"/>
                <a:ea typeface="Calibri" pitchFamily="34" charset="-122"/>
                <a:cs typeface="Calibri" pitchFamily="34" charset="-120"/>
              </a:rPr>
              <a:t>Single-step prompts lacked strategic angle or hook</a:t>
            </a:r>
            <a:endParaRPr kumimoji="0" lang="en-US" sz="1066"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a:extLst>
              <a:ext uri="{FF2B5EF4-FFF2-40B4-BE49-F238E27FC236}">
                <a16:creationId xmlns:a16="http://schemas.microsoft.com/office/drawing/2014/main" id="{61D3DB8A-6B09-A27E-E724-720BB325B845}"/>
              </a:ext>
            </a:extLst>
          </p:cNvPr>
          <p:cNvSpPr/>
          <p:nvPr/>
        </p:nvSpPr>
        <p:spPr>
          <a:xfrm>
            <a:off x="719140" y="4571702"/>
            <a:ext cx="5180251" cy="414420"/>
          </a:xfrm>
          <a:prstGeom prst="rect">
            <a:avLst/>
          </a:prstGeom>
          <a:noFill/>
          <a:ln/>
        </p:spPr>
        <p:txBody>
          <a:bodyPr wrap="square" rtlCol="0" anchor="ctr"/>
          <a:lstStyle/>
          <a:p>
            <a:pPr marL="0" marR="0" lvl="0" indent="0" algn="l" defTabSz="1218895" rtl="0" eaLnBrk="1" fontAlgn="auto" latinLnBrk="0" hangingPunct="1">
              <a:lnSpc>
                <a:spcPct val="100000"/>
              </a:lnSpc>
              <a:spcBef>
                <a:spcPts val="0"/>
              </a:spcBef>
              <a:spcAft>
                <a:spcPts val="0"/>
              </a:spcAft>
              <a:buClrTx/>
              <a:buSzTx/>
              <a:buFontTx/>
              <a:buNone/>
              <a:tabLst/>
              <a:defRPr/>
            </a:pPr>
            <a:r>
              <a:rPr kumimoji="0" lang="en-US" sz="1066" b="1" i="0" u="none" strike="noStrike" kern="1200" cap="none" spc="0" normalizeH="0" baseline="0" noProof="0" dirty="0">
                <a:ln>
                  <a:noFill/>
                </a:ln>
                <a:solidFill>
                  <a:srgbClr val="00D4AA"/>
                </a:solidFill>
                <a:effectLst/>
                <a:uLnTx/>
                <a:uFillTx/>
                <a:latin typeface="Calibri" panose="020F0502020204030204"/>
                <a:ea typeface="+mn-ea"/>
                <a:cs typeface="+mn-cs"/>
              </a:rPr>
              <a:t>✓ </a:t>
            </a:r>
            <a:r>
              <a:rPr kumimoji="0" lang="en-US" sz="1066" b="0" i="0" u="none" strike="noStrike" kern="1200" cap="none" spc="0" normalizeH="0" baseline="0" noProof="0" dirty="0">
                <a:ln>
                  <a:noFill/>
                </a:ln>
                <a:solidFill>
                  <a:srgbClr val="C8CAD4"/>
                </a:solidFill>
                <a:effectLst/>
                <a:uLnTx/>
                <a:uFillTx/>
                <a:latin typeface="Calibri" pitchFamily="34" charset="0"/>
                <a:ea typeface="Calibri" pitchFamily="34" charset="-122"/>
                <a:cs typeface="Calibri" pitchFamily="34" charset="-120"/>
              </a:rPr>
              <a:t>Added BRIEF stage before PUBLISH to force angle + insight first</a:t>
            </a:r>
            <a:endParaRPr kumimoji="0" lang="en-US" sz="1066"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a:extLst>
              <a:ext uri="{FF2B5EF4-FFF2-40B4-BE49-F238E27FC236}">
                <a16:creationId xmlns:a16="http://schemas.microsoft.com/office/drawing/2014/main" id="{6A1169A9-9FAB-48CA-C218-450CB80B0317}"/>
              </a:ext>
            </a:extLst>
          </p:cNvPr>
          <p:cNvSpPr/>
          <p:nvPr/>
        </p:nvSpPr>
        <p:spPr>
          <a:xfrm>
            <a:off x="548497" y="5156766"/>
            <a:ext cx="5424027" cy="1170127"/>
          </a:xfrm>
          <a:prstGeom prst="rect">
            <a:avLst/>
          </a:prstGeom>
          <a:solidFill>
            <a:srgbClr val="161B27"/>
          </a:solidFill>
          <a:ln w="12700">
            <a:solidFill>
              <a:srgbClr val="161B27"/>
            </a:solidFill>
            <a:prstDash val="solid"/>
          </a:ln>
        </p:spPr>
        <p:txBody>
          <a:bodyPr/>
          <a:lstStyle/>
          <a:p>
            <a:pPr marL="0" marR="0" lvl="0" indent="0" algn="l" defTabSz="1218895" rtl="0" eaLnBrk="1" fontAlgn="auto" latinLnBrk="0" hangingPunct="1">
              <a:lnSpc>
                <a:spcPct val="100000"/>
              </a:lnSpc>
              <a:spcBef>
                <a:spcPts val="0"/>
              </a:spcBef>
              <a:spcAft>
                <a:spcPts val="0"/>
              </a:spcAft>
              <a:buClrTx/>
              <a:buSzTx/>
              <a:buFontTx/>
              <a:buNone/>
              <a:tabLst/>
              <a:defRPr/>
            </a:pPr>
            <a:endParaRPr kumimoji="0" lang="en-DE" sz="2399"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8">
            <a:extLst>
              <a:ext uri="{FF2B5EF4-FFF2-40B4-BE49-F238E27FC236}">
                <a16:creationId xmlns:a16="http://schemas.microsoft.com/office/drawing/2014/main" id="{3DA33CD4-87F0-3562-E342-DFC5352F2A00}"/>
              </a:ext>
            </a:extLst>
          </p:cNvPr>
          <p:cNvSpPr/>
          <p:nvPr/>
        </p:nvSpPr>
        <p:spPr>
          <a:xfrm>
            <a:off x="548497" y="5156766"/>
            <a:ext cx="73133" cy="1170127"/>
          </a:xfrm>
          <a:prstGeom prst="rect">
            <a:avLst/>
          </a:prstGeom>
          <a:solidFill>
            <a:srgbClr val="EAB308"/>
          </a:solidFill>
          <a:ln w="12700">
            <a:solidFill>
              <a:srgbClr val="EAB308"/>
            </a:solidFill>
            <a:prstDash val="solid"/>
          </a:ln>
        </p:spPr>
        <p:txBody>
          <a:bodyPr/>
          <a:lstStyle/>
          <a:p>
            <a:pPr marL="0" marR="0" lvl="0" indent="0" algn="l" defTabSz="1218895" rtl="0" eaLnBrk="1" fontAlgn="auto" latinLnBrk="0" hangingPunct="1">
              <a:lnSpc>
                <a:spcPct val="100000"/>
              </a:lnSpc>
              <a:spcBef>
                <a:spcPts val="0"/>
              </a:spcBef>
              <a:spcAft>
                <a:spcPts val="0"/>
              </a:spcAft>
              <a:buClrTx/>
              <a:buSzTx/>
              <a:buFontTx/>
              <a:buNone/>
              <a:tabLst/>
              <a:defRPr/>
            </a:pPr>
            <a:endParaRPr kumimoji="0" lang="en-DE" sz="2399"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19">
            <a:extLst>
              <a:ext uri="{FF2B5EF4-FFF2-40B4-BE49-F238E27FC236}">
                <a16:creationId xmlns:a16="http://schemas.microsoft.com/office/drawing/2014/main" id="{4CF27AD3-15C6-7EFA-084E-FCEBF355BDC9}"/>
              </a:ext>
            </a:extLst>
          </p:cNvPr>
          <p:cNvSpPr/>
          <p:nvPr/>
        </p:nvSpPr>
        <p:spPr>
          <a:xfrm>
            <a:off x="719140" y="5229899"/>
            <a:ext cx="5180251" cy="268154"/>
          </a:xfrm>
          <a:prstGeom prst="rect">
            <a:avLst/>
          </a:prstGeom>
          <a:noFill/>
          <a:ln/>
        </p:spPr>
        <p:txBody>
          <a:bodyPr wrap="square" rtlCol="0" anchor="ctr"/>
          <a:lstStyle/>
          <a:p>
            <a:pPr marL="0" marR="0" lvl="0" indent="0" algn="l" defTabSz="1218895"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srgbClr val="EAB308"/>
                </a:solidFill>
                <a:effectLst/>
                <a:uLnTx/>
                <a:uFillTx/>
                <a:latin typeface="Calibri" pitchFamily="34" charset="0"/>
                <a:ea typeface="Calibri" pitchFamily="34" charset="-122"/>
                <a:cs typeface="Calibri" pitchFamily="34" charset="-120"/>
              </a:rPr>
              <a:t>Voice Leakage</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a:extLst>
              <a:ext uri="{FF2B5EF4-FFF2-40B4-BE49-F238E27FC236}">
                <a16:creationId xmlns:a16="http://schemas.microsoft.com/office/drawing/2014/main" id="{B79515B8-E681-5849-EACB-51A15675717D}"/>
              </a:ext>
            </a:extLst>
          </p:cNvPr>
          <p:cNvSpPr/>
          <p:nvPr/>
        </p:nvSpPr>
        <p:spPr>
          <a:xfrm>
            <a:off x="719140" y="5522431"/>
            <a:ext cx="5180251" cy="316909"/>
          </a:xfrm>
          <a:prstGeom prst="rect">
            <a:avLst/>
          </a:prstGeom>
          <a:noFill/>
          <a:ln/>
        </p:spPr>
        <p:txBody>
          <a:bodyPr wrap="square" rtlCol="0" anchor="ctr"/>
          <a:lstStyle/>
          <a:p>
            <a:pPr marL="0" marR="0" lvl="0" indent="0" algn="l" defTabSz="1218895" rtl="0" eaLnBrk="1" fontAlgn="auto" latinLnBrk="0" hangingPunct="1">
              <a:lnSpc>
                <a:spcPct val="100000"/>
              </a:lnSpc>
              <a:spcBef>
                <a:spcPts val="0"/>
              </a:spcBef>
              <a:spcAft>
                <a:spcPts val="0"/>
              </a:spcAft>
              <a:buClrTx/>
              <a:buSzTx/>
              <a:buFontTx/>
              <a:buNone/>
              <a:tabLst/>
              <a:defRPr/>
            </a:pPr>
            <a:r>
              <a:rPr kumimoji="0" lang="en-US" sz="1066" b="1" i="0" u="none" strike="noStrike" kern="1200" cap="none" spc="0" normalizeH="0" baseline="0" noProof="0" dirty="0">
                <a:ln>
                  <a:noFill/>
                </a:ln>
                <a:solidFill>
                  <a:srgbClr val="F59E0B"/>
                </a:solidFill>
                <a:effectLst/>
                <a:uLnTx/>
                <a:uFillTx/>
                <a:latin typeface="Calibri" panose="020F0502020204030204"/>
                <a:ea typeface="+mn-ea"/>
                <a:cs typeface="+mn-cs"/>
              </a:rPr>
              <a:t>⚠ </a:t>
            </a:r>
            <a:r>
              <a:rPr kumimoji="0" lang="en-US" sz="1066" b="0" i="0" u="none" strike="noStrike" kern="1200" cap="none" spc="0" normalizeH="0" baseline="0" noProof="0" dirty="0">
                <a:ln>
                  <a:noFill/>
                </a:ln>
                <a:solidFill>
                  <a:srgbClr val="8B8FA8"/>
                </a:solidFill>
                <a:effectLst/>
                <a:uLnTx/>
                <a:uFillTx/>
                <a:latin typeface="Calibri" pitchFamily="34" charset="0"/>
                <a:ea typeface="Calibri" pitchFamily="34" charset="-122"/>
                <a:cs typeface="Calibri" pitchFamily="34" charset="-120"/>
              </a:rPr>
              <a:t>Blog tone bled into Instagram; LinkedIn felt too casual</a:t>
            </a:r>
            <a:endParaRPr kumimoji="0" lang="en-US" sz="1066"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a:extLst>
              <a:ext uri="{FF2B5EF4-FFF2-40B4-BE49-F238E27FC236}">
                <a16:creationId xmlns:a16="http://schemas.microsoft.com/office/drawing/2014/main" id="{71E6FF86-5B7F-7C04-ACC5-8915B9D70268}"/>
              </a:ext>
            </a:extLst>
          </p:cNvPr>
          <p:cNvSpPr/>
          <p:nvPr/>
        </p:nvSpPr>
        <p:spPr>
          <a:xfrm>
            <a:off x="719140" y="5863718"/>
            <a:ext cx="5180251" cy="414420"/>
          </a:xfrm>
          <a:prstGeom prst="rect">
            <a:avLst/>
          </a:prstGeom>
          <a:noFill/>
          <a:ln/>
        </p:spPr>
        <p:txBody>
          <a:bodyPr wrap="square" rtlCol="0" anchor="ctr"/>
          <a:lstStyle/>
          <a:p>
            <a:pPr marL="0" marR="0" lvl="0" indent="0" algn="l" defTabSz="1218895" rtl="0" eaLnBrk="1" fontAlgn="auto" latinLnBrk="0" hangingPunct="1">
              <a:lnSpc>
                <a:spcPct val="100000"/>
              </a:lnSpc>
              <a:spcBef>
                <a:spcPts val="0"/>
              </a:spcBef>
              <a:spcAft>
                <a:spcPts val="0"/>
              </a:spcAft>
              <a:buClrTx/>
              <a:buSzTx/>
              <a:buFontTx/>
              <a:buNone/>
              <a:tabLst/>
              <a:defRPr/>
            </a:pPr>
            <a:r>
              <a:rPr kumimoji="0" lang="en-US" sz="1066" b="1" i="0" u="none" strike="noStrike" kern="1200" cap="none" spc="0" normalizeH="0" baseline="0" noProof="0" dirty="0">
                <a:ln>
                  <a:noFill/>
                </a:ln>
                <a:solidFill>
                  <a:srgbClr val="00D4AA"/>
                </a:solidFill>
                <a:effectLst/>
                <a:uLnTx/>
                <a:uFillTx/>
                <a:latin typeface="Calibri" panose="020F0502020204030204"/>
                <a:ea typeface="+mn-ea"/>
                <a:cs typeface="+mn-cs"/>
              </a:rPr>
              <a:t>✓ </a:t>
            </a:r>
            <a:r>
              <a:rPr kumimoji="0" lang="en-US" sz="1066" b="0" i="0" u="none" strike="noStrike" kern="1200" cap="none" spc="0" normalizeH="0" baseline="0" noProof="0" dirty="0">
                <a:ln>
                  <a:noFill/>
                </a:ln>
                <a:solidFill>
                  <a:srgbClr val="C8CAD4"/>
                </a:solidFill>
                <a:effectLst/>
                <a:uLnTx/>
                <a:uFillTx/>
                <a:latin typeface="Calibri" pitchFamily="34" charset="0"/>
                <a:ea typeface="Calibri" pitchFamily="34" charset="-122"/>
                <a:cs typeface="Calibri" pitchFamily="34" charset="-120"/>
              </a:rPr>
              <a:t>Built separate prompt builders per channel with strict tone/structure rules</a:t>
            </a:r>
            <a:endParaRPr kumimoji="0" lang="en-US" sz="1066"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22">
            <a:extLst>
              <a:ext uri="{FF2B5EF4-FFF2-40B4-BE49-F238E27FC236}">
                <a16:creationId xmlns:a16="http://schemas.microsoft.com/office/drawing/2014/main" id="{852C6473-F0E5-473C-4E21-5F79F33E11C1}"/>
              </a:ext>
            </a:extLst>
          </p:cNvPr>
          <p:cNvSpPr/>
          <p:nvPr/>
        </p:nvSpPr>
        <p:spPr>
          <a:xfrm>
            <a:off x="548497" y="6448781"/>
            <a:ext cx="5424027" cy="511931"/>
          </a:xfrm>
          <a:prstGeom prst="rect">
            <a:avLst/>
          </a:prstGeom>
          <a:solidFill>
            <a:srgbClr val="0F2A1E"/>
          </a:solidFill>
          <a:ln w="12700">
            <a:solidFill>
              <a:srgbClr val="00D4AA"/>
            </a:solidFill>
            <a:prstDash val="solid"/>
          </a:ln>
        </p:spPr>
        <p:txBody>
          <a:bodyPr/>
          <a:lstStyle/>
          <a:p>
            <a:pPr marL="0" marR="0" lvl="0" indent="0" algn="l" defTabSz="1218895" rtl="0" eaLnBrk="1" fontAlgn="auto" latinLnBrk="0" hangingPunct="1">
              <a:lnSpc>
                <a:spcPct val="100000"/>
              </a:lnSpc>
              <a:spcBef>
                <a:spcPts val="0"/>
              </a:spcBef>
              <a:spcAft>
                <a:spcPts val="0"/>
              </a:spcAft>
              <a:buClrTx/>
              <a:buSzTx/>
              <a:buFontTx/>
              <a:buNone/>
              <a:tabLst/>
              <a:defRPr/>
            </a:pPr>
            <a:endParaRPr kumimoji="0" lang="en-DE" sz="2399"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Text 23">
            <a:extLst>
              <a:ext uri="{FF2B5EF4-FFF2-40B4-BE49-F238E27FC236}">
                <a16:creationId xmlns:a16="http://schemas.microsoft.com/office/drawing/2014/main" id="{7D08B315-38C9-AB63-3FB3-296BE93F5E78}"/>
              </a:ext>
            </a:extLst>
          </p:cNvPr>
          <p:cNvSpPr/>
          <p:nvPr/>
        </p:nvSpPr>
        <p:spPr>
          <a:xfrm>
            <a:off x="731329" y="6473159"/>
            <a:ext cx="5119307" cy="463175"/>
          </a:xfrm>
          <a:prstGeom prst="rect">
            <a:avLst/>
          </a:prstGeom>
          <a:noFill/>
          <a:ln/>
        </p:spPr>
        <p:txBody>
          <a:bodyPr wrap="square" rtlCol="0" anchor="ctr"/>
          <a:lstStyle/>
          <a:p>
            <a:pPr marL="0" marR="0" lvl="0" indent="0" algn="l" defTabSz="1218895" rtl="0" eaLnBrk="1" fontAlgn="auto" latinLnBrk="0" hangingPunct="1">
              <a:lnSpc>
                <a:spcPct val="100000"/>
              </a:lnSpc>
              <a:spcBef>
                <a:spcPts val="0"/>
              </a:spcBef>
              <a:spcAft>
                <a:spcPts val="0"/>
              </a:spcAft>
              <a:buClrTx/>
              <a:buSzTx/>
              <a:buFontTx/>
              <a:buNone/>
              <a:tabLst/>
              <a:defRPr/>
            </a:pPr>
            <a:r>
              <a:rPr kumimoji="0" lang="en-US" sz="1133" b="1" i="0" u="none" strike="noStrike" kern="1200" cap="none" spc="0" normalizeH="0" baseline="0" noProof="0" dirty="0">
                <a:ln>
                  <a:noFill/>
                </a:ln>
                <a:solidFill>
                  <a:srgbClr val="00D4AA"/>
                </a:solidFill>
                <a:effectLst/>
                <a:uLnTx/>
                <a:uFillTx/>
                <a:latin typeface="Calibri" pitchFamily="34" charset="0"/>
                <a:ea typeface="Calibri" pitchFamily="34" charset="-122"/>
                <a:cs typeface="Calibri" pitchFamily="34" charset="-120"/>
              </a:rPr>
              <a:t>Key Learning: </a:t>
            </a:r>
            <a:r>
              <a:rPr kumimoji="0" lang="en-US" sz="1133" b="0" i="0" u="none" strike="noStrike" kern="1200" cap="none" spc="0" normalizeH="0" baseline="0" noProof="0" dirty="0">
                <a:ln>
                  <a:noFill/>
                </a:ln>
                <a:solidFill>
                  <a:srgbClr val="C8CAD4"/>
                </a:solidFill>
                <a:effectLst/>
                <a:uLnTx/>
                <a:uFillTx/>
                <a:latin typeface="Calibri" pitchFamily="34" charset="0"/>
                <a:ea typeface="Calibri" pitchFamily="34" charset="-122"/>
                <a:cs typeface="Calibri" pitchFamily="34" charset="-120"/>
              </a:rPr>
              <a:t>Uniqueness comes from specific CONTEXT, not better prompts. Depth of knowledge base = depth of content differentiation.</a:t>
            </a:r>
            <a:endParaRPr kumimoji="0" lang="en-US" sz="11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4">
            <a:extLst>
              <a:ext uri="{FF2B5EF4-FFF2-40B4-BE49-F238E27FC236}">
                <a16:creationId xmlns:a16="http://schemas.microsoft.com/office/drawing/2014/main" id="{B91A4365-33A6-E5A7-A15F-F6DD45C574CE}"/>
              </a:ext>
            </a:extLst>
          </p:cNvPr>
          <p:cNvSpPr/>
          <p:nvPr/>
        </p:nvSpPr>
        <p:spPr>
          <a:xfrm>
            <a:off x="6216300" y="1280720"/>
            <a:ext cx="5911580" cy="1316393"/>
          </a:xfrm>
          <a:prstGeom prst="rect">
            <a:avLst/>
          </a:prstGeom>
          <a:solidFill>
            <a:srgbClr val="161B27"/>
          </a:solidFill>
          <a:ln w="12700">
            <a:solidFill>
              <a:srgbClr val="161B27"/>
            </a:solidFill>
            <a:prstDash val="solid"/>
          </a:ln>
        </p:spPr>
        <p:txBody>
          <a:bodyPr/>
          <a:lstStyle/>
          <a:p>
            <a:pPr marL="0" marR="0" lvl="0" indent="0" algn="l" defTabSz="1218895" rtl="0" eaLnBrk="1" fontAlgn="auto" latinLnBrk="0" hangingPunct="1">
              <a:lnSpc>
                <a:spcPct val="100000"/>
              </a:lnSpc>
              <a:spcBef>
                <a:spcPts val="0"/>
              </a:spcBef>
              <a:spcAft>
                <a:spcPts val="0"/>
              </a:spcAft>
              <a:buClrTx/>
              <a:buSzTx/>
              <a:buFontTx/>
              <a:buNone/>
              <a:tabLst/>
              <a:defRPr/>
            </a:pPr>
            <a:endParaRPr kumimoji="0" lang="en-DE" sz="2399"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Shape 25">
            <a:extLst>
              <a:ext uri="{FF2B5EF4-FFF2-40B4-BE49-F238E27FC236}">
                <a16:creationId xmlns:a16="http://schemas.microsoft.com/office/drawing/2014/main" id="{9B2696D1-C8D9-38C1-CCD9-B5F4A85598EE}"/>
              </a:ext>
            </a:extLst>
          </p:cNvPr>
          <p:cNvSpPr/>
          <p:nvPr/>
        </p:nvSpPr>
        <p:spPr>
          <a:xfrm>
            <a:off x="6216300" y="1280720"/>
            <a:ext cx="73133" cy="1316393"/>
          </a:xfrm>
          <a:prstGeom prst="rect">
            <a:avLst/>
          </a:prstGeom>
          <a:solidFill>
            <a:srgbClr val="00D4AA"/>
          </a:solidFill>
          <a:ln w="12700">
            <a:solidFill>
              <a:srgbClr val="00D4AA"/>
            </a:solidFill>
            <a:prstDash val="solid"/>
          </a:ln>
        </p:spPr>
        <p:txBody>
          <a:bodyPr/>
          <a:lstStyle/>
          <a:p>
            <a:pPr marL="0" marR="0" lvl="0" indent="0" algn="l" defTabSz="1218895" rtl="0" eaLnBrk="1" fontAlgn="auto" latinLnBrk="0" hangingPunct="1">
              <a:lnSpc>
                <a:spcPct val="100000"/>
              </a:lnSpc>
              <a:spcBef>
                <a:spcPts val="0"/>
              </a:spcBef>
              <a:spcAft>
                <a:spcPts val="0"/>
              </a:spcAft>
              <a:buClrTx/>
              <a:buSzTx/>
              <a:buFontTx/>
              <a:buNone/>
              <a:tabLst/>
              <a:defRPr/>
            </a:pPr>
            <a:endParaRPr kumimoji="0" lang="en-DE" sz="2399"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6">
            <a:extLst>
              <a:ext uri="{FF2B5EF4-FFF2-40B4-BE49-F238E27FC236}">
                <a16:creationId xmlns:a16="http://schemas.microsoft.com/office/drawing/2014/main" id="{ADE35A83-64DB-E022-307D-1B6BCC32B512}"/>
              </a:ext>
            </a:extLst>
          </p:cNvPr>
          <p:cNvSpPr/>
          <p:nvPr/>
        </p:nvSpPr>
        <p:spPr>
          <a:xfrm>
            <a:off x="6386944" y="1366041"/>
            <a:ext cx="4083256" cy="292532"/>
          </a:xfrm>
          <a:prstGeom prst="rect">
            <a:avLst/>
          </a:prstGeom>
          <a:noFill/>
          <a:ln/>
        </p:spPr>
        <p:txBody>
          <a:bodyPr wrap="square" rtlCol="0" anchor="ctr"/>
          <a:lstStyle/>
          <a:p>
            <a:pPr marL="0" marR="0" lvl="0" indent="0" algn="l" defTabSz="1218895"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srgbClr val="00D4AA"/>
                </a:solidFill>
                <a:effectLst/>
                <a:uLnTx/>
                <a:uFillTx/>
                <a:latin typeface="Calibri" pitchFamily="34" charset="0"/>
                <a:ea typeface="Calibri" pitchFamily="34" charset="-122"/>
                <a:cs typeface="Calibri" pitchFamily="34" charset="-120"/>
              </a:rPr>
              <a:t>RAG / Vector Retrieval</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7">
            <a:extLst>
              <a:ext uri="{FF2B5EF4-FFF2-40B4-BE49-F238E27FC236}">
                <a16:creationId xmlns:a16="http://schemas.microsoft.com/office/drawing/2014/main" id="{44123F07-111F-8C44-DE60-97EF91FB9A87}"/>
              </a:ext>
            </a:extLst>
          </p:cNvPr>
          <p:cNvSpPr/>
          <p:nvPr/>
        </p:nvSpPr>
        <p:spPr>
          <a:xfrm>
            <a:off x="10665221" y="1402608"/>
            <a:ext cx="1340771" cy="268154"/>
          </a:xfrm>
          <a:prstGeom prst="roundRect">
            <a:avLst>
              <a:gd name="adj" fmla="val 18182"/>
            </a:avLst>
          </a:prstGeom>
          <a:solidFill>
            <a:srgbClr val="0F2A1E"/>
          </a:solidFill>
          <a:ln w="12700">
            <a:solidFill>
              <a:srgbClr val="00D4AA"/>
            </a:solidFill>
            <a:prstDash val="solid"/>
          </a:ln>
        </p:spPr>
        <p:txBody>
          <a:bodyPr/>
          <a:lstStyle/>
          <a:p>
            <a:pPr marL="0" marR="0" lvl="0" indent="0" algn="l" defTabSz="1218895" rtl="0" eaLnBrk="1" fontAlgn="auto" latinLnBrk="0" hangingPunct="1">
              <a:lnSpc>
                <a:spcPct val="100000"/>
              </a:lnSpc>
              <a:spcBef>
                <a:spcPts val="0"/>
              </a:spcBef>
              <a:spcAft>
                <a:spcPts val="0"/>
              </a:spcAft>
              <a:buClrTx/>
              <a:buSzTx/>
              <a:buFontTx/>
              <a:buNone/>
              <a:tabLst/>
              <a:defRPr/>
            </a:pPr>
            <a:endParaRPr kumimoji="0" lang="en-DE" sz="2399"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28">
            <a:extLst>
              <a:ext uri="{FF2B5EF4-FFF2-40B4-BE49-F238E27FC236}">
                <a16:creationId xmlns:a16="http://schemas.microsoft.com/office/drawing/2014/main" id="{ECD7E871-3196-2735-9258-D03F8379FBF2}"/>
              </a:ext>
            </a:extLst>
          </p:cNvPr>
          <p:cNvSpPr/>
          <p:nvPr/>
        </p:nvSpPr>
        <p:spPr>
          <a:xfrm>
            <a:off x="10665221" y="1402608"/>
            <a:ext cx="1340771" cy="268154"/>
          </a:xfrm>
          <a:prstGeom prst="rect">
            <a:avLst/>
          </a:prstGeom>
          <a:noFill/>
          <a:ln/>
        </p:spPr>
        <p:txBody>
          <a:bodyPr wrap="square" rtlCol="0" anchor="ctr"/>
          <a:lstStyle/>
          <a:p>
            <a:pPr marL="0" marR="0" lvl="0" indent="0" algn="ctr" defTabSz="1218895"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D4AA"/>
                </a:solidFill>
                <a:effectLst/>
                <a:uLnTx/>
                <a:uFillTx/>
                <a:latin typeface="Calibri" pitchFamily="34" charset="0"/>
                <a:ea typeface="Calibri" pitchFamily="34" charset="-122"/>
                <a:cs typeface="Calibri" pitchFamily="34" charset="-120"/>
              </a:rPr>
              <a:t>Future Module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9">
            <a:extLst>
              <a:ext uri="{FF2B5EF4-FFF2-40B4-BE49-F238E27FC236}">
                <a16:creationId xmlns:a16="http://schemas.microsoft.com/office/drawing/2014/main" id="{53EB410B-E8ED-5351-6485-335DCA3B9DFA}"/>
              </a:ext>
            </a:extLst>
          </p:cNvPr>
          <p:cNvSpPr/>
          <p:nvPr/>
        </p:nvSpPr>
        <p:spPr>
          <a:xfrm>
            <a:off x="6386944" y="1707328"/>
            <a:ext cx="5606860" cy="792274"/>
          </a:xfrm>
          <a:prstGeom prst="rect">
            <a:avLst/>
          </a:prstGeom>
          <a:noFill/>
          <a:ln/>
        </p:spPr>
        <p:txBody>
          <a:bodyPr wrap="square" rtlCol="0" anchor="t"/>
          <a:lstStyle/>
          <a:p>
            <a:pPr marL="0" marR="0" lvl="0" indent="0" algn="l" defTabSz="1218895" rtl="0" eaLnBrk="1" fontAlgn="auto" latinLnBrk="0" hangingPunct="1">
              <a:lnSpc>
                <a:spcPct val="100000"/>
              </a:lnSpc>
              <a:spcBef>
                <a:spcPts val="0"/>
              </a:spcBef>
              <a:spcAft>
                <a:spcPts val="0"/>
              </a:spcAft>
              <a:buClrTx/>
              <a:buSzTx/>
              <a:buFontTx/>
              <a:buNone/>
              <a:tabLst/>
              <a:defRPr/>
            </a:pPr>
            <a:r>
              <a:rPr kumimoji="0" lang="en-US" sz="1133" b="0" i="0" u="none" strike="noStrike" kern="1200" cap="none" spc="0" normalizeH="0" baseline="0" noProof="0" dirty="0">
                <a:ln>
                  <a:noFill/>
                </a:ln>
                <a:solidFill>
                  <a:srgbClr val="C8CAD4"/>
                </a:solidFill>
                <a:effectLst/>
                <a:uLnTx/>
                <a:uFillTx/>
                <a:latin typeface="Calibri" pitchFamily="34" charset="0"/>
                <a:ea typeface="Calibri" pitchFamily="34" charset="-122"/>
                <a:cs typeface="Calibri" pitchFamily="34" charset="-120"/>
              </a:rPr>
              <a:t>Replace flat markdown loading with semantic vector search — retrieves only the most relevant KB chunks per topic.</a:t>
            </a:r>
            <a:endParaRPr kumimoji="0" lang="en-US" sz="11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Shape 30">
            <a:extLst>
              <a:ext uri="{FF2B5EF4-FFF2-40B4-BE49-F238E27FC236}">
                <a16:creationId xmlns:a16="http://schemas.microsoft.com/office/drawing/2014/main" id="{169BB638-F528-B7E3-947E-A9C9FD8340BF}"/>
              </a:ext>
            </a:extLst>
          </p:cNvPr>
          <p:cNvSpPr/>
          <p:nvPr/>
        </p:nvSpPr>
        <p:spPr>
          <a:xfrm>
            <a:off x="6216300" y="2719001"/>
            <a:ext cx="5911580" cy="1316393"/>
          </a:xfrm>
          <a:prstGeom prst="rect">
            <a:avLst/>
          </a:prstGeom>
          <a:solidFill>
            <a:srgbClr val="161B27"/>
          </a:solidFill>
          <a:ln w="12700">
            <a:solidFill>
              <a:srgbClr val="161B27"/>
            </a:solidFill>
            <a:prstDash val="solid"/>
          </a:ln>
        </p:spPr>
        <p:txBody>
          <a:bodyPr/>
          <a:lstStyle/>
          <a:p>
            <a:pPr marL="0" marR="0" lvl="0" indent="0" algn="l" defTabSz="1218895" rtl="0" eaLnBrk="1" fontAlgn="auto" latinLnBrk="0" hangingPunct="1">
              <a:lnSpc>
                <a:spcPct val="100000"/>
              </a:lnSpc>
              <a:spcBef>
                <a:spcPts val="0"/>
              </a:spcBef>
              <a:spcAft>
                <a:spcPts val="0"/>
              </a:spcAft>
              <a:buClrTx/>
              <a:buSzTx/>
              <a:buFontTx/>
              <a:buNone/>
              <a:tabLst/>
              <a:defRPr/>
            </a:pPr>
            <a:endParaRPr kumimoji="0" lang="en-DE" sz="2399"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Shape 31">
            <a:extLst>
              <a:ext uri="{FF2B5EF4-FFF2-40B4-BE49-F238E27FC236}">
                <a16:creationId xmlns:a16="http://schemas.microsoft.com/office/drawing/2014/main" id="{2EDF97E8-2218-49A9-E3F7-3027835BF9DB}"/>
              </a:ext>
            </a:extLst>
          </p:cNvPr>
          <p:cNvSpPr/>
          <p:nvPr/>
        </p:nvSpPr>
        <p:spPr>
          <a:xfrm>
            <a:off x="6216300" y="2719001"/>
            <a:ext cx="73133" cy="1316393"/>
          </a:xfrm>
          <a:prstGeom prst="rect">
            <a:avLst/>
          </a:prstGeom>
          <a:solidFill>
            <a:srgbClr val="A855F7"/>
          </a:solidFill>
          <a:ln w="12700">
            <a:solidFill>
              <a:srgbClr val="A855F7"/>
            </a:solidFill>
            <a:prstDash val="solid"/>
          </a:ln>
        </p:spPr>
        <p:txBody>
          <a:bodyPr/>
          <a:lstStyle/>
          <a:p>
            <a:pPr marL="0" marR="0" lvl="0" indent="0" algn="l" defTabSz="1218895" rtl="0" eaLnBrk="1" fontAlgn="auto" latinLnBrk="0" hangingPunct="1">
              <a:lnSpc>
                <a:spcPct val="100000"/>
              </a:lnSpc>
              <a:spcBef>
                <a:spcPts val="0"/>
              </a:spcBef>
              <a:spcAft>
                <a:spcPts val="0"/>
              </a:spcAft>
              <a:buClrTx/>
              <a:buSzTx/>
              <a:buFontTx/>
              <a:buNone/>
              <a:tabLst/>
              <a:defRPr/>
            </a:pPr>
            <a:endParaRPr kumimoji="0" lang="en-DE" sz="2399"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Text 32">
            <a:extLst>
              <a:ext uri="{FF2B5EF4-FFF2-40B4-BE49-F238E27FC236}">
                <a16:creationId xmlns:a16="http://schemas.microsoft.com/office/drawing/2014/main" id="{924A7564-A3E0-A050-CBD1-54F1C35BFC08}"/>
              </a:ext>
            </a:extLst>
          </p:cNvPr>
          <p:cNvSpPr/>
          <p:nvPr/>
        </p:nvSpPr>
        <p:spPr>
          <a:xfrm>
            <a:off x="6386944" y="2804323"/>
            <a:ext cx="4083256" cy="292532"/>
          </a:xfrm>
          <a:prstGeom prst="rect">
            <a:avLst/>
          </a:prstGeom>
          <a:noFill/>
          <a:ln/>
        </p:spPr>
        <p:txBody>
          <a:bodyPr wrap="square" rtlCol="0" anchor="ctr"/>
          <a:lstStyle/>
          <a:p>
            <a:pPr marL="0" marR="0" lvl="0" indent="0" algn="l" defTabSz="1218895"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srgbClr val="A855F7"/>
                </a:solidFill>
                <a:effectLst/>
                <a:uLnTx/>
                <a:uFillTx/>
                <a:latin typeface="Calibri" pitchFamily="34" charset="0"/>
                <a:ea typeface="Calibri" pitchFamily="34" charset="-122"/>
                <a:cs typeface="Calibri" pitchFamily="34" charset="-120"/>
              </a:rPr>
              <a:t>Advanced Monitoring</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Shape 33">
            <a:extLst>
              <a:ext uri="{FF2B5EF4-FFF2-40B4-BE49-F238E27FC236}">
                <a16:creationId xmlns:a16="http://schemas.microsoft.com/office/drawing/2014/main" id="{24FE7800-F007-8AB8-2B85-46E7E180DCC9}"/>
              </a:ext>
            </a:extLst>
          </p:cNvPr>
          <p:cNvSpPr/>
          <p:nvPr/>
        </p:nvSpPr>
        <p:spPr>
          <a:xfrm>
            <a:off x="10665221" y="2840889"/>
            <a:ext cx="1340771" cy="268154"/>
          </a:xfrm>
          <a:prstGeom prst="roundRect">
            <a:avLst>
              <a:gd name="adj" fmla="val 18182"/>
            </a:avLst>
          </a:prstGeom>
          <a:solidFill>
            <a:srgbClr val="1A1030"/>
          </a:solidFill>
          <a:ln w="12700">
            <a:solidFill>
              <a:srgbClr val="A855F7"/>
            </a:solidFill>
            <a:prstDash val="solid"/>
          </a:ln>
        </p:spPr>
        <p:txBody>
          <a:bodyPr/>
          <a:lstStyle/>
          <a:p>
            <a:pPr marL="0" marR="0" lvl="0" indent="0" algn="l" defTabSz="1218895" rtl="0" eaLnBrk="1" fontAlgn="auto" latinLnBrk="0" hangingPunct="1">
              <a:lnSpc>
                <a:spcPct val="100000"/>
              </a:lnSpc>
              <a:spcBef>
                <a:spcPts val="0"/>
              </a:spcBef>
              <a:spcAft>
                <a:spcPts val="0"/>
              </a:spcAft>
              <a:buClrTx/>
              <a:buSzTx/>
              <a:buFontTx/>
              <a:buNone/>
              <a:tabLst/>
              <a:defRPr/>
            </a:pPr>
            <a:endParaRPr kumimoji="0" lang="en-DE" sz="2399"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Text 34">
            <a:extLst>
              <a:ext uri="{FF2B5EF4-FFF2-40B4-BE49-F238E27FC236}">
                <a16:creationId xmlns:a16="http://schemas.microsoft.com/office/drawing/2014/main" id="{61BF4C0A-F54E-B49F-DC94-05AA07F67505}"/>
              </a:ext>
            </a:extLst>
          </p:cNvPr>
          <p:cNvSpPr/>
          <p:nvPr/>
        </p:nvSpPr>
        <p:spPr>
          <a:xfrm>
            <a:off x="10665221" y="2840889"/>
            <a:ext cx="1340771" cy="268154"/>
          </a:xfrm>
          <a:prstGeom prst="rect">
            <a:avLst/>
          </a:prstGeom>
          <a:noFill/>
          <a:ln/>
        </p:spPr>
        <p:txBody>
          <a:bodyPr wrap="square" rtlCol="0" anchor="ctr"/>
          <a:lstStyle/>
          <a:p>
            <a:pPr marL="0" marR="0" lvl="0" indent="0" algn="ctr" defTabSz="1218895"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A855F7"/>
                </a:solidFill>
                <a:effectLst/>
                <a:uLnTx/>
                <a:uFillTx/>
                <a:latin typeface="Calibri" pitchFamily="34" charset="0"/>
                <a:ea typeface="Calibri" pitchFamily="34" charset="-122"/>
                <a:cs typeface="Calibri" pitchFamily="34" charset="-120"/>
              </a:rPr>
              <a:t>Next Sprint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Text 35">
            <a:extLst>
              <a:ext uri="{FF2B5EF4-FFF2-40B4-BE49-F238E27FC236}">
                <a16:creationId xmlns:a16="http://schemas.microsoft.com/office/drawing/2014/main" id="{BE2B8DF2-22EB-530E-ED4C-4651E6DAFB8D}"/>
              </a:ext>
            </a:extLst>
          </p:cNvPr>
          <p:cNvSpPr/>
          <p:nvPr/>
        </p:nvSpPr>
        <p:spPr>
          <a:xfrm>
            <a:off x="6386944" y="3145610"/>
            <a:ext cx="5606860" cy="792274"/>
          </a:xfrm>
          <a:prstGeom prst="rect">
            <a:avLst/>
          </a:prstGeom>
          <a:noFill/>
          <a:ln/>
        </p:spPr>
        <p:txBody>
          <a:bodyPr wrap="square" rtlCol="0" anchor="t"/>
          <a:lstStyle/>
          <a:p>
            <a:pPr marL="0" marR="0" lvl="0" indent="0" algn="l" defTabSz="1218895" rtl="0" eaLnBrk="1" fontAlgn="auto" latinLnBrk="0" hangingPunct="1">
              <a:lnSpc>
                <a:spcPct val="100000"/>
              </a:lnSpc>
              <a:spcBef>
                <a:spcPts val="0"/>
              </a:spcBef>
              <a:spcAft>
                <a:spcPts val="0"/>
              </a:spcAft>
              <a:buClrTx/>
              <a:buSzTx/>
              <a:buFontTx/>
              <a:buNone/>
              <a:tabLst/>
              <a:defRPr/>
            </a:pPr>
            <a:r>
              <a:rPr kumimoji="0" lang="en-US" sz="1133" b="0" i="0" u="none" strike="noStrike" kern="1200" cap="none" spc="0" normalizeH="0" baseline="0" noProof="0" dirty="0">
                <a:ln>
                  <a:noFill/>
                </a:ln>
                <a:solidFill>
                  <a:srgbClr val="C8CAD4"/>
                </a:solidFill>
                <a:effectLst/>
                <a:uLnTx/>
                <a:uFillTx/>
                <a:latin typeface="Calibri" pitchFamily="34" charset="0"/>
                <a:ea typeface="Calibri" pitchFamily="34" charset="-122"/>
                <a:cs typeface="Calibri" pitchFamily="34" charset="-120"/>
              </a:rPr>
              <a:t>Track engagement rates, A/B comparisons, and auto-score content against brand guidelines on every generation.</a:t>
            </a:r>
            <a:endParaRPr kumimoji="0" lang="en-US" sz="11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Shape 36">
            <a:extLst>
              <a:ext uri="{FF2B5EF4-FFF2-40B4-BE49-F238E27FC236}">
                <a16:creationId xmlns:a16="http://schemas.microsoft.com/office/drawing/2014/main" id="{577C36FB-1992-E81C-ED0D-A5F345030B93}"/>
              </a:ext>
            </a:extLst>
          </p:cNvPr>
          <p:cNvSpPr/>
          <p:nvPr/>
        </p:nvSpPr>
        <p:spPr>
          <a:xfrm>
            <a:off x="6216300" y="4157282"/>
            <a:ext cx="5911580" cy="1316393"/>
          </a:xfrm>
          <a:prstGeom prst="rect">
            <a:avLst/>
          </a:prstGeom>
          <a:solidFill>
            <a:srgbClr val="161B27"/>
          </a:solidFill>
          <a:ln w="12700">
            <a:solidFill>
              <a:srgbClr val="161B27"/>
            </a:solidFill>
            <a:prstDash val="solid"/>
          </a:ln>
        </p:spPr>
        <p:txBody>
          <a:bodyPr/>
          <a:lstStyle/>
          <a:p>
            <a:pPr marL="0" marR="0" lvl="0" indent="0" algn="l" defTabSz="1218895" rtl="0" eaLnBrk="1" fontAlgn="auto" latinLnBrk="0" hangingPunct="1">
              <a:lnSpc>
                <a:spcPct val="100000"/>
              </a:lnSpc>
              <a:spcBef>
                <a:spcPts val="0"/>
              </a:spcBef>
              <a:spcAft>
                <a:spcPts val="0"/>
              </a:spcAft>
              <a:buClrTx/>
              <a:buSzTx/>
              <a:buFontTx/>
              <a:buNone/>
              <a:tabLst/>
              <a:defRPr/>
            </a:pPr>
            <a:endParaRPr kumimoji="0" lang="en-DE" sz="2399"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Shape 37">
            <a:extLst>
              <a:ext uri="{FF2B5EF4-FFF2-40B4-BE49-F238E27FC236}">
                <a16:creationId xmlns:a16="http://schemas.microsoft.com/office/drawing/2014/main" id="{70388603-C6EE-DC15-9A2E-6A2C423E66F8}"/>
              </a:ext>
            </a:extLst>
          </p:cNvPr>
          <p:cNvSpPr/>
          <p:nvPr/>
        </p:nvSpPr>
        <p:spPr>
          <a:xfrm>
            <a:off x="6216300" y="4157282"/>
            <a:ext cx="73133" cy="1316393"/>
          </a:xfrm>
          <a:prstGeom prst="rect">
            <a:avLst/>
          </a:prstGeom>
          <a:solidFill>
            <a:srgbClr val="F97316"/>
          </a:solidFill>
          <a:ln w="12700">
            <a:solidFill>
              <a:srgbClr val="F97316"/>
            </a:solidFill>
            <a:prstDash val="solid"/>
          </a:ln>
        </p:spPr>
        <p:txBody>
          <a:bodyPr/>
          <a:lstStyle/>
          <a:p>
            <a:pPr marL="0" marR="0" lvl="0" indent="0" algn="l" defTabSz="1218895" rtl="0" eaLnBrk="1" fontAlgn="auto" latinLnBrk="0" hangingPunct="1">
              <a:lnSpc>
                <a:spcPct val="100000"/>
              </a:lnSpc>
              <a:spcBef>
                <a:spcPts val="0"/>
              </a:spcBef>
              <a:spcAft>
                <a:spcPts val="0"/>
              </a:spcAft>
              <a:buClrTx/>
              <a:buSzTx/>
              <a:buFontTx/>
              <a:buNone/>
              <a:tabLst/>
              <a:defRPr/>
            </a:pPr>
            <a:endParaRPr kumimoji="0" lang="en-DE" sz="2399"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Text 38">
            <a:extLst>
              <a:ext uri="{FF2B5EF4-FFF2-40B4-BE49-F238E27FC236}">
                <a16:creationId xmlns:a16="http://schemas.microsoft.com/office/drawing/2014/main" id="{098388F6-6841-EE60-DA8B-C5203CF7001F}"/>
              </a:ext>
            </a:extLst>
          </p:cNvPr>
          <p:cNvSpPr/>
          <p:nvPr/>
        </p:nvSpPr>
        <p:spPr>
          <a:xfrm>
            <a:off x="6386944" y="4242604"/>
            <a:ext cx="4083256" cy="292532"/>
          </a:xfrm>
          <a:prstGeom prst="rect">
            <a:avLst/>
          </a:prstGeom>
          <a:noFill/>
          <a:ln/>
        </p:spPr>
        <p:txBody>
          <a:bodyPr wrap="square" rtlCol="0" anchor="ctr"/>
          <a:lstStyle/>
          <a:p>
            <a:pPr marL="0" marR="0" lvl="0" indent="0" algn="l" defTabSz="1218895"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srgbClr val="F97316"/>
                </a:solidFill>
                <a:effectLst/>
                <a:uLnTx/>
                <a:uFillTx/>
                <a:latin typeface="Calibri" pitchFamily="34" charset="0"/>
                <a:ea typeface="Calibri" pitchFamily="34" charset="-122"/>
                <a:cs typeface="Calibri" pitchFamily="34" charset="-120"/>
              </a:rPr>
              <a:t>Automated Publishing</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 name="Shape 39">
            <a:extLst>
              <a:ext uri="{FF2B5EF4-FFF2-40B4-BE49-F238E27FC236}">
                <a16:creationId xmlns:a16="http://schemas.microsoft.com/office/drawing/2014/main" id="{F89E57E6-63BE-4BF5-BCFF-6077583CF83F}"/>
              </a:ext>
            </a:extLst>
          </p:cNvPr>
          <p:cNvSpPr/>
          <p:nvPr/>
        </p:nvSpPr>
        <p:spPr>
          <a:xfrm>
            <a:off x="10665221" y="4279171"/>
            <a:ext cx="1340771" cy="268154"/>
          </a:xfrm>
          <a:prstGeom prst="roundRect">
            <a:avLst>
              <a:gd name="adj" fmla="val 18182"/>
            </a:avLst>
          </a:prstGeom>
          <a:solidFill>
            <a:srgbClr val="1A1208"/>
          </a:solidFill>
          <a:ln w="12700">
            <a:solidFill>
              <a:srgbClr val="F97316"/>
            </a:solidFill>
            <a:prstDash val="solid"/>
          </a:ln>
        </p:spPr>
        <p:txBody>
          <a:bodyPr/>
          <a:lstStyle/>
          <a:p>
            <a:pPr marL="0" marR="0" lvl="0" indent="0" algn="l" defTabSz="1218895" rtl="0" eaLnBrk="1" fontAlgn="auto" latinLnBrk="0" hangingPunct="1">
              <a:lnSpc>
                <a:spcPct val="100000"/>
              </a:lnSpc>
              <a:spcBef>
                <a:spcPts val="0"/>
              </a:spcBef>
              <a:spcAft>
                <a:spcPts val="0"/>
              </a:spcAft>
              <a:buClrTx/>
              <a:buSzTx/>
              <a:buFontTx/>
              <a:buNone/>
              <a:tabLst/>
              <a:defRPr/>
            </a:pPr>
            <a:endParaRPr kumimoji="0" lang="en-DE" sz="2399"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Text 40">
            <a:extLst>
              <a:ext uri="{FF2B5EF4-FFF2-40B4-BE49-F238E27FC236}">
                <a16:creationId xmlns:a16="http://schemas.microsoft.com/office/drawing/2014/main" id="{FE89378A-F03C-BD3A-CC8E-B0FA4656F14B}"/>
              </a:ext>
            </a:extLst>
          </p:cNvPr>
          <p:cNvSpPr/>
          <p:nvPr/>
        </p:nvSpPr>
        <p:spPr>
          <a:xfrm>
            <a:off x="10665221" y="4279171"/>
            <a:ext cx="1340771" cy="268154"/>
          </a:xfrm>
          <a:prstGeom prst="rect">
            <a:avLst/>
          </a:prstGeom>
          <a:noFill/>
          <a:ln/>
        </p:spPr>
        <p:txBody>
          <a:bodyPr wrap="square" rtlCol="0" anchor="ctr"/>
          <a:lstStyle/>
          <a:p>
            <a:pPr marL="0" marR="0" lvl="0" indent="0" algn="ctr" defTabSz="1218895"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97316"/>
                </a:solidFill>
                <a:effectLst/>
                <a:uLnTx/>
                <a:uFillTx/>
                <a:latin typeface="Calibri" pitchFamily="34" charset="0"/>
                <a:ea typeface="Calibri" pitchFamily="34" charset="-122"/>
                <a:cs typeface="Calibri" pitchFamily="34" charset="-120"/>
              </a:rPr>
              <a:t>Phase 2</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 name="Text 41">
            <a:extLst>
              <a:ext uri="{FF2B5EF4-FFF2-40B4-BE49-F238E27FC236}">
                <a16:creationId xmlns:a16="http://schemas.microsoft.com/office/drawing/2014/main" id="{685939A3-EF8D-51AF-A1BB-E02A31420A94}"/>
              </a:ext>
            </a:extLst>
          </p:cNvPr>
          <p:cNvSpPr/>
          <p:nvPr/>
        </p:nvSpPr>
        <p:spPr>
          <a:xfrm>
            <a:off x="6386944" y="4583891"/>
            <a:ext cx="5606860" cy="792274"/>
          </a:xfrm>
          <a:prstGeom prst="rect">
            <a:avLst/>
          </a:prstGeom>
          <a:noFill/>
          <a:ln/>
        </p:spPr>
        <p:txBody>
          <a:bodyPr wrap="square" rtlCol="0" anchor="t"/>
          <a:lstStyle/>
          <a:p>
            <a:pPr marL="0" marR="0" lvl="0" indent="0" algn="l" defTabSz="1218895" rtl="0" eaLnBrk="1" fontAlgn="auto" latinLnBrk="0" hangingPunct="1">
              <a:lnSpc>
                <a:spcPct val="100000"/>
              </a:lnSpc>
              <a:spcBef>
                <a:spcPts val="0"/>
              </a:spcBef>
              <a:spcAft>
                <a:spcPts val="0"/>
              </a:spcAft>
              <a:buClrTx/>
              <a:buSzTx/>
              <a:buFontTx/>
              <a:buNone/>
              <a:tabLst/>
              <a:defRPr/>
            </a:pPr>
            <a:r>
              <a:rPr kumimoji="0" lang="en-US" sz="1133" b="0" i="0" u="none" strike="noStrike" kern="1200" cap="none" spc="0" normalizeH="0" baseline="0" noProof="0" dirty="0">
                <a:ln>
                  <a:noFill/>
                </a:ln>
                <a:solidFill>
                  <a:srgbClr val="C8CAD4"/>
                </a:solidFill>
                <a:effectLst/>
                <a:uLnTx/>
                <a:uFillTx/>
                <a:latin typeface="Calibri" pitchFamily="34" charset="0"/>
                <a:ea typeface="Calibri" pitchFamily="34" charset="-122"/>
                <a:cs typeface="Calibri" pitchFamily="34" charset="-120"/>
              </a:rPr>
              <a:t>Direct API publishing to Instagram, LinkedIn, and email. One-click approval workflow with scheduling.</a:t>
            </a:r>
            <a:endParaRPr kumimoji="0" lang="en-US" sz="11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 name="Shape 42">
            <a:extLst>
              <a:ext uri="{FF2B5EF4-FFF2-40B4-BE49-F238E27FC236}">
                <a16:creationId xmlns:a16="http://schemas.microsoft.com/office/drawing/2014/main" id="{3B6F6DA0-1CED-D77B-A760-FD82812234FC}"/>
              </a:ext>
            </a:extLst>
          </p:cNvPr>
          <p:cNvSpPr/>
          <p:nvPr/>
        </p:nvSpPr>
        <p:spPr>
          <a:xfrm>
            <a:off x="6216300" y="5595564"/>
            <a:ext cx="5911580" cy="1316393"/>
          </a:xfrm>
          <a:prstGeom prst="rect">
            <a:avLst/>
          </a:prstGeom>
          <a:solidFill>
            <a:srgbClr val="161B27"/>
          </a:solidFill>
          <a:ln w="12700">
            <a:solidFill>
              <a:srgbClr val="161B27"/>
            </a:solidFill>
            <a:prstDash val="solid"/>
          </a:ln>
        </p:spPr>
        <p:txBody>
          <a:bodyPr/>
          <a:lstStyle/>
          <a:p>
            <a:pPr marL="0" marR="0" lvl="0" indent="0" algn="l" defTabSz="1218895" rtl="0" eaLnBrk="1" fontAlgn="auto" latinLnBrk="0" hangingPunct="1">
              <a:lnSpc>
                <a:spcPct val="100000"/>
              </a:lnSpc>
              <a:spcBef>
                <a:spcPts val="0"/>
              </a:spcBef>
              <a:spcAft>
                <a:spcPts val="0"/>
              </a:spcAft>
              <a:buClrTx/>
              <a:buSzTx/>
              <a:buFontTx/>
              <a:buNone/>
              <a:tabLst/>
              <a:defRPr/>
            </a:pPr>
            <a:endParaRPr kumimoji="0" lang="en-DE" sz="2399"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Shape 43">
            <a:extLst>
              <a:ext uri="{FF2B5EF4-FFF2-40B4-BE49-F238E27FC236}">
                <a16:creationId xmlns:a16="http://schemas.microsoft.com/office/drawing/2014/main" id="{EE689067-4C7D-7642-67F7-B86C000733FA}"/>
              </a:ext>
            </a:extLst>
          </p:cNvPr>
          <p:cNvSpPr/>
          <p:nvPr/>
        </p:nvSpPr>
        <p:spPr>
          <a:xfrm>
            <a:off x="6216300" y="5595564"/>
            <a:ext cx="73133" cy="1316393"/>
          </a:xfrm>
          <a:prstGeom prst="rect">
            <a:avLst/>
          </a:prstGeom>
          <a:solidFill>
            <a:srgbClr val="EAB308"/>
          </a:solidFill>
          <a:ln w="12700">
            <a:solidFill>
              <a:srgbClr val="EAB308"/>
            </a:solidFill>
            <a:prstDash val="solid"/>
          </a:ln>
        </p:spPr>
        <p:txBody>
          <a:bodyPr/>
          <a:lstStyle/>
          <a:p>
            <a:pPr marL="0" marR="0" lvl="0" indent="0" algn="l" defTabSz="1218895" rtl="0" eaLnBrk="1" fontAlgn="auto" latinLnBrk="0" hangingPunct="1">
              <a:lnSpc>
                <a:spcPct val="100000"/>
              </a:lnSpc>
              <a:spcBef>
                <a:spcPts val="0"/>
              </a:spcBef>
              <a:spcAft>
                <a:spcPts val="0"/>
              </a:spcAft>
              <a:buClrTx/>
              <a:buSzTx/>
              <a:buFontTx/>
              <a:buNone/>
              <a:tabLst/>
              <a:defRPr/>
            </a:pPr>
            <a:endParaRPr kumimoji="0" lang="en-DE" sz="2399"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Text 44">
            <a:extLst>
              <a:ext uri="{FF2B5EF4-FFF2-40B4-BE49-F238E27FC236}">
                <a16:creationId xmlns:a16="http://schemas.microsoft.com/office/drawing/2014/main" id="{F8BA3800-182D-3B7D-C9C4-12988147192A}"/>
              </a:ext>
            </a:extLst>
          </p:cNvPr>
          <p:cNvSpPr/>
          <p:nvPr/>
        </p:nvSpPr>
        <p:spPr>
          <a:xfrm>
            <a:off x="6386944" y="5680885"/>
            <a:ext cx="4083256" cy="292532"/>
          </a:xfrm>
          <a:prstGeom prst="rect">
            <a:avLst/>
          </a:prstGeom>
          <a:noFill/>
          <a:ln/>
        </p:spPr>
        <p:txBody>
          <a:bodyPr wrap="square" rtlCol="0" anchor="ctr"/>
          <a:lstStyle/>
          <a:p>
            <a:pPr marL="0" marR="0" lvl="0" indent="0" algn="l" defTabSz="1218895"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srgbClr val="EAB308"/>
                </a:solidFill>
                <a:effectLst/>
                <a:uLnTx/>
                <a:uFillTx/>
                <a:latin typeface="Calibri" pitchFamily="34" charset="0"/>
                <a:ea typeface="Calibri" pitchFamily="34" charset="-122"/>
                <a:cs typeface="Calibri" pitchFamily="34" charset="-120"/>
              </a:rPr>
              <a:t>Multi-Brand Support</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 name="Shape 45">
            <a:extLst>
              <a:ext uri="{FF2B5EF4-FFF2-40B4-BE49-F238E27FC236}">
                <a16:creationId xmlns:a16="http://schemas.microsoft.com/office/drawing/2014/main" id="{4B72B49C-06EC-7551-DC3B-3C14EA29274A}"/>
              </a:ext>
            </a:extLst>
          </p:cNvPr>
          <p:cNvSpPr/>
          <p:nvPr/>
        </p:nvSpPr>
        <p:spPr>
          <a:xfrm>
            <a:off x="10665221" y="5717452"/>
            <a:ext cx="1340771" cy="268154"/>
          </a:xfrm>
          <a:prstGeom prst="roundRect">
            <a:avLst>
              <a:gd name="adj" fmla="val 18182"/>
            </a:avLst>
          </a:prstGeom>
          <a:solidFill>
            <a:srgbClr val="1A1800"/>
          </a:solidFill>
          <a:ln w="12700">
            <a:solidFill>
              <a:srgbClr val="EAB308"/>
            </a:solidFill>
            <a:prstDash val="solid"/>
          </a:ln>
        </p:spPr>
        <p:txBody>
          <a:bodyPr/>
          <a:lstStyle/>
          <a:p>
            <a:pPr marL="0" marR="0" lvl="0" indent="0" algn="l" defTabSz="1218895" rtl="0" eaLnBrk="1" fontAlgn="auto" latinLnBrk="0" hangingPunct="1">
              <a:lnSpc>
                <a:spcPct val="100000"/>
              </a:lnSpc>
              <a:spcBef>
                <a:spcPts val="0"/>
              </a:spcBef>
              <a:spcAft>
                <a:spcPts val="0"/>
              </a:spcAft>
              <a:buClrTx/>
              <a:buSzTx/>
              <a:buFontTx/>
              <a:buNone/>
              <a:tabLst/>
              <a:defRPr/>
            </a:pPr>
            <a:endParaRPr kumimoji="0" lang="en-DE" sz="2399"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Text 46">
            <a:extLst>
              <a:ext uri="{FF2B5EF4-FFF2-40B4-BE49-F238E27FC236}">
                <a16:creationId xmlns:a16="http://schemas.microsoft.com/office/drawing/2014/main" id="{F5ABA7FF-559C-A4DB-033F-8EF5332F2E3A}"/>
              </a:ext>
            </a:extLst>
          </p:cNvPr>
          <p:cNvSpPr/>
          <p:nvPr/>
        </p:nvSpPr>
        <p:spPr>
          <a:xfrm>
            <a:off x="10665221" y="5717452"/>
            <a:ext cx="1340771" cy="268154"/>
          </a:xfrm>
          <a:prstGeom prst="rect">
            <a:avLst/>
          </a:prstGeom>
          <a:noFill/>
          <a:ln/>
        </p:spPr>
        <p:txBody>
          <a:bodyPr wrap="square" rtlCol="0" anchor="ctr"/>
          <a:lstStyle/>
          <a:p>
            <a:pPr marL="0" marR="0" lvl="0" indent="0" algn="ctr" defTabSz="1218895"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EAB308"/>
                </a:solidFill>
                <a:effectLst/>
                <a:uLnTx/>
                <a:uFillTx/>
                <a:latin typeface="Calibri" pitchFamily="34" charset="0"/>
                <a:ea typeface="Calibri" pitchFamily="34" charset="-122"/>
                <a:cs typeface="Calibri" pitchFamily="34" charset="-120"/>
              </a:rPr>
              <a:t>Phase 3</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 name="Text 47">
            <a:extLst>
              <a:ext uri="{FF2B5EF4-FFF2-40B4-BE49-F238E27FC236}">
                <a16:creationId xmlns:a16="http://schemas.microsoft.com/office/drawing/2014/main" id="{363DC932-24E5-0227-ECB2-F7A204FE2680}"/>
              </a:ext>
            </a:extLst>
          </p:cNvPr>
          <p:cNvSpPr/>
          <p:nvPr/>
        </p:nvSpPr>
        <p:spPr>
          <a:xfrm>
            <a:off x="6386944" y="6022172"/>
            <a:ext cx="5606860" cy="792274"/>
          </a:xfrm>
          <a:prstGeom prst="rect">
            <a:avLst/>
          </a:prstGeom>
          <a:noFill/>
          <a:ln/>
        </p:spPr>
        <p:txBody>
          <a:bodyPr wrap="square" rtlCol="0" anchor="t"/>
          <a:lstStyle/>
          <a:p>
            <a:pPr marL="0" marR="0" lvl="0" indent="0" algn="l" defTabSz="1218895" rtl="0" eaLnBrk="1" fontAlgn="auto" latinLnBrk="0" hangingPunct="1">
              <a:lnSpc>
                <a:spcPct val="100000"/>
              </a:lnSpc>
              <a:spcBef>
                <a:spcPts val="0"/>
              </a:spcBef>
              <a:spcAft>
                <a:spcPts val="0"/>
              </a:spcAft>
              <a:buClrTx/>
              <a:buSzTx/>
              <a:buFontTx/>
              <a:buNone/>
              <a:tabLst/>
              <a:defRPr/>
            </a:pPr>
            <a:r>
              <a:rPr kumimoji="0" lang="en-US" sz="1133" b="0" i="0" u="none" strike="noStrike" kern="1200" cap="none" spc="0" normalizeH="0" baseline="0" noProof="0" dirty="0">
                <a:ln>
                  <a:noFill/>
                </a:ln>
                <a:solidFill>
                  <a:srgbClr val="C8CAD4"/>
                </a:solidFill>
                <a:effectLst/>
                <a:uLnTx/>
                <a:uFillTx/>
                <a:latin typeface="Calibri" pitchFamily="34" charset="0"/>
                <a:ea typeface="Calibri" pitchFamily="34" charset="-122"/>
                <a:cs typeface="Calibri" pitchFamily="34" charset="-120"/>
              </a:rPr>
              <a:t>Parameterize the KB to support multiple brands. Turn FitByte into a white-label AI content platform.</a:t>
            </a:r>
            <a:endParaRPr kumimoji="0" lang="en-US" sz="11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 name="Shape 48">
            <a:extLst>
              <a:ext uri="{FF2B5EF4-FFF2-40B4-BE49-F238E27FC236}">
                <a16:creationId xmlns:a16="http://schemas.microsoft.com/office/drawing/2014/main" id="{5E47C29A-9017-3E7A-CC5D-4B6A85469062}"/>
              </a:ext>
            </a:extLst>
          </p:cNvPr>
          <p:cNvSpPr/>
          <p:nvPr/>
        </p:nvSpPr>
        <p:spPr>
          <a:xfrm>
            <a:off x="6070034" y="1280720"/>
            <a:ext cx="0" cy="5424027"/>
          </a:xfrm>
          <a:prstGeom prst="line">
            <a:avLst/>
          </a:prstGeom>
          <a:noFill/>
          <a:ln w="12700">
            <a:solidFill>
              <a:srgbClr val="1E2A3A"/>
            </a:solidFill>
            <a:prstDash val="solid"/>
          </a:ln>
        </p:spPr>
        <p:txBody>
          <a:bodyPr/>
          <a:lstStyle/>
          <a:p>
            <a:pPr marL="0" marR="0" lvl="0" indent="0" algn="l" defTabSz="1218895" rtl="0" eaLnBrk="1" fontAlgn="auto" latinLnBrk="0" hangingPunct="1">
              <a:lnSpc>
                <a:spcPct val="100000"/>
              </a:lnSpc>
              <a:spcBef>
                <a:spcPts val="0"/>
              </a:spcBef>
              <a:spcAft>
                <a:spcPts val="0"/>
              </a:spcAft>
              <a:buClrTx/>
              <a:buSzTx/>
              <a:buFontTx/>
              <a:buNone/>
              <a:tabLst/>
              <a:defRPr/>
            </a:pPr>
            <a:endParaRPr kumimoji="0" lang="en-DE" sz="2399"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Text 49">
            <a:extLst>
              <a:ext uri="{FF2B5EF4-FFF2-40B4-BE49-F238E27FC236}">
                <a16:creationId xmlns:a16="http://schemas.microsoft.com/office/drawing/2014/main" id="{D0D180CB-92B5-A4E9-6646-6BA07F687D19}"/>
              </a:ext>
            </a:extLst>
          </p:cNvPr>
          <p:cNvSpPr/>
          <p:nvPr/>
        </p:nvSpPr>
        <p:spPr>
          <a:xfrm>
            <a:off x="548497" y="1097887"/>
            <a:ext cx="5424027" cy="219399"/>
          </a:xfrm>
          <a:prstGeom prst="rect">
            <a:avLst/>
          </a:prstGeom>
          <a:noFill/>
          <a:ln/>
        </p:spPr>
        <p:txBody>
          <a:bodyPr wrap="square" rtlCol="0" anchor="ctr"/>
          <a:lstStyle/>
          <a:p>
            <a:pPr marL="0" marR="0" lvl="0" indent="0" algn="l" defTabSz="1218895" rtl="0" eaLnBrk="1" fontAlgn="auto" latinLnBrk="0" hangingPunct="1">
              <a:lnSpc>
                <a:spcPct val="100000"/>
              </a:lnSpc>
              <a:spcBef>
                <a:spcPts val="0"/>
              </a:spcBef>
              <a:spcAft>
                <a:spcPts val="0"/>
              </a:spcAft>
              <a:buClrTx/>
              <a:buSzTx/>
              <a:buFontTx/>
              <a:buNone/>
              <a:tabLst/>
              <a:defRPr/>
            </a:pPr>
            <a:r>
              <a:rPr kumimoji="0" lang="en-US" sz="933" b="1" i="0" u="none" strike="noStrike" kern="0" cap="none" spc="267" normalizeH="0" baseline="0" noProof="0" dirty="0">
                <a:ln>
                  <a:noFill/>
                </a:ln>
                <a:solidFill>
                  <a:srgbClr val="8B8FA8"/>
                </a:solidFill>
                <a:effectLst/>
                <a:uLnTx/>
                <a:uFillTx/>
                <a:latin typeface="Calibri" panose="020F0502020204030204"/>
                <a:ea typeface="+mn-ea"/>
                <a:cs typeface="+mn-cs"/>
              </a:rPr>
              <a:t>CHALLENGES &amp; LEARNINGS</a:t>
            </a:r>
            <a:endParaRPr kumimoji="0" lang="en-US" sz="9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2" name="Text 50">
            <a:extLst>
              <a:ext uri="{FF2B5EF4-FFF2-40B4-BE49-F238E27FC236}">
                <a16:creationId xmlns:a16="http://schemas.microsoft.com/office/drawing/2014/main" id="{65582605-45B4-3D83-A639-33875C9670A4}"/>
              </a:ext>
            </a:extLst>
          </p:cNvPr>
          <p:cNvSpPr/>
          <p:nvPr/>
        </p:nvSpPr>
        <p:spPr>
          <a:xfrm>
            <a:off x="6216300" y="1097887"/>
            <a:ext cx="5911580" cy="219399"/>
          </a:xfrm>
          <a:prstGeom prst="rect">
            <a:avLst/>
          </a:prstGeom>
          <a:noFill/>
          <a:ln/>
        </p:spPr>
        <p:txBody>
          <a:bodyPr wrap="square" rtlCol="0" anchor="ctr"/>
          <a:lstStyle/>
          <a:p>
            <a:pPr marL="0" marR="0" lvl="0" indent="0" algn="l" defTabSz="1218895" rtl="0" eaLnBrk="1" fontAlgn="auto" latinLnBrk="0" hangingPunct="1">
              <a:lnSpc>
                <a:spcPct val="100000"/>
              </a:lnSpc>
              <a:spcBef>
                <a:spcPts val="0"/>
              </a:spcBef>
              <a:spcAft>
                <a:spcPts val="0"/>
              </a:spcAft>
              <a:buClrTx/>
              <a:buSzTx/>
              <a:buFontTx/>
              <a:buNone/>
              <a:tabLst/>
              <a:defRPr/>
            </a:pPr>
            <a:r>
              <a:rPr kumimoji="0" lang="en-US" sz="933" b="1" i="0" u="none" strike="noStrike" kern="0" cap="none" spc="267" normalizeH="0" baseline="0" noProof="0" dirty="0">
                <a:ln>
                  <a:noFill/>
                </a:ln>
                <a:solidFill>
                  <a:srgbClr val="8B8FA8"/>
                </a:solidFill>
                <a:effectLst/>
                <a:uLnTx/>
                <a:uFillTx/>
                <a:latin typeface="Calibri" panose="020F0502020204030204"/>
                <a:ea typeface="+mn-ea"/>
                <a:cs typeface="+mn-cs"/>
              </a:rPr>
              <a:t>NEXT STEPS</a:t>
            </a:r>
            <a:endParaRPr kumimoji="0" lang="en-US" sz="9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3" name="Rectangle 52">
            <a:extLst>
              <a:ext uri="{FF2B5EF4-FFF2-40B4-BE49-F238E27FC236}">
                <a16:creationId xmlns:a16="http://schemas.microsoft.com/office/drawing/2014/main" id="{99144807-1230-B17F-747B-6C68E6FB4FD8}"/>
              </a:ext>
            </a:extLst>
          </p:cNvPr>
          <p:cNvSpPr/>
          <p:nvPr/>
        </p:nvSpPr>
        <p:spPr>
          <a:xfrm rot="2012361">
            <a:off x="10648069" y="370006"/>
            <a:ext cx="1574310" cy="717884"/>
          </a:xfrm>
          <a:prstGeom prst="rect">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DE" sz="1800" b="0" i="0" u="none" strike="noStrike" kern="1200" cap="none" spc="0" normalizeH="0" baseline="0" noProof="0" dirty="0">
                <a:ln>
                  <a:noFill/>
                </a:ln>
                <a:solidFill>
                  <a:prstClr val="white"/>
                </a:solidFill>
                <a:effectLst/>
                <a:uLnTx/>
                <a:uFillTx/>
                <a:latin typeface="Calibri" panose="020F0502020204030204"/>
                <a:ea typeface="+mn-ea"/>
                <a:cs typeface="+mn-cs"/>
              </a:rPr>
              <a:t>Version 1</a:t>
            </a:r>
          </a:p>
        </p:txBody>
      </p:sp>
    </p:spTree>
    <p:extLst>
      <p:ext uri="{BB962C8B-B14F-4D97-AF65-F5344CB8AC3E}">
        <p14:creationId xmlns:p14="http://schemas.microsoft.com/office/powerpoint/2010/main" val="9519730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TotalTime>
  <Words>1976</Words>
  <Application>Microsoft Macintosh PowerPoint</Application>
  <PresentationFormat>Custom</PresentationFormat>
  <Paragraphs>296</Paragraphs>
  <Slides>17</Slides>
  <Notes>4</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17</vt:i4>
      </vt:variant>
    </vt:vector>
  </HeadingPairs>
  <TitlesOfParts>
    <vt:vector size="22" baseType="lpstr">
      <vt:lpstr>Aptos</vt:lpstr>
      <vt:lpstr>Arial</vt:lpstr>
      <vt:lpstr>Calibri</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Markus von Aschoff</cp:lastModifiedBy>
  <cp:revision>12</cp:revision>
  <dcterms:created xsi:type="dcterms:W3CDTF">2013-01-27T09:14:16Z</dcterms:created>
  <dcterms:modified xsi:type="dcterms:W3CDTF">2026-05-06T08:27:23Z</dcterms:modified>
  <cp:category/>
</cp:coreProperties>
</file>