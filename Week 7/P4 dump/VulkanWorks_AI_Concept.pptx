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8" autoAdjust="0"/>
    <p:restoredTop sz="94610"/>
  </p:normalViewPr>
  <p:slideViewPr>
    <p:cSldViewPr snapToGrid="0" snapToObjects="1">
      <p:cViewPr>
        <p:scale>
          <a:sx n="165" d="100"/>
          <a:sy n="165" d="100"/>
        </p:scale>
        <p:origin x="101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4129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7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457200"/>
            <a:ext cx="896112" cy="896112"/>
          </a:xfrm>
          <a:prstGeom prst="ellipse">
            <a:avLst/>
          </a:prstGeom>
          <a:solidFill>
            <a:srgbClr val="2E2E2E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11312" y="621792"/>
            <a:ext cx="566928" cy="566928"/>
          </a:xfrm>
          <a:prstGeom prst="ellipse">
            <a:avLst/>
          </a:prstGeom>
          <a:solidFill>
            <a:srgbClr val="141414"/>
          </a:solidFill>
          <a:ln w="1016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57616" y="768096"/>
            <a:ext cx="274320" cy="2743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0" y="457200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2011680"/>
            <a:ext cx="201168" cy="20117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3108960"/>
            <a:ext cx="128016" cy="20117"/>
          </a:xfrm>
          <a:prstGeom prst="rect">
            <a:avLst/>
          </a:prstGeom>
          <a:solidFill>
            <a:srgbClr val="F97316">
              <a:alpha val="5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4023360"/>
            <a:ext cx="82296" cy="20117"/>
          </a:xfrm>
          <a:prstGeom prst="rect">
            <a:avLst/>
          </a:prstGeom>
          <a:solidFill>
            <a:srgbClr val="F97316">
              <a:alpha val="35000"/>
            </a:srgbClr>
          </a:solidFill>
          <a:ln w="12700">
            <a:solidFill>
              <a:srgbClr val="F9731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5029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HYDROSC ALE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" y="96012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Data Intelligence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6032" y="2084832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Solution Proposal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56032" y="2651760"/>
            <a:ext cx="201168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6032" y="28163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SilverTrust Consulting  ·  June 1, 2026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" y="4974336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– Internal Use Only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1/9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822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HydroScale Technologies  ·  SilverTrust Consulting  ·  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2/9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04672"/>
            <a:ext cx="8631936" cy="676656"/>
          </a:xfrm>
          <a:prstGeom prst="rect">
            <a:avLst/>
          </a:prstGeom>
          <a:solidFill>
            <a:srgbClr val="141414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804672"/>
            <a:ext cx="530352" cy="676656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" y="804672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85953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Situation &amp; Pain Points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115214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heard in the interview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1600200"/>
            <a:ext cx="8631936" cy="676656"/>
          </a:xfrm>
          <a:prstGeom prst="rect">
            <a:avLst/>
          </a:prstGeom>
          <a:solidFill>
            <a:srgbClr val="141414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1600200"/>
            <a:ext cx="530352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" y="1600200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165506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Perspectives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19476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 · Marcus · Ingrid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395728"/>
            <a:ext cx="8631936" cy="676656"/>
          </a:xfrm>
          <a:prstGeom prst="rect">
            <a:avLst/>
          </a:prstGeom>
          <a:solidFill>
            <a:srgbClr val="141414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2395728"/>
            <a:ext cx="530352" cy="6766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6032" y="2395728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245059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Architecture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27432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concept from the whiteboard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3191256"/>
            <a:ext cx="8631936" cy="676656"/>
          </a:xfrm>
          <a:prstGeom prst="rect">
            <a:avLst/>
          </a:prstGeom>
          <a:solidFill>
            <a:srgbClr val="141414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" y="3191256"/>
            <a:ext cx="530352" cy="6766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6032" y="3191256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32461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&amp; Regulatory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35387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GDPR · AI Act · ISO 9001 · NDAs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3986784"/>
            <a:ext cx="8631936" cy="676656"/>
          </a:xfrm>
          <a:prstGeom prst="rect">
            <a:avLst/>
          </a:prstGeom>
          <a:solidFill>
            <a:srgbClr val="141414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56032" y="3986784"/>
            <a:ext cx="530352" cy="6766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6032" y="3986784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40416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" y="433425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&amp; Roadmap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822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Situation &amp; Pain Points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6032" y="42062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heard in the interview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HydroScale Technologies  ·  SilverTrust Consulting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804672"/>
            <a:ext cx="4133088" cy="1810512"/>
          </a:xfrm>
          <a:prstGeom prst="rect">
            <a:avLst/>
          </a:prstGeom>
          <a:solidFill>
            <a:srgbClr val="141414"/>
          </a:solidFill>
          <a:ln w="10160">
            <a:solidFill>
              <a:srgbClr val="E63329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804672"/>
            <a:ext cx="4133088" cy="256032"/>
          </a:xfrm>
          <a:prstGeom prst="rect">
            <a:avLst/>
          </a:prstGeom>
          <a:solidFill>
            <a:srgbClr val="E63329">
              <a:alpha val="85000"/>
            </a:srgbClr>
          </a:solidFill>
          <a:ln w="12700">
            <a:solidFill>
              <a:srgbClr val="E6332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2336" y="822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Downtime Erodes Margins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" y="1133856"/>
            <a:ext cx="38221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Two-day production shutdown from a system failure – no early warning system. Monitoring reacted too late.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08576" y="804672"/>
            <a:ext cx="4133088" cy="1810512"/>
          </a:xfrm>
          <a:prstGeom prst="rect">
            <a:avLst/>
          </a:prstGeom>
          <a:solidFill>
            <a:srgbClr val="141414"/>
          </a:solidFill>
          <a:ln w="10160">
            <a:solidFill>
              <a:srgbClr val="2E2E2E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08576" y="804672"/>
            <a:ext cx="4133088" cy="256032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822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Exists – But in Silos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133856"/>
            <a:ext cx="38221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machine line runs its own system. Data is manually merged into Excel weekly.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816352"/>
            <a:ext cx="4133088" cy="1810512"/>
          </a:xfrm>
          <a:prstGeom prst="rect">
            <a:avLst/>
          </a:prstGeom>
          <a:solidFill>
            <a:srgbClr val="141414"/>
          </a:solidFill>
          <a:ln w="10160">
            <a:solidFill>
              <a:srgbClr val="F97316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2816352"/>
            <a:ext cx="4133088" cy="256032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2336" y="2834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 Detection Too Late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" y="3145536"/>
            <a:ext cx="38221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 only surface at end of line – excessive rework costs with no root cause evidence.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08576" y="2816352"/>
            <a:ext cx="4133088" cy="1810512"/>
          </a:xfrm>
          <a:prstGeom prst="rect">
            <a:avLst/>
          </a:prstGeom>
          <a:solidFill>
            <a:srgbClr val="141414"/>
          </a:solidFill>
          <a:ln w="10160">
            <a:solidFill>
              <a:srgbClr val="F5C51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08576" y="2816352"/>
            <a:ext cx="4133088" cy="256032"/>
          </a:xfrm>
          <a:prstGeom prst="rect">
            <a:avLst/>
          </a:prstGeom>
          <a:solidFill>
            <a:srgbClr val="F5C518">
              <a:alpha val="85000"/>
            </a:srgbClr>
          </a:solidFill>
          <a:ln w="12700">
            <a:solidFill>
              <a:srgbClr val="F5C518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2834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Marcus: Single Point of Failure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145536"/>
            <a:ext cx="38221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he knows where data lives. No knowledge transfer, no backup process in place.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822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Perspectives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6032" y="42062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Aligned interests — diverging constraints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HydroScale Technologies  ·  SilverTrust Consulting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804672"/>
            <a:ext cx="2798064" cy="3931920"/>
          </a:xfrm>
          <a:prstGeom prst="rect">
            <a:avLst/>
          </a:prstGeom>
          <a:solidFill>
            <a:srgbClr val="141414"/>
          </a:solidFill>
          <a:ln w="10160">
            <a:solidFill>
              <a:srgbClr val="22C55E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804672"/>
            <a:ext cx="2798064" cy="566928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84124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Petra Sauermann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111556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Manager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149961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168249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Dashboard + Alerting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2066544"/>
            <a:ext cx="2542032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219456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239572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proof data for defects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" y="276148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walks between lines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" y="312724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L1–L3 not synchronized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4169664"/>
            <a:ext cx="2542032" cy="438912"/>
          </a:xfrm>
          <a:prstGeom prst="rect">
            <a:avLst/>
          </a:prstGeom>
          <a:solidFill>
            <a:srgbClr val="1C1C1C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4048" y="4169664"/>
            <a:ext cx="36576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" y="4206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Burned by prior tech rollout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82112" y="804672"/>
            <a:ext cx="2798064" cy="3931920"/>
          </a:xfrm>
          <a:prstGeom prst="rect">
            <a:avLst/>
          </a:prstGeom>
          <a:solidFill>
            <a:srgbClr val="141414"/>
          </a:solidFill>
          <a:ln w="1016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82112" y="804672"/>
            <a:ext cx="2798064" cy="566928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10128" y="84124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Marcus Dreher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111556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 Manager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10128" y="149961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10128" y="168249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Aggregation Layer (local, secure)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10128" y="2066544"/>
            <a:ext cx="2542032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10128" y="219456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10128" y="239572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in 3 systems, no link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10128" y="276148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SAP sync failures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10128" y="312724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Sole data gatekeeper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10128" y="4169664"/>
            <a:ext cx="2542032" cy="438912"/>
          </a:xfrm>
          <a:prstGeom prst="rect">
            <a:avLst/>
          </a:prstGeom>
          <a:solidFill>
            <a:srgbClr val="1C1C1C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310128" y="4169664"/>
            <a:ext cx="36576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01568" y="4206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complexity too high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08192" y="804672"/>
            <a:ext cx="2798064" cy="3931920"/>
          </a:xfrm>
          <a:prstGeom prst="rect">
            <a:avLst/>
          </a:prstGeom>
          <a:solidFill>
            <a:srgbClr val="141414"/>
          </a:solidFill>
          <a:ln w="1016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08192" y="804672"/>
            <a:ext cx="2798064" cy="566928"/>
          </a:xfrm>
          <a:prstGeom prst="rect">
            <a:avLst/>
          </a:prstGeom>
          <a:solidFill>
            <a:srgbClr val="A855F7">
              <a:alpha val="85000"/>
            </a:srgbClr>
          </a:solidFill>
          <a:ln w="12700">
            <a:solidFill>
              <a:srgbClr val="A855F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36208" y="84124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Ingrid Hoffmann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36208" y="111556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/ QM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36208" y="149961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36208" y="168249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Auto-reports for ISO &amp; CE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36208" y="2066544"/>
            <a:ext cx="2542032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36208" y="2194560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36208" y="239572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9001 docs have gaps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36208" y="276148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effort too high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36208" y="312724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OEM NDAs restrict data use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36208" y="4169664"/>
            <a:ext cx="2542032" cy="438912"/>
          </a:xfrm>
          <a:prstGeom prst="rect">
            <a:avLst/>
          </a:prstGeom>
          <a:solidFill>
            <a:srgbClr val="1C1C1C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236208" y="4169664"/>
            <a:ext cx="36576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27648" y="4206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not required – accuracy is key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7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8229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Architecture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6032" y="4297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On-premise  ·  GDPR-compliant  ·  AI Act Minimal Risk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HydroScale Technologies  ·  SilverTrust Consulting  ·  Confidential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5/9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510528" y="731520"/>
            <a:ext cx="20117" cy="4187952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728" y="859536"/>
            <a:ext cx="36576" cy="1152144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4592" y="859536"/>
            <a:ext cx="694944" cy="219456"/>
          </a:xfrm>
          <a:prstGeom prst="rect">
            <a:avLst/>
          </a:prstGeom>
          <a:solidFill>
            <a:srgbClr val="3B82F6">
              <a:alpha val="22000"/>
            </a:srgbClr>
          </a:solidFill>
          <a:ln w="635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4592" y="859536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00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109728" y="2176272"/>
            <a:ext cx="36576" cy="1463040"/>
          </a:xfrm>
          <a:prstGeom prst="rect">
            <a:avLst/>
          </a:prstGeom>
          <a:solidFill>
            <a:srgbClr val="F97316">
              <a:alpha val="6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64592" y="2176272"/>
            <a:ext cx="694944" cy="219456"/>
          </a:xfrm>
          <a:prstGeom prst="rect">
            <a:avLst/>
          </a:prstGeom>
          <a:solidFill>
            <a:srgbClr val="F97316">
              <a:alpha val="22000"/>
            </a:srgbClr>
          </a:solidFill>
          <a:ln w="6350">
            <a:solidFill>
              <a:srgbClr val="F9731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4592" y="217627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0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109728" y="3803904"/>
            <a:ext cx="36576" cy="1060704"/>
          </a:xfrm>
          <a:prstGeom prst="rect">
            <a:avLst/>
          </a:prstGeom>
          <a:solidFill>
            <a:srgbClr val="888888">
              <a:alpha val="60000"/>
            </a:srgbClr>
          </a:solidFill>
          <a:ln w="12700">
            <a:solidFill>
              <a:srgbClr val="8888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64592" y="3803904"/>
            <a:ext cx="694944" cy="219456"/>
          </a:xfrm>
          <a:prstGeom prst="rect">
            <a:avLst/>
          </a:prstGeom>
          <a:solidFill>
            <a:srgbClr val="888888">
              <a:alpha val="22000"/>
            </a:srgbClr>
          </a:solidFill>
          <a:ln w="6350">
            <a:solidFill>
              <a:srgbClr val="88888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64592" y="3803904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kern="0" spc="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950976" y="841248"/>
            <a:ext cx="1225296" cy="1042416"/>
          </a:xfrm>
          <a:prstGeom prst="rect">
            <a:avLst/>
          </a:prstGeom>
          <a:solidFill>
            <a:srgbClr val="141414"/>
          </a:solidFill>
          <a:ln w="1016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0976" y="841248"/>
            <a:ext cx="1225296" cy="18288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5840" y="1024128"/>
            <a:ext cx="11155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1517904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KPIs · Line status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563624" y="1883664"/>
            <a:ext cx="0" cy="27432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304288" y="841248"/>
            <a:ext cx="1225296" cy="1042416"/>
          </a:xfrm>
          <a:prstGeom prst="rect">
            <a:avLst/>
          </a:prstGeom>
          <a:solidFill>
            <a:srgbClr val="141414"/>
          </a:solidFill>
          <a:ln w="10160">
            <a:solidFill>
              <a:srgbClr val="22C55E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304288" y="841248"/>
            <a:ext cx="1225296" cy="182880"/>
          </a:xfrm>
          <a:prstGeom prst="rect">
            <a:avLst/>
          </a:prstGeom>
          <a:solidFill>
            <a:srgbClr val="22C55E">
              <a:alpha val="75000"/>
            </a:srgbClr>
          </a:solidFill>
          <a:ln w="12700">
            <a:solidFill>
              <a:srgbClr val="22C55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359152" y="1024128"/>
            <a:ext cx="11155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59152" y="1517904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reports · Defect tracking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916936" y="1883664"/>
            <a:ext cx="0" cy="27432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0" y="841248"/>
            <a:ext cx="1225296" cy="1042416"/>
          </a:xfrm>
          <a:prstGeom prst="rect">
            <a:avLst/>
          </a:prstGeom>
          <a:solidFill>
            <a:srgbClr val="141414"/>
          </a:solidFill>
          <a:ln w="1016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657600" y="841248"/>
            <a:ext cx="1225296" cy="182880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712464" y="1024128"/>
            <a:ext cx="11155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Alerting Agent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12464" y="1517904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alerts · Escalation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270248" y="1883664"/>
            <a:ext cx="0" cy="27432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010912" y="841248"/>
            <a:ext cx="1225296" cy="1042416"/>
          </a:xfrm>
          <a:prstGeom prst="rect">
            <a:avLst/>
          </a:prstGeom>
          <a:solidFill>
            <a:srgbClr val="141414"/>
          </a:solidFill>
          <a:ln w="1016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010912" y="841248"/>
            <a:ext cx="1225296" cy="182880"/>
          </a:xfrm>
          <a:prstGeom prst="rect">
            <a:avLst/>
          </a:prstGeom>
          <a:solidFill>
            <a:srgbClr val="A855F7">
              <a:alpha val="75000"/>
            </a:srgbClr>
          </a:solidFill>
          <a:ln w="12700">
            <a:solidFill>
              <a:srgbClr val="A855F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65776" y="1024128"/>
            <a:ext cx="11155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65776" y="1517904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5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CE / ISO 9001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623560" y="1883664"/>
            <a:ext cx="0" cy="27432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50976" y="2157984"/>
            <a:ext cx="5468112" cy="1463040"/>
          </a:xfrm>
          <a:prstGeom prst="rect">
            <a:avLst/>
          </a:prstGeom>
          <a:solidFill>
            <a:srgbClr val="1C1C1C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24128" y="2231136"/>
            <a:ext cx="1481328" cy="1243584"/>
          </a:xfrm>
          <a:prstGeom prst="rect">
            <a:avLst/>
          </a:prstGeom>
          <a:solidFill>
            <a:srgbClr val="141414"/>
          </a:solidFill>
          <a:ln w="10160">
            <a:solidFill>
              <a:srgbClr val="E63329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24128" y="2231136"/>
            <a:ext cx="1481328" cy="219456"/>
          </a:xfrm>
          <a:prstGeom prst="rect">
            <a:avLst/>
          </a:prstGeom>
          <a:solidFill>
            <a:srgbClr val="E63329">
              <a:alpha val="80000"/>
            </a:srgbClr>
          </a:solidFill>
          <a:ln w="12700">
            <a:solidFill>
              <a:srgbClr val="E63329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24128" y="223113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5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AGENT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1024128" y="2450592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&amp; Mail Monitoring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97280" y="2779776"/>
            <a:ext cx="13350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mail context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system awareness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knowledge graph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651760" y="2231136"/>
            <a:ext cx="2029968" cy="1243584"/>
          </a:xfrm>
          <a:prstGeom prst="rect">
            <a:avLst/>
          </a:prstGeom>
          <a:solidFill>
            <a:srgbClr val="0D0D0D"/>
          </a:solidFill>
          <a:ln w="22860">
            <a:solidFill>
              <a:srgbClr val="F9731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651760" y="2231136"/>
            <a:ext cx="202996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651760" y="223113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0" dirty="0">
                <a:solidFill>
                  <a:srgbClr val="0A0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 CORE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651760" y="248716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Data Layer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2743200" y="2761488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Aggregates all source systems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Harmonizes schemas &amp; timestamps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source of truth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On-premise – zero cloud exposure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09744" y="2231136"/>
            <a:ext cx="1536192" cy="1243584"/>
          </a:xfrm>
          <a:prstGeom prst="rect">
            <a:avLst/>
          </a:prstGeom>
          <a:solidFill>
            <a:srgbClr val="141414"/>
          </a:solidFill>
          <a:ln w="1016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809744" y="2231136"/>
            <a:ext cx="1536192" cy="219456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09744" y="223113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3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INVESTIGATIVE AGENT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4809744" y="2450592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 Analysis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882896" y="2779776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detection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recognition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data write access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505456" y="2852928"/>
            <a:ext cx="146304" cy="0"/>
          </a:xfrm>
          <a:prstGeom prst="line">
            <a:avLst/>
          </a:prstGeom>
          <a:noFill/>
          <a:ln w="12700">
            <a:solidFill>
              <a:srgbClr val="E63329"/>
            </a:solidFill>
            <a:prstDash val="solid"/>
            <a:headEnd type="arrow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681728" y="2852928"/>
            <a:ext cx="128016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024128" y="3694176"/>
            <a:ext cx="5321808" cy="347472"/>
          </a:xfrm>
          <a:prstGeom prst="rect">
            <a:avLst/>
          </a:prstGeom>
          <a:solidFill>
            <a:srgbClr val="141414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024128" y="3694176"/>
            <a:ext cx="36576" cy="34747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115568" y="371246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Agent  /  Automation Layer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115568" y="3877056"/>
            <a:ext cx="4572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Scheduled ETL jobs  ·  Data prep routines  ·  Feeds RAG Core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666744" y="3694176"/>
            <a:ext cx="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dash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50976" y="41148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Systems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743200" y="41148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DEV: A ≠ B ≠ C  ·  D/E: production feeds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950976" y="4334256"/>
            <a:ext cx="749808" cy="164592"/>
          </a:xfrm>
          <a:prstGeom prst="ellipse">
            <a:avLst/>
          </a:prstGeom>
          <a:solidFill>
            <a:srgbClr val="F97316">
              <a:alpha val="38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50976" y="4416552"/>
            <a:ext cx="749808" cy="457200"/>
          </a:xfrm>
          <a:prstGeom prst="rect">
            <a:avLst/>
          </a:prstGeom>
          <a:solidFill>
            <a:srgbClr val="F97316">
              <a:alpha val="28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50976" y="4672584"/>
            <a:ext cx="749808" cy="164592"/>
          </a:xfrm>
          <a:prstGeom prst="ellipse">
            <a:avLst/>
          </a:prstGeom>
          <a:solidFill>
            <a:srgbClr val="F97316">
              <a:alpha val="20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950976" y="443484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1325880" y="4334256"/>
            <a:ext cx="2340864" cy="0"/>
          </a:xfrm>
          <a:prstGeom prst="line">
            <a:avLst/>
          </a:prstGeom>
          <a:noFill/>
          <a:ln w="10160">
            <a:solidFill>
              <a:srgbClr val="F97316">
                <a:alpha val="45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048256" y="4334256"/>
            <a:ext cx="749808" cy="164592"/>
          </a:xfrm>
          <a:prstGeom prst="ellipse">
            <a:avLst/>
          </a:prstGeom>
          <a:solidFill>
            <a:srgbClr val="F97316">
              <a:alpha val="38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048256" y="4416552"/>
            <a:ext cx="749808" cy="457200"/>
          </a:xfrm>
          <a:prstGeom prst="rect">
            <a:avLst/>
          </a:prstGeom>
          <a:solidFill>
            <a:srgbClr val="F97316">
              <a:alpha val="28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2048256" y="4672584"/>
            <a:ext cx="749808" cy="164592"/>
          </a:xfrm>
          <a:prstGeom prst="ellipse">
            <a:avLst/>
          </a:prstGeom>
          <a:solidFill>
            <a:srgbClr val="F97316">
              <a:alpha val="20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2048256" y="443484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2423160" y="4334256"/>
            <a:ext cx="1243584" cy="0"/>
          </a:xfrm>
          <a:prstGeom prst="line">
            <a:avLst/>
          </a:prstGeom>
          <a:noFill/>
          <a:ln w="10160">
            <a:solidFill>
              <a:srgbClr val="F97316">
                <a:alpha val="45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3145536" y="4334256"/>
            <a:ext cx="749808" cy="164592"/>
          </a:xfrm>
          <a:prstGeom prst="ellipse">
            <a:avLst/>
          </a:prstGeom>
          <a:solidFill>
            <a:srgbClr val="F97316">
              <a:alpha val="38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3145536" y="4416552"/>
            <a:ext cx="749808" cy="457200"/>
          </a:xfrm>
          <a:prstGeom prst="rect">
            <a:avLst/>
          </a:prstGeom>
          <a:solidFill>
            <a:srgbClr val="F97316">
              <a:alpha val="28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3145536" y="4672584"/>
            <a:ext cx="749808" cy="164592"/>
          </a:xfrm>
          <a:prstGeom prst="ellipse">
            <a:avLst/>
          </a:prstGeom>
          <a:solidFill>
            <a:srgbClr val="F97316">
              <a:alpha val="20000"/>
            </a:srgbClr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145536" y="443484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3520440" y="4334256"/>
            <a:ext cx="146304" cy="0"/>
          </a:xfrm>
          <a:prstGeom prst="line">
            <a:avLst/>
          </a:prstGeom>
          <a:noFill/>
          <a:ln w="10160">
            <a:solidFill>
              <a:srgbClr val="F97316">
                <a:alpha val="45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4242816" y="4334256"/>
            <a:ext cx="749808" cy="164592"/>
          </a:xfrm>
          <a:prstGeom prst="ellipse">
            <a:avLst/>
          </a:prstGeom>
          <a:solidFill>
            <a:srgbClr val="888888">
              <a:alpha val="38000"/>
            </a:srgbClr>
          </a:solidFill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4242816" y="4416552"/>
            <a:ext cx="749808" cy="457200"/>
          </a:xfrm>
          <a:prstGeom prst="rect">
            <a:avLst/>
          </a:prstGeom>
          <a:solidFill>
            <a:srgbClr val="888888">
              <a:alpha val="28000"/>
            </a:srgbClr>
          </a:solidFill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4242816" y="4672584"/>
            <a:ext cx="749808" cy="164592"/>
          </a:xfrm>
          <a:prstGeom prst="ellipse">
            <a:avLst/>
          </a:prstGeom>
          <a:solidFill>
            <a:srgbClr val="888888">
              <a:alpha val="20000"/>
            </a:srgbClr>
          </a:solidFill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242816" y="443484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4617720" y="4334256"/>
            <a:ext cx="0" cy="0"/>
          </a:xfrm>
          <a:prstGeom prst="line">
            <a:avLst/>
          </a:prstGeom>
          <a:noFill/>
          <a:ln w="10160">
            <a:solidFill>
              <a:srgbClr val="888888">
                <a:alpha val="45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5340096" y="4334256"/>
            <a:ext cx="749808" cy="164592"/>
          </a:xfrm>
          <a:prstGeom prst="ellipse">
            <a:avLst/>
          </a:prstGeom>
          <a:solidFill>
            <a:srgbClr val="888888">
              <a:alpha val="38000"/>
            </a:srgbClr>
          </a:solidFill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5340096" y="4416552"/>
            <a:ext cx="749808" cy="457200"/>
          </a:xfrm>
          <a:prstGeom prst="rect">
            <a:avLst/>
          </a:prstGeom>
          <a:solidFill>
            <a:srgbClr val="888888">
              <a:alpha val="28000"/>
            </a:srgbClr>
          </a:solidFill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5340096" y="4672584"/>
            <a:ext cx="749808" cy="164592"/>
          </a:xfrm>
          <a:prstGeom prst="ellipse">
            <a:avLst/>
          </a:prstGeom>
          <a:solidFill>
            <a:srgbClr val="888888">
              <a:alpha val="20000"/>
            </a:srgbClr>
          </a:solidFill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5340096" y="4434840"/>
            <a:ext cx="749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5715000" y="4334256"/>
            <a:ext cx="0" cy="0"/>
          </a:xfrm>
          <a:prstGeom prst="line">
            <a:avLst/>
          </a:prstGeom>
          <a:noFill/>
          <a:ln w="10160">
            <a:solidFill>
              <a:srgbClr val="888888">
                <a:alpha val="45000"/>
              </a:srgbClr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6601968" y="804672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LINES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6601968" y="1060704"/>
            <a:ext cx="2432304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B82F6">
                <a:alpha val="5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6601968" y="1060704"/>
            <a:ext cx="128016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6784848" y="1060704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 · Assembly Line 1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9034272" y="1271016"/>
            <a:ext cx="54864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6601968" y="1572768"/>
            <a:ext cx="2432304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B82F6">
                <a:alpha val="5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6601968" y="1572768"/>
            <a:ext cx="128016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6784848" y="1572768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 · Assembly Line 2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9034272" y="1783080"/>
            <a:ext cx="54864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6601968" y="2084832"/>
            <a:ext cx="2432304" cy="420624"/>
          </a:xfrm>
          <a:prstGeom prst="rect">
            <a:avLst/>
          </a:prstGeom>
          <a:solidFill>
            <a:srgbClr val="141414"/>
          </a:solidFill>
          <a:ln w="12700">
            <a:solidFill>
              <a:srgbClr val="3B82F6">
                <a:alpha val="55000"/>
              </a:srgbClr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6601968" y="2084832"/>
            <a:ext cx="128016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6784848" y="2084832"/>
            <a:ext cx="2176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L3 · Assembly Line 3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9034272" y="2295144"/>
            <a:ext cx="54864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6601968" y="2688336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feed to dashboards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6601968" y="2926080"/>
            <a:ext cx="2432304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6601968" y="2980944"/>
            <a:ext cx="2432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6601968" y="3236976"/>
            <a:ext cx="2432304" cy="347472"/>
          </a:xfrm>
          <a:prstGeom prst="rect">
            <a:avLst/>
          </a:prstGeom>
          <a:solidFill>
            <a:srgbClr val="141414"/>
          </a:solidFill>
          <a:ln w="10160">
            <a:solidFill>
              <a:srgbClr val="E6332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6601968" y="3236976"/>
            <a:ext cx="530352" cy="347472"/>
          </a:xfrm>
          <a:prstGeom prst="rect">
            <a:avLst/>
          </a:prstGeom>
          <a:solidFill>
            <a:srgbClr val="E63329">
              <a:alpha val="30000"/>
            </a:srgbClr>
          </a:solidFill>
          <a:ln w="12700">
            <a:solidFill>
              <a:srgbClr val="E6332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6601968" y="3236976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GDPR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7168896" y="327355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PII  ·  Employee data protected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6601968" y="3657600"/>
            <a:ext cx="2432304" cy="347472"/>
          </a:xfrm>
          <a:prstGeom prst="rect">
            <a:avLst/>
          </a:prstGeom>
          <a:solidFill>
            <a:srgbClr val="141414"/>
          </a:solidFill>
          <a:ln w="10160">
            <a:solidFill>
              <a:srgbClr val="F9731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6601968" y="3657600"/>
            <a:ext cx="530352" cy="347472"/>
          </a:xfrm>
          <a:prstGeom prst="rect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6601968" y="365760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Act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7168896" y="3694176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Risk  ·  No auto decisions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6601968" y="4078224"/>
            <a:ext cx="2432304" cy="347472"/>
          </a:xfrm>
          <a:prstGeom prst="rect">
            <a:avLst/>
          </a:prstGeom>
          <a:solidFill>
            <a:srgbClr val="141414"/>
          </a:solidFill>
          <a:ln w="1016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6601968" y="4078224"/>
            <a:ext cx="530352" cy="347472"/>
          </a:xfrm>
          <a:prstGeom prst="rect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6601968" y="4078224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9001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7168896" y="411480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audit trails  ·  Traceability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6601968" y="4498848"/>
            <a:ext cx="2432304" cy="347472"/>
          </a:xfrm>
          <a:prstGeom prst="rect">
            <a:avLst/>
          </a:prstGeom>
          <a:solidFill>
            <a:srgbClr val="141414"/>
          </a:solidFill>
          <a:ln w="10160">
            <a:solidFill>
              <a:srgbClr val="A855F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6601968" y="4498848"/>
            <a:ext cx="530352" cy="347472"/>
          </a:xfrm>
          <a:prstGeom prst="rect">
            <a:avLst/>
          </a:prstGeom>
          <a:solidFill>
            <a:srgbClr val="A855F7">
              <a:alpha val="30000"/>
            </a:srgbClr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6601968" y="449884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NDAs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7168896" y="4535424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On-premise only  ·  Legal review req.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822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&amp; Regulatory Framework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HydroScale Technologies  ·  SilverTrust Consulting  ·  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6/9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804672"/>
            <a:ext cx="4133088" cy="1828800"/>
          </a:xfrm>
          <a:prstGeom prst="rect">
            <a:avLst/>
          </a:prstGeom>
          <a:solidFill>
            <a:srgbClr val="141414"/>
          </a:solidFill>
          <a:ln w="10160">
            <a:solidFill>
              <a:srgbClr val="E63329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6032" y="804672"/>
            <a:ext cx="128016" cy="1828800"/>
          </a:xfrm>
          <a:prstGeom prst="rect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2064" y="8961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" y="12801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PII at ingestion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" y="170078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data only with safeguards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" y="212140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time data protected under labor law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08576" y="804672"/>
            <a:ext cx="4133088" cy="1828800"/>
          </a:xfrm>
          <a:prstGeom prst="rect">
            <a:avLst/>
          </a:prstGeom>
          <a:solidFill>
            <a:srgbClr val="141414"/>
          </a:solidFill>
          <a:ln w="10160">
            <a:solidFill>
              <a:srgbClr val="F97316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08576" y="804672"/>
            <a:ext cx="128016" cy="1828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8961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Act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64608" y="12801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Minimal Risk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170078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autonomous decisions affecting people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212140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Transparency documentation recommended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2834640"/>
            <a:ext cx="4133088" cy="1828800"/>
          </a:xfrm>
          <a:prstGeom prst="rect">
            <a:avLst/>
          </a:prstGeom>
          <a:solidFill>
            <a:srgbClr val="141414"/>
          </a:solidFill>
          <a:ln w="10160">
            <a:solidFill>
              <a:srgbClr val="22C55E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" y="2834640"/>
            <a:ext cx="128016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2064" y="29260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9001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2064" y="331012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Audit-ready reports auto-generated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" y="373075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data traceability ensured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" y="415137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gaps in quality documentation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08576" y="2834640"/>
            <a:ext cx="4133088" cy="1828800"/>
          </a:xfrm>
          <a:prstGeom prst="rect">
            <a:avLst/>
          </a:prstGeom>
          <a:solidFill>
            <a:srgbClr val="141414"/>
          </a:solidFill>
          <a:ln w="1016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08576" y="2834640"/>
            <a:ext cx="128016" cy="18288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64608" y="29260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NDAs / OEM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64608" y="331012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data stays on-premise only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64608" y="373075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cloud transfer without legal clearance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64608" y="415137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review before go-live required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822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AI Actually Delivers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6032" y="42062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manual chaos to an intelligent data pipeline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HydroScale Technologies  ·  SilverTrust Consulting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804672"/>
            <a:ext cx="2029968" cy="3931920"/>
          </a:xfrm>
          <a:prstGeom prst="rect">
            <a:avLst/>
          </a:prstGeom>
          <a:solidFill>
            <a:srgbClr val="141414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804672"/>
            <a:ext cx="2029968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" y="877824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Late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6032" y="148132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 detection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" y="1847088"/>
            <a:ext cx="173736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" y="1938528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E6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2176272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of line → rework costs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2336" y="2980944"/>
            <a:ext cx="173736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" y="3072384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3310128"/>
            <a:ext cx="18105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alerts at L1/L2/L3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32304" y="804672"/>
            <a:ext cx="2029968" cy="3931920"/>
          </a:xfrm>
          <a:prstGeom prst="rect">
            <a:avLst/>
          </a:prstGeom>
          <a:solidFill>
            <a:srgbClr val="141414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432304" y="804672"/>
            <a:ext cx="2029968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32304" y="877824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Person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432304" y="148132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access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78608" y="1847088"/>
            <a:ext cx="173736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432304" y="1938528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E6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42032" y="2176272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Marcus as sole gatekeeper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78608" y="2980944"/>
            <a:ext cx="173736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432304" y="3072384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42032" y="3310128"/>
            <a:ext cx="18105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dashboard for all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08576" y="804672"/>
            <a:ext cx="2029968" cy="3931920"/>
          </a:xfrm>
          <a:prstGeom prst="rect">
            <a:avLst/>
          </a:prstGeom>
          <a:solidFill>
            <a:srgbClr val="141414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08576" y="804672"/>
            <a:ext cx="2029968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08576" y="877824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Systems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608576" y="148132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silos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1847088"/>
            <a:ext cx="173736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08576" y="1938528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E6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18304" y="2176272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weekly Excel merge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980944"/>
            <a:ext cx="173736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608576" y="3072384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18304" y="3310128"/>
            <a:ext cx="18105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aggregation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84848" y="804672"/>
            <a:ext cx="2029968" cy="3931920"/>
          </a:xfrm>
          <a:prstGeom prst="rect">
            <a:avLst/>
          </a:prstGeom>
          <a:solidFill>
            <a:srgbClr val="141414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784848" y="804672"/>
            <a:ext cx="2029968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84848" y="877824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6784848" y="148132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QM reporting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31152" y="1847088"/>
            <a:ext cx="173736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784848" y="1938528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E6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94576" y="2176272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Time-consuming, error-prone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31152" y="2980944"/>
            <a:ext cx="173736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784848" y="3072384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94576" y="3310128"/>
            <a:ext cx="18105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ISO-compliant reports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20117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822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6032" y="42062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· Legal · Data Inventory · MVP · Go/No-Go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HydroScale Technologies  ·  SilverTrust Consulting  ·  Confidential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6032" y="804672"/>
            <a:ext cx="8631936" cy="676656"/>
          </a:xfrm>
          <a:prstGeom prst="rect">
            <a:avLst/>
          </a:prstGeom>
          <a:solidFill>
            <a:srgbClr val="141414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" y="91440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" y="8595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Finalize Proposal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11521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SilverTrust prepares detailed proposal based on this interview.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89611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SilverTrust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89611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CW 23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1600200"/>
            <a:ext cx="8631936" cy="676656"/>
          </a:xfrm>
          <a:prstGeom prst="rect">
            <a:avLst/>
          </a:prstGeom>
          <a:solidFill>
            <a:srgbClr val="141414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9184" y="1709928"/>
            <a:ext cx="457200" cy="457200"/>
          </a:xfrm>
          <a:prstGeom prst="ellipse">
            <a:avLst/>
          </a:prstGeom>
          <a:solidFill>
            <a:srgbClr val="E63329"/>
          </a:solidFill>
          <a:ln w="12700">
            <a:solidFill>
              <a:srgbClr val="E633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9184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" y="16550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Review – NDAs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1947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Ingrid coordinates with legal: data sharing and AI use to be cleared.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16916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3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Ingrid Hoffmann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1691640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CW 23–24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2395728"/>
            <a:ext cx="8631936" cy="676656"/>
          </a:xfrm>
          <a:prstGeom prst="rect">
            <a:avLst/>
          </a:prstGeom>
          <a:solidFill>
            <a:srgbClr val="141414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9184" y="2505456"/>
            <a:ext cx="457200" cy="45720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9184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688" y="24505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Inventory Workshop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" y="27432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Marcus: document all sources, map connections and ownership.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24871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5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Marcus + SilverTrust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0" y="2487168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CW 24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3191256"/>
            <a:ext cx="8631936" cy="676656"/>
          </a:xfrm>
          <a:prstGeom prst="rect">
            <a:avLst/>
          </a:prstGeom>
          <a:solidFill>
            <a:srgbClr val="141414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9184" y="3300984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9184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32688" y="32461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MVP Scope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32688" y="35387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line L1 as test environment for dashboard + alerting. Define KPIs.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0" y="32826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Petra + SilverTrust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3282696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CW 25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" y="3986784"/>
            <a:ext cx="8631936" cy="676656"/>
          </a:xfrm>
          <a:prstGeom prst="rect">
            <a:avLst/>
          </a:prstGeom>
          <a:solidFill>
            <a:srgbClr val="141414"/>
          </a:solidFill>
          <a:ln w="635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29184" y="4096512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9184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32688" y="40416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 / No-Go Decision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32688" y="43342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stakeholders: green light for implementation start.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26480" y="40782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46720" y="4078224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CW 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7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914400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3657600"/>
            <a:ext cx="9144000" cy="20117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463040"/>
            <a:ext cx="201168" cy="20117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2560320"/>
            <a:ext cx="128016" cy="20117"/>
          </a:xfrm>
          <a:prstGeom prst="rect">
            <a:avLst/>
          </a:prstGeom>
          <a:solidFill>
            <a:srgbClr val="F97316">
              <a:alpha val="55000"/>
            </a:srgbClr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you.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256032" y="214884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look forward to working with Vulkan Works.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6032" y="2834640"/>
            <a:ext cx="21945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298094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SilverTrust Consulting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" y="33284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 Comments? We're ready.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3108960"/>
            <a:ext cx="1298448" cy="1298448"/>
          </a:xfrm>
          <a:prstGeom prst="ellipse">
            <a:avLst/>
          </a:prstGeom>
          <a:solidFill>
            <a:srgbClr val="1C1C1C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17536" y="3328416"/>
            <a:ext cx="859536" cy="859536"/>
          </a:xfrm>
          <a:prstGeom prst="ellipse">
            <a:avLst/>
          </a:prstGeom>
          <a:solidFill>
            <a:srgbClr val="141414"/>
          </a:solidFill>
          <a:ln w="1016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36992" y="3547872"/>
            <a:ext cx="420624" cy="42062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29844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4956048"/>
            <a:ext cx="9144000" cy="20117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" y="4974336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HydroScale Technologies  ·  SilverTrust Consulting  ·  Confidential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229600" y="497433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</Words>
  <Application>Microsoft Office PowerPoint</Application>
  <PresentationFormat>Bildschirmpräsentation (16:9)</PresentationFormat>
  <Paragraphs>217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Vulkan Works – AI Data Intelligence</dc:title>
  <dc:subject>PptxGenJS Presentation</dc:subject>
  <dc:creator>PptxGenJS</dc:creator>
  <cp:lastModifiedBy>Kleber, Gunter</cp:lastModifiedBy>
  <cp:revision>2</cp:revision>
  <dcterms:created xsi:type="dcterms:W3CDTF">2026-06-01T13:54:37Z</dcterms:created>
  <dcterms:modified xsi:type="dcterms:W3CDTF">2026-06-01T14:33:27Z</dcterms:modified>
</cp:coreProperties>
</file>