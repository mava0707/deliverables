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LLM Calls / 1K Tickets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 calls / 1,000 tickets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caching</c:v>
                  </c:pt>
                  <c:pt idx="1">
                    <c:v>After caching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82296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00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Tech Assessment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5760" y="1417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Customer Support Assistant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2011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Forward-Looking Assessment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CTO / Head of Engineering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64592" y="4114800"/>
            <a:ext cx="8979408" cy="1028700"/>
          </a:xfrm>
          <a:prstGeom prst="rect">
            <a:avLst/>
          </a:prstGeom>
          <a:solidFill>
            <a:srgbClr val="0E4D4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6052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efficiency = cost efficiency. Every wasted GPU cycle is a dollar and a gram of CO₂eq.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Green Software Matters 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Risk · Reputation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FDF0E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E07B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every ticket: ~$80K/mo.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routing: ~$18K/mo.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outcomes, 4× cheaper.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E6F4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37160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08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RFPs now require carbon disclosures. No methodology = bid disqualified.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E6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37160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7220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Overclaiming 'carbon-neutral AI' without methodology triggers greenwashing allegations.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B2B SaaS company with 50K monthly support tickets, currently routing every query to GPT-4o.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Unit of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the functional unit everything is measured against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6400800" cy="1371600"/>
          </a:xfrm>
          <a:prstGeom prst="rect">
            <a:avLst/>
          </a:prstGeom>
          <a:solidFill>
            <a:srgbClr val="0E4D4D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17320"/>
            <a:ext cx="137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5087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"One unit of value for this system is: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fully resolved customer support ticket."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54864" cy="2377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0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are the atomic unit of business value the client tracks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13048"/>
            <a:ext cx="54864" cy="2377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naturally — 50K/mo today, 500K/mo tomorrow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97096"/>
            <a:ext cx="54864" cy="2377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78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apples-to-apples comparison: GPT-4o vs. routed vs. cached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81144"/>
            <a:ext cx="54864" cy="2377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628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 = (O + M) / R — reducing calls per ticket directly reduces SCI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Defense — Hotspots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energy &amp; carbon actually concentrate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per ticket (relative)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3860" cy="411480"/>
          </a:xfrm>
          <a:prstGeom prst="rect">
            <a:avLst/>
          </a:prstGeom>
          <a:solidFill>
            <a:srgbClr val="7A9EA8"/>
          </a:solidFill>
          <a:ln/>
        </p:spPr>
      </p:sp>
      <p:sp>
        <p:nvSpPr>
          <p:cNvPr id="6" name="Text 4"/>
          <p:cNvSpPr/>
          <p:nvPr/>
        </p:nvSpPr>
        <p:spPr>
          <a:xfrm>
            <a:off x="86106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423160" cy="4114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(2,400 tok avg)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1615440" cy="4114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Text 8"/>
          <p:cNvSpPr/>
          <p:nvPr/>
        </p:nvSpPr>
        <p:spPr>
          <a:xfrm>
            <a:off x="207264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chunks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8463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call (every ticket)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403860" cy="411480"/>
          </a:xfrm>
          <a:prstGeom prst="rect">
            <a:avLst/>
          </a:prstGeom>
          <a:solidFill>
            <a:srgbClr val="7A9EA8"/>
          </a:solidFill>
          <a:ln/>
        </p:spPr>
      </p:sp>
      <p:sp>
        <p:nvSpPr>
          <p:cNvPr id="14" name="Text 12"/>
          <p:cNvSpPr/>
          <p:nvPr/>
        </p:nvSpPr>
        <p:spPr>
          <a:xfrm>
            <a:off x="86106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delivery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325880"/>
            <a:ext cx="3383280" cy="1920240"/>
          </a:xfrm>
          <a:prstGeom prst="rect">
            <a:avLst/>
          </a:prstGeom>
          <a:solidFill>
            <a:srgbClr val="FFF8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325880"/>
            <a:ext cx="3383280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Why believe this?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175564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per-request energy meter. Cost is our proxy — GPT-4o input token pricing is public. At 50K tickets/mo, a 2,400-token system prompt alone = 120M tokens/mo. That is the measurable lever.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6FB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315968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43251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candidate: ~30% of tickets are FAQ/billing repeats — semantically identical queries hitting the LLM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Defense — Assumptions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guesses · What we do not know yet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 &amp; Grid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US-East-1 (AWS) — ~400 gCO₂eq/kWh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Actual grid mix; carbon-aware shift not yet evaluated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58368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GPT-4o on 100% of calls, ~15K params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103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No quality eval on smaller tiers done yet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length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~2,400 tokens (from cost receipts)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8346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Whether trimming degrades CSAT — not measured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658368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5661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100% synchronous; no batching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5661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% of tickets that are non-urgent and batchable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976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query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~30% FAQ overlap (industry benchmark)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4297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Client's actual semantic similarity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Pillars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GSF pillars our hotspots touch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11680" cy="3474720"/>
          </a:xfrm>
          <a:prstGeom prst="rect">
            <a:avLst/>
          </a:prstGeom>
          <a:solidFill>
            <a:srgbClr val="065A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84048" y="260604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lower-intensity region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" y="320040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batch jobs for low-carbon grid windows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280160"/>
            <a:ext cx="2011680" cy="3474720"/>
          </a:xfrm>
          <a:prstGeom prst="rect">
            <a:avLst/>
          </a:prstGeom>
          <a:solidFill>
            <a:srgbClr val="5C320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280160"/>
            <a:ext cx="2011680" cy="73152"/>
          </a:xfrm>
          <a:prstGeom prst="rect">
            <a:avLst/>
          </a:prstGeom>
          <a:solidFill>
            <a:srgbClr val="E07B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173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578608" y="2606040"/>
            <a:ext cx="54864" cy="3657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7" name="Text 13"/>
          <p:cNvSpPr/>
          <p:nvPr/>
        </p:nvSpPr>
        <p:spPr>
          <a:xfrm>
            <a:off x="269748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system prompt tokens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578608" y="3200400"/>
            <a:ext cx="54864" cy="3657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5"/>
          <p:cNvSpPr/>
          <p:nvPr/>
        </p:nvSpPr>
        <p:spPr>
          <a:xfrm>
            <a:off x="269748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model per ticket class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63440" y="1280160"/>
            <a:ext cx="2011680" cy="3474720"/>
          </a:xfrm>
          <a:prstGeom prst="rect">
            <a:avLst/>
          </a:prstGeom>
          <a:solidFill>
            <a:srgbClr val="0B305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1280160"/>
            <a:ext cx="2011680" cy="73152"/>
          </a:xfrm>
          <a:prstGeom prst="rect">
            <a:avLst/>
          </a:prstGeom>
          <a:solidFill>
            <a:srgbClr val="4DA6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773168" y="2606040"/>
            <a:ext cx="54864" cy="36576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25" name="Text 20"/>
          <p:cNvSpPr/>
          <p:nvPr/>
        </p:nvSpPr>
        <p:spPr>
          <a:xfrm>
            <a:off x="489204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autoscaling (no idle GPU)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73168" y="3200400"/>
            <a:ext cx="54864" cy="36576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27" name="Text 22"/>
          <p:cNvSpPr/>
          <p:nvPr/>
        </p:nvSpPr>
        <p:spPr>
          <a:xfrm>
            <a:off x="489204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non-urgent tickets overnight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858000" y="1280160"/>
            <a:ext cx="2011680" cy="3474720"/>
          </a:xfrm>
          <a:prstGeom prst="rect">
            <a:avLst/>
          </a:prstGeom>
          <a:solidFill>
            <a:srgbClr val="3A1F5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58000" y="1280160"/>
            <a:ext cx="2011680" cy="73152"/>
          </a:xfrm>
          <a:prstGeom prst="rect">
            <a:avLst/>
          </a:prstGeom>
          <a:solidFill>
            <a:srgbClr val="B48A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640080" cy="6400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967728" y="2606040"/>
            <a:ext cx="54864" cy="365760"/>
          </a:xfrm>
          <a:prstGeom prst="rect">
            <a:avLst/>
          </a:prstGeom>
          <a:solidFill>
            <a:srgbClr val="B48AFF"/>
          </a:solidFill>
          <a:ln/>
        </p:spPr>
      </p:sp>
      <p:sp>
        <p:nvSpPr>
          <p:cNvPr id="33" name="Text 27"/>
          <p:cNvSpPr/>
          <p:nvPr/>
        </p:nvSpPr>
        <p:spPr>
          <a:xfrm>
            <a:off x="708660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tokens/ticket weekly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967728" y="3200400"/>
            <a:ext cx="54864" cy="365760"/>
          </a:xfrm>
          <a:prstGeom prst="rect">
            <a:avLst/>
          </a:prstGeom>
          <a:solidFill>
            <a:srgbClr val="B48AFF"/>
          </a:solidFill>
          <a:ln/>
        </p:spPr>
      </p:sp>
      <p:sp>
        <p:nvSpPr>
          <p:cNvPr id="35" name="Text 29"/>
          <p:cNvSpPr/>
          <p:nvPr/>
        </p:nvSpPr>
        <p:spPr>
          <a:xfrm>
            <a:off x="708660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 SCI proxy; set success threshold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1: Model Right-Sizing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 · Carbon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FDF3F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handles 100% of tickets. 85–90% of these are tier-1 queries a smaller model resolves at acceptable quality.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325880"/>
            <a:ext cx="2743200" cy="3474720"/>
          </a:xfrm>
          <a:prstGeom prst="rect">
            <a:avLst/>
          </a:prstGeom>
          <a:solidFill>
            <a:srgbClr val="EBF7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32588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query complexity: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Haiku / GPT-4o-mini → tier-1 (FAQ, billing)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 → escalation only (technical, edge cases)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sample eval before cutover.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743200" cy="3474720"/>
          </a:xfrm>
          <a:prstGeom prst="rect">
            <a:avLst/>
          </a:prstGeom>
          <a:solidFill>
            <a:srgbClr val="E6FB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258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cost: −65–75%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proxy: proportional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faster on tier-1 (smaller model)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GreenPatterns: energy-proportional-computing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A8"/>
                </a:solidFill>
              </a:rPr>
              <a:t>Pillar: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773168"/>
            <a:ext cx="1005840" cy="2560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4773168"/>
            <a:ext cx="100584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Carbon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2: Semantic Caching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 · Hardware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772400" y="109728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25880"/>
            <a:ext cx="4754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 each incoming 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vector store for cosine similarity &gt; 0.92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Cache HIT → return stored answer (no LLM call)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Cache MISS → call LLM, store result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hit rate: 25–35% (FAQ, billing, password resets)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cost: ~1/200th of GPT-4o call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303520" y="132588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7731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A8"/>
                </a:solidFill>
              </a:rPr>
              <a:t>Pillar: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Energy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011680" y="4773168"/>
            <a:ext cx="1005840" cy="256032"/>
          </a:xfrm>
          <a:prstGeom prst="rect">
            <a:avLst/>
          </a:prstGeom>
          <a:solidFill>
            <a:srgbClr val="0B3054"/>
          </a:solidFill>
          <a:ln/>
        </p:spPr>
      </p:sp>
      <p:sp>
        <p:nvSpPr>
          <p:cNvPr id="13" name="Text 9"/>
          <p:cNvSpPr/>
          <p:nvPr/>
        </p:nvSpPr>
        <p:spPr>
          <a:xfrm>
            <a:off x="201168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Hardware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3: Prompt Efficiency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prompt anatomy (avg 2,400 tokens)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1031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417320"/>
            <a:ext cx="294436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5413248" y="1417320"/>
            <a:ext cx="1682496" cy="5029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Shape 6"/>
          <p:cNvSpPr/>
          <p:nvPr/>
        </p:nvSpPr>
        <p:spPr>
          <a:xfrm>
            <a:off x="7095744" y="1417320"/>
            <a:ext cx="1682496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57400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instructions (25%)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057400"/>
            <a:ext cx="201168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examples (repeated) (35%)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201168" cy="2011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policy boilerplate (20%)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2057400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context / RAG (20%)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8412480" cy="2103120"/>
          </a:xfrm>
          <a:prstGeom prst="rect">
            <a:avLst/>
          </a:prstGeom>
          <a:solidFill>
            <a:srgbClr val="E6F4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&amp; impact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4864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992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repeated examples from system prompt → save ~840 tokens/call = 42M tokens/month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54864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564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RAG chunks: summarize before injection → reduce avg input by further 400–600 tokens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4864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136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conversation history: keep last 3 turns only (not full transcript)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projected reduction: 2,400 → ~950 tokens/call avg (−60% input tokens)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A8"/>
                </a:solidFill>
              </a:rPr>
              <a:t>Pillar: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Energy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4: Regional Routing &amp; Batching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Carbon ·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3566160"/>
          </a:xfrm>
          <a:prstGeom prst="rect">
            <a:avLst/>
          </a:prstGeom>
          <a:solidFill>
            <a:srgbClr val="EBF7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Routing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8745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intensity varies 5–10× by region.
</a:t>
            </a:r>
            <a:pPr indent="0" marL="0">
              <a:buNone/>
            </a:pPr>
            <a:r>
              <a:rPr lang="en-US" sz="1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 (current): ~400 gCO₂/kWh
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 (Ireland): ~220 gCO₂/kWh
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 (Azure): ~20 gCO₂/kWh
</a:t>
            </a:r>
            <a:pPr indent="0" marL="0">
              <a:buNone/>
            </a:pPr>
            <a:r>
              <a:rPr lang="en-US" sz="12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limit: user-facing inference has latency constraints. Apply to batch jobs, eval runs, training first.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114800" cy="3566160"/>
          </a:xfrm>
          <a:prstGeom prst="rect">
            <a:avLst/>
          </a:prstGeom>
          <a:solidFill>
            <a:srgbClr val="F0F0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006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 Batching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00600" y="18745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tickets are non-urgent (feature requests, post-resolution follow-ups).
</a:t>
            </a:r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these during business hours → process in a single batch run overnight.
</a:t>
            </a:r>
            <a:pPr indent="0" marL="0">
              <a:buNone/>
            </a:pPr>
            <a:r>
              <a:rPr lang="en-US" sz="1200" b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
</a:t>
            </a:r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inference is more compute-efficient
</a:t>
            </a:r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schedule for low-carbon grid window
</a:t>
            </a:r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peak API concurrency (cost + latency)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47731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A8"/>
                </a:solidFill>
              </a:rPr>
              <a:t>Pillar: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Carbon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11680" y="4773168"/>
            <a:ext cx="1005840" cy="256032"/>
          </a:xfrm>
          <a:prstGeom prst="rect">
            <a:avLst/>
          </a:prstGeom>
          <a:solidFill>
            <a:srgbClr val="0B3054"/>
          </a:solidFill>
          <a:ln/>
        </p:spPr>
      </p:sp>
      <p:sp>
        <p:nvSpPr>
          <p:cNvPr id="16" name="Text 12"/>
          <p:cNvSpPr/>
          <p:nvPr/>
        </p:nvSpPr>
        <p:spPr>
          <a:xfrm>
            <a:off x="201168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Hardware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 for 2 weeks · What counts as success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804672"/>
          </a:xfrm>
          <a:prstGeom prst="rect">
            <a:avLst/>
          </a:prstGeom>
          <a:solidFill>
            <a:srgbClr val="0E4D4D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47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53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 / ticket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709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2,400 today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2900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1,200 input tokens avg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OpenAI usage logs →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67128"/>
            <a:ext cx="8412480" cy="804672"/>
          </a:xfrm>
          <a:prstGeom prst="rect">
            <a:avLst/>
          </a:prstGeom>
          <a:solidFill>
            <a:srgbClr val="0B383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calls / ticket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97280" y="2596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1.0 today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42900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0.75 (25%+ cache hit rate)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55080" y="2350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API call counter per resolved ticket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54096"/>
            <a:ext cx="8412480" cy="804672"/>
          </a:xfrm>
          <a:prstGeom prst="rect">
            <a:avLst/>
          </a:prstGeom>
          <a:solidFill>
            <a:srgbClr val="0E4D4D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127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/ ticket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483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~$0.018 today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429000" y="32369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$0.004 (from ~$0.018)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55080" y="32369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Cost ÷ tickets resolved (same window)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3941064"/>
            <a:ext cx="8412480" cy="804672"/>
          </a:xfrm>
          <a:prstGeom prst="rect">
            <a:avLst/>
          </a:prstGeom>
          <a:solidFill>
            <a:srgbClr val="0B383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0565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CSAT / resolution rate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972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96% today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429000" y="41239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94% (no degradation)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5508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Existing support dashboard — SLA monitor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Caveats — No Greenwashing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claim · What to validate next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280160"/>
            <a:ext cx="73152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533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'carbon neutral' claims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per-request energy meter. Dollar cost is our proxy. Actual carbon could be 2–3× our estimate in either direction. We will not publish a number without a verifiable methodology.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17627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176272"/>
            <a:ext cx="73152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494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Offsets ≠ SCI reduction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vendor buys RECs or carbon credits, SCI stays the same. SCI only falls when the system behaves more efficiently: fewer tokens, smaller model, cleaner grid. Explain this to stakeholders.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3072384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072384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1455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 is non-negotiable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4564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right-sizing without a quality eval is a blind downgrade. We commit to sampling 500 tickets across model tiers before any production cutover.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" y="3968496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968496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041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with the team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3525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Repeat-query rate (30%) is an industry benchmark, not client data. First two-week sprint: instrument call logs, measure actual semantic overlap, then revise cache sizing.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/ After Hypothesis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X, we expect Y — what to watch for 2 weeks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64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30% FAQ queries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LLM calls / 1K tickets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LLM calls / 1K tickets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−30% LLM calls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85% to smaller 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$0.018 / ticket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$0.006 / ticket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−67% cost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64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Trim prompt: 2,400 → 950 tok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 input tokens/mo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264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47.5M input tokens/mo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264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−60% tokens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8412480" cy="658368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0142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15% non-urgent tickets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peak GPU 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14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batch, lower intensity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0142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−15% peak compute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tokens/ticket, cost/ticket, CSAT — weekly for 2 weeks post-deploy. If CSAT dips &gt; 2%, pause rollout.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Case in One Slide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1188720" cy="43891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4173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91640" y="1463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on every ticket = $0.018/ticket and rising carbon footprint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093976"/>
            <a:ext cx="118872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0939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91640" y="213969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+ caching + prompt efficiency + batch routing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770632"/>
            <a:ext cx="118872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7706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28163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−60–75% API cost · proportional carbon reduction · CSAT-neutral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447288"/>
            <a:ext cx="1188720" cy="438912"/>
          </a:xfrm>
          <a:prstGeom prst="rect">
            <a:avLst/>
          </a:prstGeom>
          <a:solidFill>
            <a:srgbClr val="B48AFF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34472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91640" y="34930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unverifiable claims. We use cost as proxy, validate with 2-week logs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123944"/>
            <a:ext cx="1188720" cy="43891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123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91640" y="416966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call logs → measure semantic overlap → phase 1 rollout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Green Tech Assessment · AI Customer Support Assistant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Tech Assessment – AI Customer Support Assistant</dc:title>
  <dc:subject>PptxGenJS Presentation</dc:subject>
  <dc:creator>Bootcamp — Path A</dc:creator>
  <cp:lastModifiedBy>Bootcamp — Path A</cp:lastModifiedBy>
  <cp:revision>1</cp:revision>
  <dcterms:created xsi:type="dcterms:W3CDTF">2026-05-29T14:31:32Z</dcterms:created>
  <dcterms:modified xsi:type="dcterms:W3CDTF">2026-05-29T14:31:32Z</dcterms:modified>
</cp:coreProperties>
</file>